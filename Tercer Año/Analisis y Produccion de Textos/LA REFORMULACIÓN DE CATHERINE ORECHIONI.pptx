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9971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13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404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49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045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673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210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712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8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184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404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5876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223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20115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46042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7547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800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BD3F53-6690-4A94-A1B0-221D21875117}" type="datetimeFigureOut">
              <a:rPr lang="es-AR" smtClean="0"/>
              <a:t>13/5/2023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6166-9C3F-42AB-A7DA-DB82800B6C2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8142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6YUZO4wol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800" dirty="0" smtClean="0"/>
              <a:t>LA REFORMULACIÓN DE CATHERINE ORECHIONI</a:t>
            </a:r>
            <a:endParaRPr lang="es-AR" sz="48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7583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3 Marcador de contenido" descr="C:\Users\Raquel\Pictures\orechionni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520" y="404664"/>
            <a:ext cx="8568952" cy="6192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29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91746" cy="1400530"/>
          </a:xfrm>
        </p:spPr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rgbClr val="FF0000"/>
                </a:solidFill>
              </a:rPr>
              <a:t>LAS COMPETENCIAS </a:t>
            </a:r>
            <a:r>
              <a:rPr lang="es-MX" b="1" dirty="0" err="1" smtClean="0">
                <a:solidFill>
                  <a:srgbClr val="FF0000"/>
                </a:solidFill>
              </a:rPr>
              <a:t>LINGüÍSTICAS</a:t>
            </a:r>
            <a:r>
              <a:rPr lang="es-MX" b="1" dirty="0" smtClean="0">
                <a:solidFill>
                  <a:srgbClr val="FF0000"/>
                </a:solidFill>
              </a:rPr>
              <a:t> Y </a:t>
            </a:r>
            <a:r>
              <a:rPr lang="es-MX" b="1" dirty="0" err="1" smtClean="0">
                <a:solidFill>
                  <a:srgbClr val="FF0000"/>
                </a:solidFill>
              </a:rPr>
              <a:t>PARALINGüÍSTICAS</a:t>
            </a:r>
            <a:r>
              <a:rPr lang="es-MX" b="1" dirty="0" smtClean="0">
                <a:solidFill>
                  <a:srgbClr val="FF0000"/>
                </a:solidFill>
              </a:rPr>
              <a:t> </a:t>
            </a:r>
            <a:endParaRPr lang="es-AR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700" y="2052925"/>
            <a:ext cx="7056668" cy="4195481"/>
          </a:xfrm>
        </p:spPr>
        <p:txBody>
          <a:bodyPr/>
          <a:lstStyle/>
          <a:p>
            <a:pPr marL="114300" indent="0">
              <a:buNone/>
            </a:pPr>
            <a:endParaRPr lang="es-MX" dirty="0" smtClean="0"/>
          </a:p>
          <a:p>
            <a:pPr marL="114300" indent="0" algn="ctr">
              <a:buNone/>
            </a:pPr>
            <a:r>
              <a:rPr lang="es-MX" sz="2400" b="1" dirty="0" smtClean="0"/>
              <a:t>Siempre presentes en la comunicación oral</a:t>
            </a:r>
          </a:p>
          <a:p>
            <a:pPr marL="114300" indent="0" algn="ctr">
              <a:buNone/>
            </a:pPr>
            <a:endParaRPr lang="es-MX" dirty="0"/>
          </a:p>
          <a:p>
            <a:pPr marL="114300" indent="0" algn="ctr">
              <a:buNone/>
            </a:pPr>
            <a:endParaRPr lang="es-MX" dirty="0" smtClean="0"/>
          </a:p>
          <a:p>
            <a:pPr marL="114300" indent="0" algn="ctr">
              <a:buNone/>
            </a:pPr>
            <a:endParaRPr lang="es-MX" b="1" dirty="0" smtClean="0"/>
          </a:p>
          <a:p>
            <a:pPr marL="114300" indent="0" algn="ctr">
              <a:buNone/>
            </a:pPr>
            <a:r>
              <a:rPr lang="es-MX" b="1" dirty="0" smtClean="0"/>
              <a:t>Cuando </a:t>
            </a:r>
            <a:r>
              <a:rPr lang="es-MX" b="1" dirty="0" smtClean="0"/>
              <a:t>hablamos utilizamos varios soportes del habla, gestos, posiciones, mímicas, tonos de voz, etc</a:t>
            </a:r>
            <a:r>
              <a:rPr lang="es-MX" b="1" dirty="0" smtClean="0"/>
              <a:t>.</a:t>
            </a:r>
          </a:p>
          <a:p>
            <a:pPr marL="114300" indent="0" algn="ctr">
              <a:buNone/>
            </a:pPr>
            <a:endParaRPr lang="es-MX" b="1" dirty="0"/>
          </a:p>
          <a:p>
            <a:pPr marL="114300" indent="0" algn="ctr">
              <a:buNone/>
            </a:pPr>
            <a:r>
              <a:rPr lang="es-MX" b="1" dirty="0" smtClean="0"/>
              <a:t>“Qué </a:t>
            </a:r>
            <a:r>
              <a:rPr lang="es-MX" b="1" dirty="0" err="1" smtClean="0"/>
              <a:t>mirá</a:t>
            </a:r>
            <a:r>
              <a:rPr lang="es-MX" b="1" dirty="0" smtClean="0"/>
              <a:t> bobo. </a:t>
            </a:r>
            <a:r>
              <a:rPr lang="es-MX" b="1" dirty="0" err="1" smtClean="0"/>
              <a:t>Andá</a:t>
            </a:r>
            <a:r>
              <a:rPr lang="es-MX" b="1" dirty="0" smtClean="0"/>
              <a:t> </a:t>
            </a:r>
            <a:r>
              <a:rPr lang="es-MX" b="1" dirty="0" err="1" smtClean="0"/>
              <a:t>pa</a:t>
            </a:r>
            <a:r>
              <a:rPr lang="es-MX" b="1" dirty="0" smtClean="0"/>
              <a:t> allá</a:t>
            </a:r>
            <a:r>
              <a:rPr lang="es-MX" b="1" dirty="0" smtClean="0"/>
              <a:t>” </a:t>
            </a:r>
            <a:r>
              <a:rPr lang="es-MX" b="1" dirty="0">
                <a:hlinkClick r:id="rId2"/>
              </a:rPr>
              <a:t>https://</a:t>
            </a:r>
            <a:r>
              <a:rPr lang="es-MX" b="1" dirty="0" smtClean="0">
                <a:hlinkClick r:id="rId2"/>
              </a:rPr>
              <a:t>www.youtube.com/watch?v=a6YUZO4wolE</a:t>
            </a:r>
            <a:r>
              <a:rPr lang="es-MX" b="1" dirty="0" smtClean="0"/>
              <a:t> </a:t>
            </a:r>
            <a:endParaRPr lang="es-MX" dirty="0" smtClean="0"/>
          </a:p>
          <a:p>
            <a:pPr marL="114300" indent="0" algn="ctr">
              <a:buNone/>
            </a:pPr>
            <a:endParaRPr lang="es-AR" dirty="0"/>
          </a:p>
        </p:txBody>
      </p:sp>
      <p:sp>
        <p:nvSpPr>
          <p:cNvPr id="4" name="3 Flecha abajo"/>
          <p:cNvSpPr/>
          <p:nvPr/>
        </p:nvSpPr>
        <p:spPr>
          <a:xfrm>
            <a:off x="5220072" y="3138495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Flecha abajo"/>
          <p:cNvSpPr/>
          <p:nvPr/>
        </p:nvSpPr>
        <p:spPr>
          <a:xfrm>
            <a:off x="2267744" y="3206136"/>
            <a:ext cx="458340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599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LAS COMPETENCIAS IDEOLÓGICAS Y CULTURALES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700" y="1853249"/>
            <a:ext cx="7488716" cy="4395158"/>
          </a:xfrm>
        </p:spPr>
        <p:txBody>
          <a:bodyPr/>
          <a:lstStyle/>
          <a:p>
            <a:pPr marL="114300" indent="0" algn="ctr">
              <a:buNone/>
            </a:pPr>
            <a:r>
              <a:rPr lang="es-MX" sz="2400" b="1" dirty="0" smtClean="0"/>
              <a:t>Conocimiento que cada interlocutor tiene de sobre el mundo, su modo de interpretarlo y evaluarlo. </a:t>
            </a:r>
          </a:p>
          <a:p>
            <a:pPr marL="114300" indent="0" algn="ctr">
              <a:buNone/>
            </a:pPr>
            <a:endParaRPr lang="es-MX" sz="2400" b="1" dirty="0" smtClean="0"/>
          </a:p>
          <a:p>
            <a:pPr marL="114300" indent="0" algn="ctr">
              <a:buNone/>
            </a:pPr>
            <a:r>
              <a:rPr lang="es-MX" sz="2400" b="1" dirty="0" smtClean="0"/>
              <a:t>Cada </a:t>
            </a:r>
            <a:r>
              <a:rPr lang="es-MX" sz="2400" b="1" dirty="0" smtClean="0"/>
              <a:t>interlocutor </a:t>
            </a:r>
            <a:r>
              <a:rPr lang="es-MX" sz="2400" b="1" dirty="0" smtClean="0"/>
              <a:t>maneja </a:t>
            </a:r>
            <a:r>
              <a:rPr lang="es-MX" sz="2400" b="1" dirty="0" smtClean="0"/>
              <a:t>su idiolecto de acuerdo a sus competencias </a:t>
            </a:r>
          </a:p>
          <a:p>
            <a:pPr marL="114300" indent="0" algn="ctr">
              <a:buNone/>
            </a:pPr>
            <a:endParaRPr lang="es-MX" dirty="0" smtClean="0"/>
          </a:p>
          <a:p>
            <a:pPr marL="114300" indent="0" algn="ctr">
              <a:buNone/>
            </a:pPr>
            <a:endParaRPr lang="es-MX" dirty="0" smtClean="0"/>
          </a:p>
          <a:p>
            <a:pPr marL="114300" indent="0" algn="ctr">
              <a:buNone/>
            </a:pPr>
            <a:endParaRPr lang="es-AR" dirty="0"/>
          </a:p>
        </p:txBody>
      </p:sp>
      <p:sp>
        <p:nvSpPr>
          <p:cNvPr id="4" name="3 Flecha abajo"/>
          <p:cNvSpPr/>
          <p:nvPr/>
        </p:nvSpPr>
        <p:spPr>
          <a:xfrm>
            <a:off x="4438036" y="3001164"/>
            <a:ext cx="216024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8" y="4509120"/>
            <a:ext cx="73152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33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LAS DETERMINACIONES PSI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2157" y="1412777"/>
            <a:ext cx="6711654" cy="1464114"/>
          </a:xfrm>
        </p:spPr>
        <p:txBody>
          <a:bodyPr/>
          <a:lstStyle/>
          <a:p>
            <a:pPr marL="114300" indent="0">
              <a:buNone/>
            </a:pPr>
            <a:endParaRPr lang="es-MX" dirty="0" smtClean="0"/>
          </a:p>
          <a:p>
            <a:pPr marL="114300" indent="0" algn="ctr">
              <a:buNone/>
            </a:pPr>
            <a:r>
              <a:rPr lang="es-MX" dirty="0" smtClean="0"/>
              <a:t>Tienen un papel fundamental en la codificación y decodificación de los mensajes porque los factores conductuales ordenan los elementos del lenguaje</a:t>
            </a:r>
          </a:p>
          <a:p>
            <a:pPr marL="114300" indent="0" algn="ctr">
              <a:buNone/>
            </a:pPr>
            <a:endParaRPr lang="es-MX" dirty="0" smtClean="0"/>
          </a:p>
          <a:p>
            <a:pPr marL="114300" indent="0" algn="ctr">
              <a:buNone/>
            </a:pPr>
            <a:endParaRPr lang="es-AR" dirty="0"/>
          </a:p>
        </p:txBody>
      </p:sp>
      <p:sp>
        <p:nvSpPr>
          <p:cNvPr id="4" name="3 Flecha abajo"/>
          <p:cNvSpPr/>
          <p:nvPr/>
        </p:nvSpPr>
        <p:spPr>
          <a:xfrm>
            <a:off x="4283968" y="1412776"/>
            <a:ext cx="28803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429000"/>
            <a:ext cx="831869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536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536739"/>
            <a:ext cx="6984776" cy="566738"/>
          </a:xfrm>
        </p:spPr>
        <p:txBody>
          <a:bodyPr>
            <a:noAutofit/>
          </a:bodyPr>
          <a:lstStyle/>
          <a:p>
            <a:r>
              <a:rPr lang="es-MX" b="1" dirty="0" smtClean="0"/>
              <a:t>LAS RESTRICCIONES DEL UNIVERSO DEL DISCURSO</a:t>
            </a:r>
            <a:endParaRPr lang="es-AR" b="1" dirty="0"/>
          </a:p>
        </p:txBody>
      </p:sp>
      <p:sp>
        <p:nvSpPr>
          <p:cNvPr id="3" name="2 Marcador de contenido"/>
          <p:cNvSpPr>
            <a:spLocks noGrp="1"/>
          </p:cNvSpPr>
          <p:nvPr>
            <p:ph type="body" sz="half" idx="2"/>
          </p:nvPr>
        </p:nvSpPr>
        <p:spPr>
          <a:xfrm>
            <a:off x="1042821" y="3891721"/>
            <a:ext cx="6624736" cy="2143325"/>
          </a:xfrm>
        </p:spPr>
        <p:txBody>
          <a:bodyPr>
            <a:noAutofit/>
          </a:bodyPr>
          <a:lstStyle/>
          <a:p>
            <a:pPr marL="114300" indent="0" algn="ctr">
              <a:buNone/>
            </a:pPr>
            <a:r>
              <a:rPr lang="es-MX" sz="1600" dirty="0" smtClean="0"/>
              <a:t>Todos los interlocutores tienen sus limitaciones para construir sus mensajes</a:t>
            </a:r>
          </a:p>
          <a:p>
            <a:pPr marL="114300" indent="0" algn="ctr">
              <a:buNone/>
            </a:pPr>
            <a:r>
              <a:rPr lang="es-MX" sz="1600" dirty="0" smtClean="0"/>
              <a:t>Las restricciones del universo del discurso son:</a:t>
            </a:r>
          </a:p>
          <a:p>
            <a:pPr algn="ctr"/>
            <a:r>
              <a:rPr lang="es-MX" sz="1600" dirty="0" smtClean="0"/>
              <a:t>La situación concreta de comunicación.</a:t>
            </a:r>
          </a:p>
          <a:p>
            <a:pPr algn="ctr"/>
            <a:r>
              <a:rPr lang="es-MX" sz="1600" dirty="0" smtClean="0"/>
              <a:t>Las limitaciones temáticas.</a:t>
            </a:r>
          </a:p>
          <a:p>
            <a:pPr algn="ctr"/>
            <a:r>
              <a:rPr lang="es-MX" sz="1600" dirty="0" smtClean="0"/>
              <a:t>Las determinaciones psi.</a:t>
            </a:r>
          </a:p>
          <a:p>
            <a:pPr algn="ctr"/>
            <a:r>
              <a:rPr lang="es-MX" sz="1600" dirty="0" smtClean="0"/>
              <a:t>Forma de hablar</a:t>
            </a:r>
            <a:r>
              <a:rPr lang="es-MX" sz="1100" dirty="0" smtClean="0"/>
              <a:t>. </a:t>
            </a:r>
          </a:p>
          <a:p>
            <a:pPr marL="0" indent="0" algn="ctr">
              <a:buNone/>
            </a:pPr>
            <a:endParaRPr lang="es-MX" sz="1100" dirty="0" smtClean="0"/>
          </a:p>
        </p:txBody>
      </p:sp>
      <p:pic>
        <p:nvPicPr>
          <p:cNvPr id="1028" name="Picture 4" descr="Los Condicionantes de la Comunicación | Llevate todo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06" b="22506"/>
          <a:stretch>
            <a:fillRect/>
          </a:stretch>
        </p:blipFill>
        <p:spPr bwMode="auto">
          <a:xfrm>
            <a:off x="1818151" y="1216567"/>
            <a:ext cx="4715610" cy="259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99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ACTOS DEL HABLA (ACCIONES)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4347" y="2204864"/>
            <a:ext cx="3265566" cy="4195481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s-MX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Cuando los seres humanos se comunican desarrollan diferentes acciones</a:t>
            </a:r>
          </a:p>
          <a:p>
            <a:pPr marL="114300" indent="0" algn="ctr">
              <a:buNone/>
            </a:pPr>
            <a:r>
              <a:rPr lang="es-MX" sz="2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Dar ordenes, dar gracias, insultar, protestar, rechazar, etc. </a:t>
            </a:r>
          </a:p>
          <a:p>
            <a:pPr marL="114300" indent="0" algn="ctr">
              <a:buNone/>
            </a:pPr>
            <a:endParaRPr lang="es-MX" sz="2400" b="1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114300" indent="0" algn="ctr">
              <a:buNone/>
            </a:pPr>
            <a:endParaRPr lang="es-AR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835992"/>
            <a:ext cx="455948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En cada acto del habla se realizan 3 actos simultáneos 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7700" y="2052925"/>
            <a:ext cx="7560724" cy="4195481"/>
          </a:xfrm>
        </p:spPr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s-MX" dirty="0" smtClean="0"/>
              <a:t>ACTO LOCUTORIO:  la emisión lingüística que realiza cada hablante, es el uso de las palabras.</a:t>
            </a:r>
          </a:p>
          <a:p>
            <a:pPr marL="571500" indent="-457200">
              <a:buFont typeface="+mj-lt"/>
              <a:buAutoNum type="arabicPeriod"/>
            </a:pPr>
            <a:endParaRPr lang="es-MX" dirty="0"/>
          </a:p>
          <a:p>
            <a:pPr marL="571500" indent="-457200">
              <a:buFont typeface="+mj-lt"/>
              <a:buAutoNum type="arabicPeriod"/>
            </a:pPr>
            <a:r>
              <a:rPr lang="es-MX" dirty="0" smtClean="0"/>
              <a:t>ACTO ELOCUTORIO: es la ejecución de las intenciones discursivas (afirmar, negar, prometer, </a:t>
            </a:r>
            <a:r>
              <a:rPr lang="es-MX" dirty="0" err="1" smtClean="0"/>
              <a:t>etc</a:t>
            </a:r>
            <a:r>
              <a:rPr lang="es-MX" dirty="0" smtClean="0"/>
              <a:t>).</a:t>
            </a:r>
          </a:p>
          <a:p>
            <a:pPr marL="571500" indent="-457200">
              <a:buFont typeface="+mj-lt"/>
              <a:buAutoNum type="arabicPeriod"/>
            </a:pPr>
            <a:endParaRPr lang="es-MX" dirty="0"/>
          </a:p>
          <a:p>
            <a:pPr marL="571500" indent="-457200">
              <a:buFont typeface="+mj-lt"/>
              <a:buAutoNum type="arabicPeriod"/>
            </a:pPr>
            <a:r>
              <a:rPr lang="es-MX" dirty="0" smtClean="0"/>
              <a:t>ACTO PERLOCUTORIO: es el efecto que causa en el receptor de acuerdo al contexto en el que se produce el acto del habla.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77445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247</Words>
  <Application>Microsoft Office PowerPoint</Application>
  <PresentationFormat>Presentación en pantalla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LA REFORMULACIÓN DE CATHERINE ORECHIONI</vt:lpstr>
      <vt:lpstr>Presentación de PowerPoint</vt:lpstr>
      <vt:lpstr>LAS COMPETENCIAS LINGüÍSTICAS Y PARALINGüÍSTICAS </vt:lpstr>
      <vt:lpstr>LAS COMPETENCIAS IDEOLÓGICAS Y CULTURALES</vt:lpstr>
      <vt:lpstr>LAS DETERMINACIONES PSI</vt:lpstr>
      <vt:lpstr>LAS RESTRICCIONES DEL UNIVERSO DEL DISCURSO</vt:lpstr>
      <vt:lpstr>ACTOS DEL HABLA (ACCIONES)</vt:lpstr>
      <vt:lpstr>En cada acto del habla se realizan 3 actos simultáneos 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REFORMULACIÓN DE CATHERINE ORECHIONI</dc:title>
  <dc:creator>Raquel</dc:creator>
  <cp:lastModifiedBy>Cuenta Microsoft</cp:lastModifiedBy>
  <cp:revision>9</cp:revision>
  <dcterms:created xsi:type="dcterms:W3CDTF">2021-04-11T16:18:16Z</dcterms:created>
  <dcterms:modified xsi:type="dcterms:W3CDTF">2023-05-13T20:22:05Z</dcterms:modified>
</cp:coreProperties>
</file>