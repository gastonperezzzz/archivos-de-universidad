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4" r:id="rId7"/>
    <p:sldId id="261" r:id="rId8"/>
    <p:sldId id="262" r:id="rId9"/>
    <p:sldId id="263" r:id="rId10"/>
    <p:sldId id="265" r:id="rId11"/>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2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2001361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309161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50207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D5DF5395-5576-4AD0-8C0A-F619375094B7}" type="datetimeFigureOut">
              <a:rPr lang="es-AR" smtClean="0"/>
              <a:t>13/5/2023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3466375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D5DF5395-5576-4AD0-8C0A-F619375094B7}" type="datetimeFigureOut">
              <a:rPr lang="es-AR" smtClean="0"/>
              <a:t>13/5/2023</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2137398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3"/>
          <p:cNvSpPr>
            <a:spLocks noGrp="1"/>
          </p:cNvSpPr>
          <p:nvPr>
            <p:ph type="ftr" sz="quarter" idx="11"/>
          </p:nvPr>
        </p:nvSpPr>
        <p:spPr/>
        <p:txBody>
          <a:bodyPr/>
          <a:lstStyle/>
          <a:p>
            <a:endParaRPr lang="es-AR"/>
          </a:p>
        </p:txBody>
      </p:sp>
      <p:sp>
        <p:nvSpPr>
          <p:cNvPr id="6" name="Slide Number Placeholder 4"/>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1700100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2"/>
          <p:cNvSpPr>
            <a:spLocks noGrp="1"/>
          </p:cNvSpPr>
          <p:nvPr>
            <p:ph type="ftr" sz="quarter" idx="11"/>
          </p:nvPr>
        </p:nvSpPr>
        <p:spPr/>
        <p:txBody>
          <a:bodyPr/>
          <a:lstStyle/>
          <a:p>
            <a:endParaRPr lang="es-AR"/>
          </a:p>
        </p:txBody>
      </p:sp>
      <p:sp>
        <p:nvSpPr>
          <p:cNvPr id="6" name="Slide Number Placeholder 3"/>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18486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7" name="Date Placeholder 4"/>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5"/>
          <p:cNvSpPr>
            <a:spLocks noGrp="1"/>
          </p:cNvSpPr>
          <p:nvPr>
            <p:ph type="ftr" sz="quarter" idx="11"/>
          </p:nvPr>
        </p:nvSpPr>
        <p:spPr/>
        <p:txBody>
          <a:bodyPr/>
          <a:lstStyle/>
          <a:p>
            <a:endParaRPr lang="es-AR"/>
          </a:p>
        </p:txBody>
      </p:sp>
      <p:sp>
        <p:nvSpPr>
          <p:cNvPr id="6" name="Slide Number Placeholder 6"/>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234700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D5DF5395-5576-4AD0-8C0A-F619375094B7}" type="datetimeFigureOut">
              <a:rPr lang="es-AR" smtClean="0"/>
              <a:t>13/5/2023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3161203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D5DF5395-5576-4AD0-8C0A-F619375094B7}" type="datetimeFigureOut">
              <a:rPr lang="es-AR" smtClean="0"/>
              <a:t>13/5/2023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2741137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432573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Haga clic para modificar el estilo de texto del patrón</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515584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293825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311574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2208662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2135039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D5DF5395-5576-4AD0-8C0A-F619375094B7}" type="datetimeFigureOut">
              <a:rPr lang="es-AR" smtClean="0"/>
              <a:t>13/5/2023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5374B59-8205-47F1-BBC9-8690AF6E3685}" type="slidenum">
              <a:rPr lang="es-AR" smtClean="0"/>
              <a:t>‹Nº›</a:t>
            </a:fld>
            <a:endParaRPr lang="es-AR"/>
          </a:p>
        </p:txBody>
      </p:sp>
    </p:spTree>
    <p:extLst>
      <p:ext uri="{BB962C8B-B14F-4D97-AF65-F5344CB8AC3E}">
        <p14:creationId xmlns:p14="http://schemas.microsoft.com/office/powerpoint/2010/main" val="1349599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5DF5395-5576-4AD0-8C0A-F619375094B7}" type="datetimeFigureOut">
              <a:rPr lang="es-AR" smtClean="0"/>
              <a:t>13/5/2023</a:t>
            </a:fld>
            <a:endParaRPr lang="es-A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A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B5374B59-8205-47F1-BBC9-8690AF6E3685}" type="slidenum">
              <a:rPr lang="es-AR" smtClean="0"/>
              <a:t>‹Nº›</a:t>
            </a:fld>
            <a:endParaRPr lang="es-AR"/>
          </a:p>
        </p:txBody>
      </p:sp>
    </p:spTree>
    <p:extLst>
      <p:ext uri="{BB962C8B-B14F-4D97-AF65-F5344CB8AC3E}">
        <p14:creationId xmlns:p14="http://schemas.microsoft.com/office/powerpoint/2010/main" val="74515954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ampus.ort.edu.ar/secundaria/almagro/lengua/articulo/1645564/variedades-linguisticas-lectos-y-registros" TargetMode="External"/><Relationship Id="rId2" Type="http://schemas.openxmlformats.org/officeDocument/2006/relationships/hyperlink" Target="https://www.youtube.com/watch?v=-YICQzigPa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539552" y="548680"/>
            <a:ext cx="8026038" cy="3329581"/>
          </a:xfrm>
        </p:spPr>
        <p:txBody>
          <a:bodyPr/>
          <a:lstStyle/>
          <a:p>
            <a:r>
              <a:rPr lang="es-MX" sz="6000" dirty="0" smtClean="0">
                <a:solidFill>
                  <a:schemeClr val="accent2"/>
                </a:solidFill>
                <a:latin typeface="+mn-lt"/>
              </a:rPr>
              <a:t>LAS FUNCIONES DEL LENGUAJE SEGÚN JAKOBSON </a:t>
            </a:r>
            <a:endParaRPr lang="es-AR" sz="6000" dirty="0">
              <a:solidFill>
                <a:schemeClr val="accent2"/>
              </a:solidFill>
              <a:latin typeface="+mn-lt"/>
            </a:endParaRPr>
          </a:p>
        </p:txBody>
      </p:sp>
      <p:sp>
        <p:nvSpPr>
          <p:cNvPr id="3" name="2 Subtítulo"/>
          <p:cNvSpPr>
            <a:spLocks noGrp="1"/>
          </p:cNvSpPr>
          <p:nvPr>
            <p:ph type="subTitle" idx="1"/>
          </p:nvPr>
        </p:nvSpPr>
        <p:spPr>
          <a:xfrm>
            <a:off x="755576" y="4077072"/>
            <a:ext cx="8136904" cy="2376264"/>
          </a:xfrm>
        </p:spPr>
        <p:txBody>
          <a:bodyPr>
            <a:normAutofit/>
          </a:bodyPr>
          <a:lstStyle/>
          <a:p>
            <a:pPr algn="just"/>
            <a:r>
              <a:rPr lang="es-AR" b="1" dirty="0" smtClean="0"/>
              <a:t>Román </a:t>
            </a:r>
            <a:r>
              <a:rPr lang="es-AR" b="1" dirty="0"/>
              <a:t>Jakobson analiza seis componentes en el proceso de comunicación, a cada uno de los cuales corresponderá una función: </a:t>
            </a:r>
            <a:r>
              <a:rPr lang="es-AR" b="1" dirty="0" smtClean="0"/>
              <a:t>una centrada en el emisor, otra en el </a:t>
            </a:r>
            <a:r>
              <a:rPr lang="es-AR" b="1" dirty="0"/>
              <a:t>receptor ,</a:t>
            </a:r>
            <a:r>
              <a:rPr lang="es-AR" b="1" dirty="0" smtClean="0"/>
              <a:t> referente, </a:t>
            </a:r>
            <a:r>
              <a:rPr lang="es-AR" b="1" dirty="0"/>
              <a:t>código ,</a:t>
            </a:r>
            <a:r>
              <a:rPr lang="es-AR" b="1" dirty="0" smtClean="0"/>
              <a:t> </a:t>
            </a:r>
            <a:r>
              <a:rPr lang="es-AR" b="1" dirty="0"/>
              <a:t>mensaje  </a:t>
            </a:r>
            <a:r>
              <a:rPr lang="es-AR" b="1" dirty="0" smtClean="0"/>
              <a:t>y en el canal</a:t>
            </a:r>
            <a:r>
              <a:rPr lang="es-AR" dirty="0" smtClean="0"/>
              <a:t>.</a:t>
            </a:r>
            <a:endParaRPr lang="es-AR" dirty="0"/>
          </a:p>
        </p:txBody>
      </p:sp>
    </p:spTree>
    <p:extLst>
      <p:ext uri="{BB962C8B-B14F-4D97-AF65-F5344CB8AC3E}">
        <p14:creationId xmlns:p14="http://schemas.microsoft.com/office/powerpoint/2010/main" val="43842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260648"/>
            <a:ext cx="8568951"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349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84710" y="452718"/>
            <a:ext cx="8263754" cy="700265"/>
          </a:xfrm>
        </p:spPr>
        <p:txBody>
          <a:bodyPr>
            <a:normAutofit fontScale="90000"/>
          </a:bodyPr>
          <a:lstStyle/>
          <a:p>
            <a:r>
              <a:rPr lang="es-AR" b="1" dirty="0" smtClean="0">
                <a:solidFill>
                  <a:schemeClr val="accent4">
                    <a:lumMod val="75000"/>
                  </a:schemeClr>
                </a:solidFill>
                <a:effectLst>
                  <a:outerShdw blurRad="41275" dist="20320" dir="1800000" algn="tl">
                    <a:srgbClr val="000000">
                      <a:alpha val="40000"/>
                    </a:srgbClr>
                  </a:outerShdw>
                </a:effectLst>
              </a:rPr>
              <a:t>FUNCIÓN EMOTIVA O EXPRESIVA </a:t>
            </a:r>
            <a:r>
              <a:rPr lang="es-AR" dirty="0" smtClean="0">
                <a:solidFill>
                  <a:schemeClr val="accent4">
                    <a:lumMod val="75000"/>
                  </a:schemeClr>
                </a:solidFill>
              </a:rPr>
              <a:t/>
            </a:r>
            <a:br>
              <a:rPr lang="es-AR" dirty="0" smtClean="0">
                <a:solidFill>
                  <a:schemeClr val="accent4">
                    <a:lumMod val="75000"/>
                  </a:schemeClr>
                </a:solidFill>
              </a:rPr>
            </a:br>
            <a:endParaRPr lang="es-AR" dirty="0">
              <a:solidFill>
                <a:schemeClr val="accent4">
                  <a:lumMod val="75000"/>
                </a:schemeClr>
              </a:solidFill>
            </a:endParaRPr>
          </a:p>
        </p:txBody>
      </p:sp>
      <p:sp>
        <p:nvSpPr>
          <p:cNvPr id="3" name="2 Marcador de contenido"/>
          <p:cNvSpPr>
            <a:spLocks noGrp="1"/>
          </p:cNvSpPr>
          <p:nvPr>
            <p:ph idx="1"/>
          </p:nvPr>
        </p:nvSpPr>
        <p:spPr>
          <a:xfrm>
            <a:off x="499662" y="1152983"/>
            <a:ext cx="2808312" cy="4544427"/>
          </a:xfrm>
        </p:spPr>
        <p:txBody>
          <a:bodyPr>
            <a:noAutofit/>
          </a:bodyPr>
          <a:lstStyle/>
          <a:p>
            <a:pPr marL="0" indent="0">
              <a:buNone/>
            </a:pPr>
            <a:r>
              <a:rPr lang="es-AR" sz="1600" b="1" dirty="0" smtClean="0">
                <a:effectLst>
                  <a:outerShdw blurRad="41275" dist="20320" dir="1800000" algn="tl">
                    <a:srgbClr val="000000">
                      <a:alpha val="40000"/>
                    </a:srgbClr>
                  </a:outerShdw>
                </a:effectLst>
              </a:rPr>
              <a:t> </a:t>
            </a:r>
          </a:p>
          <a:p>
            <a:pPr marL="0" indent="0" algn="just">
              <a:buNone/>
            </a:pPr>
            <a:r>
              <a:rPr lang="es-AR" dirty="0" smtClean="0"/>
              <a:t>Permite </a:t>
            </a:r>
            <a:r>
              <a:rPr lang="es-AR" dirty="0"/>
              <a:t>al emisor la exteriorización de sus actitudes, sentimientos y estados de ánimo, así como la de sus deseos, voluntades y el grado de interés o de apasionamiento con que realiza determinada comunicación. Esta función se cumple, por consiguiente, cuando </a:t>
            </a:r>
            <a:r>
              <a:rPr lang="es-AR" b="1" dirty="0"/>
              <a:t>el mensaje está centrado en el emisor. </a:t>
            </a:r>
            <a:endParaRPr lang="es-AR" dirty="0"/>
          </a:p>
          <a:p>
            <a:pPr marL="0" indent="0">
              <a:buNone/>
            </a:pPr>
            <a:endParaRPr lang="es-AR" sz="1600" dirty="0"/>
          </a:p>
          <a:p>
            <a:endParaRPr lang="es-AR" sz="1600"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7904" y="2708920"/>
            <a:ext cx="4857750" cy="3238500"/>
          </a:xfrm>
          <a:prstGeom prst="rect">
            <a:avLst/>
          </a:prstGeom>
        </p:spPr>
      </p:pic>
    </p:spTree>
    <p:extLst>
      <p:ext uri="{BB962C8B-B14F-4D97-AF65-F5344CB8AC3E}">
        <p14:creationId xmlns:p14="http://schemas.microsoft.com/office/powerpoint/2010/main" val="2308788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88489" y="-700265"/>
            <a:ext cx="8119738" cy="1400530"/>
          </a:xfrm>
        </p:spPr>
        <p:txBody>
          <a:bodyPr>
            <a:normAutofit fontScale="90000"/>
          </a:bodyPr>
          <a:lstStyle/>
          <a:p>
            <a:r>
              <a:rPr lang="es-ES" b="1" dirty="0" smtClean="0">
                <a:effectLst>
                  <a:outerShdw blurRad="41275" dist="20320" dir="1800000" algn="tl">
                    <a:srgbClr val="000000">
                      <a:alpha val="40000"/>
                    </a:srgbClr>
                  </a:outerShdw>
                </a:effectLst>
              </a:rPr>
              <a:t/>
            </a:r>
            <a:br>
              <a:rPr lang="es-ES" b="1" dirty="0" smtClean="0">
                <a:effectLst>
                  <a:outerShdw blurRad="41275" dist="20320" dir="1800000" algn="tl">
                    <a:srgbClr val="000000">
                      <a:alpha val="40000"/>
                    </a:srgbClr>
                  </a:outerShdw>
                </a:effectLst>
              </a:rPr>
            </a:br>
            <a:r>
              <a:rPr lang="es-ES" b="1" dirty="0">
                <a:effectLst>
                  <a:outerShdw blurRad="41275" dist="20320" dir="1800000" algn="tl">
                    <a:srgbClr val="000000">
                      <a:alpha val="40000"/>
                    </a:srgbClr>
                  </a:outerShdw>
                </a:effectLst>
              </a:rPr>
              <a:t/>
            </a:r>
            <a:br>
              <a:rPr lang="es-ES" b="1" dirty="0">
                <a:effectLst>
                  <a:outerShdw blurRad="41275" dist="20320" dir="1800000" algn="tl">
                    <a:srgbClr val="000000">
                      <a:alpha val="40000"/>
                    </a:srgbClr>
                  </a:outerShdw>
                </a:effectLst>
              </a:rPr>
            </a:br>
            <a:r>
              <a:rPr lang="es-ES" b="1" dirty="0" smtClean="0">
                <a:solidFill>
                  <a:schemeClr val="accent4"/>
                </a:solidFill>
                <a:effectLst>
                  <a:outerShdw blurRad="41275" dist="20320" dir="1800000" algn="tl">
                    <a:srgbClr val="000000">
                      <a:alpha val="40000"/>
                    </a:srgbClr>
                  </a:outerShdw>
                </a:effectLst>
              </a:rPr>
              <a:t>FUNCIÓN APELATIVA O CONATIVA</a:t>
            </a:r>
            <a:r>
              <a:rPr lang="es-AR" dirty="0" smtClean="0"/>
              <a:t/>
            </a:r>
            <a:br>
              <a:rPr lang="es-AR" dirty="0" smtClean="0"/>
            </a:br>
            <a:r>
              <a:rPr lang="es-AR" dirty="0" smtClean="0"/>
              <a:t> </a:t>
            </a:r>
            <a:br>
              <a:rPr lang="es-AR" dirty="0" smtClean="0"/>
            </a:br>
            <a:endParaRPr lang="es-AR" dirty="0"/>
          </a:p>
        </p:txBody>
      </p:sp>
      <p:sp>
        <p:nvSpPr>
          <p:cNvPr id="3" name="2 Marcador de contenido"/>
          <p:cNvSpPr>
            <a:spLocks noGrp="1"/>
          </p:cNvSpPr>
          <p:nvPr>
            <p:ph idx="1"/>
          </p:nvPr>
        </p:nvSpPr>
        <p:spPr>
          <a:xfrm>
            <a:off x="290208" y="1340768"/>
            <a:ext cx="8602272" cy="2808312"/>
          </a:xfrm>
        </p:spPr>
        <p:txBody>
          <a:bodyPr>
            <a:normAutofit fontScale="77500" lnSpcReduction="20000"/>
          </a:bodyPr>
          <a:lstStyle/>
          <a:p>
            <a:pPr marL="0" indent="0" algn="just">
              <a:buNone/>
            </a:pPr>
            <a:endParaRPr lang="es-AR" dirty="0"/>
          </a:p>
          <a:p>
            <a:pPr marL="0" indent="0" algn="just">
              <a:buNone/>
            </a:pPr>
            <a:r>
              <a:rPr lang="es-AR" dirty="0"/>
              <a:t> </a:t>
            </a:r>
          </a:p>
          <a:p>
            <a:pPr marL="0" indent="0" algn="just">
              <a:buNone/>
            </a:pPr>
            <a:r>
              <a:rPr lang="es-AR" dirty="0"/>
              <a:t> </a:t>
            </a:r>
            <a:r>
              <a:rPr lang="es-AR" dirty="0" smtClean="0"/>
              <a:t>S</a:t>
            </a:r>
            <a:r>
              <a:rPr lang="es-AR" sz="2800" dirty="0" smtClean="0"/>
              <a:t>e </a:t>
            </a:r>
            <a:r>
              <a:rPr lang="es-AR" sz="2800" dirty="0"/>
              <a:t>llama conativa del latín "</a:t>
            </a:r>
            <a:r>
              <a:rPr lang="es-AR" sz="2800" dirty="0" err="1"/>
              <a:t>conatus</a:t>
            </a:r>
            <a:r>
              <a:rPr lang="es-AR" sz="2800" dirty="0"/>
              <a:t>" (inicio), porque el emisor espera el inicio de una reacción por parte del receptor. </a:t>
            </a:r>
            <a:r>
              <a:rPr lang="es-AR" sz="2800" b="1" dirty="0"/>
              <a:t>Esta función está centrada en el </a:t>
            </a:r>
            <a:r>
              <a:rPr lang="es-AR" sz="2800" b="1" i="1" dirty="0"/>
              <a:t>receptor </a:t>
            </a:r>
            <a:r>
              <a:rPr lang="es-AR" sz="2800" b="1" dirty="0"/>
              <a:t>o destinatario. </a:t>
            </a:r>
            <a:r>
              <a:rPr lang="es-AR" sz="2800" dirty="0"/>
              <a:t>El hablante pretende que el oyente actúe en conformidad con lo solicitado a través de órdenes, ruegos, preguntas, etc. </a:t>
            </a:r>
            <a:r>
              <a:rPr lang="es-AR" sz="2800" dirty="0" smtClean="0"/>
              <a:t> Se </a:t>
            </a:r>
            <a:r>
              <a:rPr lang="es-AR" sz="2800" dirty="0"/>
              <a:t>da en el lenguaje coloquial, es dominante en la publicidad y propaganda política e ideológica en general</a:t>
            </a:r>
            <a:r>
              <a:rPr lang="es-AR" dirty="0"/>
              <a:t>. </a:t>
            </a:r>
          </a:p>
          <a:p>
            <a:pPr algn="just"/>
            <a:endParaRPr lang="es-AR" dirty="0"/>
          </a:p>
        </p:txBody>
      </p:sp>
      <p:pic>
        <p:nvPicPr>
          <p:cNvPr id="6" name="Imagen 5"/>
          <p:cNvPicPr/>
          <p:nvPr/>
        </p:nvPicPr>
        <p:blipFill rotWithShape="1">
          <a:blip r:embed="rId2"/>
          <a:srcRect t="13491" r="12336" b="25016"/>
          <a:stretch/>
        </p:blipFill>
        <p:spPr bwMode="auto">
          <a:xfrm>
            <a:off x="2081395" y="4132858"/>
            <a:ext cx="4938877" cy="217646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4631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184172"/>
            <a:ext cx="4752528" cy="1400530"/>
          </a:xfrm>
        </p:spPr>
        <p:txBody>
          <a:bodyPr>
            <a:normAutofit/>
          </a:bodyPr>
          <a:lstStyle/>
          <a:p>
            <a:r>
              <a:rPr lang="es-AR" b="1" dirty="0">
                <a:solidFill>
                  <a:srgbClr val="FFFF00"/>
                </a:solidFill>
                <a:effectLst>
                  <a:outerShdw blurRad="41275" dist="20320" dir="1800000" algn="tl">
                    <a:srgbClr val="000000">
                      <a:alpha val="40000"/>
                    </a:srgbClr>
                  </a:outerShdw>
                </a:effectLst>
                <a:latin typeface="+mn-lt"/>
              </a:rPr>
              <a:t>FUNCIÓN FÁTICA</a:t>
            </a:r>
            <a:r>
              <a:rPr lang="es-AR" dirty="0">
                <a:solidFill>
                  <a:srgbClr val="FFFF00"/>
                </a:solidFill>
                <a:latin typeface="+mn-lt"/>
              </a:rPr>
              <a:t/>
            </a:r>
            <a:br>
              <a:rPr lang="es-AR" dirty="0">
                <a:solidFill>
                  <a:srgbClr val="FFFF00"/>
                </a:solidFill>
                <a:latin typeface="+mn-lt"/>
              </a:rPr>
            </a:br>
            <a:endParaRPr lang="es-AR" dirty="0">
              <a:solidFill>
                <a:srgbClr val="FFFF00"/>
              </a:solidFill>
              <a:latin typeface="+mn-lt"/>
            </a:endParaRPr>
          </a:p>
        </p:txBody>
      </p:sp>
      <p:sp>
        <p:nvSpPr>
          <p:cNvPr id="3" name="2 Marcador de contenido"/>
          <p:cNvSpPr>
            <a:spLocks noGrp="1"/>
          </p:cNvSpPr>
          <p:nvPr>
            <p:ph idx="1"/>
          </p:nvPr>
        </p:nvSpPr>
        <p:spPr>
          <a:xfrm>
            <a:off x="167953" y="2420888"/>
            <a:ext cx="8568952" cy="3781541"/>
          </a:xfrm>
        </p:spPr>
        <p:txBody>
          <a:bodyPr>
            <a:normAutofit lnSpcReduction="10000"/>
          </a:bodyPr>
          <a:lstStyle/>
          <a:p>
            <a:pPr marL="0" indent="0">
              <a:buNone/>
            </a:pPr>
            <a:r>
              <a:rPr lang="es-AR" sz="2800" b="1" dirty="0"/>
              <a:t>Esta función está principalmente orientada al canal </a:t>
            </a:r>
            <a:r>
              <a:rPr lang="es-AR" sz="2800" dirty="0"/>
              <a:t>de comunicación entre el emisor y el receptor. Su finalidad es iniciar, prolongar, interrumpir o finalizar una conversación o bien sencillamente comprobar si existe algún tipo de contacto. </a:t>
            </a:r>
          </a:p>
          <a:p>
            <a:pPr marL="0" indent="0">
              <a:buNone/>
            </a:pPr>
            <a:r>
              <a:rPr lang="es-ES" sz="2800" dirty="0" smtClean="0"/>
              <a:t>Constituyen </a:t>
            </a:r>
            <a:r>
              <a:rPr lang="es-ES" sz="2800" dirty="0"/>
              <a:t>esta función todas las unidades que utilizamos para iniciar, mantener o finalizar la conversación. </a:t>
            </a:r>
            <a:endParaRPr lang="es-AR" sz="2800" dirty="0"/>
          </a:p>
        </p:txBody>
      </p:sp>
      <p:pic>
        <p:nvPicPr>
          <p:cNvPr id="1026" name="Picture 2" descr="Esto contiene una imagen d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112" y="0"/>
            <a:ext cx="2247900" cy="2247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51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23528" y="452718"/>
            <a:ext cx="8496944" cy="1392106"/>
          </a:xfrm>
        </p:spPr>
        <p:txBody>
          <a:bodyPr/>
          <a:lstStyle/>
          <a:p>
            <a:r>
              <a:rPr lang="es-ES" sz="4400" b="1" dirty="0" smtClean="0"/>
              <a:t>Publicidad realizada a partir de nuevas prácticas culturales </a:t>
            </a:r>
            <a:endParaRPr lang="es-AR" sz="4400" b="1" dirty="0"/>
          </a:p>
        </p:txBody>
      </p:sp>
      <p:pic>
        <p:nvPicPr>
          <p:cNvPr id="2050" name="Picture 2" descr="https://i.pinimg.com/564x/d3/33/ba/d333bacf846e30552df84c77eef2fe8a.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7954" y="2052638"/>
            <a:ext cx="4550217" cy="4195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059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84710" y="452718"/>
            <a:ext cx="7055380" cy="816042"/>
          </a:xfrm>
        </p:spPr>
        <p:txBody>
          <a:bodyPr>
            <a:normAutofit fontScale="90000"/>
          </a:bodyPr>
          <a:lstStyle/>
          <a:p>
            <a:r>
              <a:rPr lang="es-AR" b="1" dirty="0">
                <a:solidFill>
                  <a:schemeClr val="accent4"/>
                </a:solidFill>
                <a:effectLst>
                  <a:outerShdw blurRad="41275" dist="20320" dir="1800000" algn="tl">
                    <a:srgbClr val="000000">
                      <a:alpha val="40000"/>
                    </a:srgbClr>
                  </a:outerShdw>
                </a:effectLst>
                <a:latin typeface="+mn-lt"/>
              </a:rPr>
              <a:t>FUNCIÓN POÉTICA</a:t>
            </a:r>
            <a:r>
              <a:rPr lang="es-AR" dirty="0"/>
              <a:t/>
            </a:r>
            <a:br>
              <a:rPr lang="es-AR" dirty="0"/>
            </a:br>
            <a:endParaRPr lang="es-AR" dirty="0"/>
          </a:p>
        </p:txBody>
      </p:sp>
      <p:sp>
        <p:nvSpPr>
          <p:cNvPr id="3" name="2 Marcador de contenido"/>
          <p:cNvSpPr>
            <a:spLocks noGrp="1"/>
          </p:cNvSpPr>
          <p:nvPr>
            <p:ph idx="1"/>
          </p:nvPr>
        </p:nvSpPr>
        <p:spPr>
          <a:xfrm>
            <a:off x="395536" y="1268760"/>
            <a:ext cx="8479778" cy="2744227"/>
          </a:xfrm>
        </p:spPr>
        <p:txBody>
          <a:bodyPr/>
          <a:lstStyle/>
          <a:p>
            <a:pPr marL="0" indent="0">
              <a:buNone/>
            </a:pPr>
            <a:r>
              <a:rPr lang="es-AR" sz="2400" b="1" dirty="0"/>
              <a:t>Es la función orientada al mensaje</a:t>
            </a:r>
            <a:r>
              <a:rPr lang="es-AR" sz="2400" dirty="0"/>
              <a:t>. Aparece siempre que la expresión atrae la atención sobre su forma, en cualquier manifestación en la que se utilice el lenguaje con propósito estético. Sus recursos son variados, por ejemplo las figuras estilísticas y los juegos de palabras. Esta función se encuentra especialmente, aunque no exclusivamente, en los textos literarios. </a:t>
            </a:r>
          </a:p>
          <a:p>
            <a:pPr marL="0" indent="0">
              <a:buNone/>
            </a:pPr>
            <a:endParaRPr lang="es-AR" dirty="0"/>
          </a:p>
        </p:txBody>
      </p:sp>
      <p:sp>
        <p:nvSpPr>
          <p:cNvPr id="7" name="Rectángulo 6"/>
          <p:cNvSpPr/>
          <p:nvPr/>
        </p:nvSpPr>
        <p:spPr>
          <a:xfrm>
            <a:off x="509790" y="4012987"/>
            <a:ext cx="6582490" cy="2554545"/>
          </a:xfrm>
          <a:prstGeom prst="rect">
            <a:avLst/>
          </a:prstGeom>
        </p:spPr>
        <p:txBody>
          <a:bodyPr wrap="square">
            <a:spAutoFit/>
          </a:bodyPr>
          <a:lstStyle/>
          <a:p>
            <a:r>
              <a:rPr lang="es-ES" sz="1600" b="1" dirty="0">
                <a:solidFill>
                  <a:schemeClr val="accent1">
                    <a:lumMod val="40000"/>
                    <a:lumOff val="60000"/>
                  </a:schemeClr>
                </a:solidFill>
              </a:rPr>
              <a:t>El Amor Después Del Amor</a:t>
            </a:r>
          </a:p>
          <a:p>
            <a:r>
              <a:rPr lang="es-ES" sz="1600" b="1" dirty="0">
                <a:solidFill>
                  <a:schemeClr val="accent1">
                    <a:lumMod val="40000"/>
                    <a:lumOff val="60000"/>
                  </a:schemeClr>
                </a:solidFill>
              </a:rPr>
              <a:t>Fito Páez</a:t>
            </a:r>
          </a:p>
          <a:p>
            <a:r>
              <a:rPr lang="es-ES" sz="1600" b="1" dirty="0">
                <a:solidFill>
                  <a:schemeClr val="accent1">
                    <a:lumMod val="40000"/>
                    <a:lumOff val="60000"/>
                  </a:schemeClr>
                </a:solidFill>
              </a:rPr>
              <a:t>El amor después del amor, tal vez</a:t>
            </a:r>
          </a:p>
          <a:p>
            <a:r>
              <a:rPr lang="es-ES" sz="1600" b="1" dirty="0">
                <a:solidFill>
                  <a:schemeClr val="accent1">
                    <a:lumMod val="40000"/>
                    <a:lumOff val="60000"/>
                  </a:schemeClr>
                </a:solidFill>
              </a:rPr>
              <a:t>Se parezca a este rayo de Sol</a:t>
            </a:r>
          </a:p>
          <a:p>
            <a:r>
              <a:rPr lang="es-ES" sz="1600" b="1" dirty="0">
                <a:solidFill>
                  <a:schemeClr val="accent1">
                    <a:lumMod val="40000"/>
                    <a:lumOff val="60000"/>
                  </a:schemeClr>
                </a:solidFill>
              </a:rPr>
              <a:t>Y ahora que busqué, y ahora que encontré</a:t>
            </a:r>
          </a:p>
          <a:p>
            <a:r>
              <a:rPr lang="es-ES" sz="1600" b="1" dirty="0">
                <a:solidFill>
                  <a:schemeClr val="accent1">
                    <a:lumMod val="40000"/>
                    <a:lumOff val="60000"/>
                  </a:schemeClr>
                </a:solidFill>
              </a:rPr>
              <a:t>El perfume que lleva el dolor</a:t>
            </a:r>
          </a:p>
          <a:p>
            <a:r>
              <a:rPr lang="es-ES" sz="1600" b="1" dirty="0">
                <a:solidFill>
                  <a:schemeClr val="accent1">
                    <a:lumMod val="40000"/>
                    <a:lumOff val="60000"/>
                  </a:schemeClr>
                </a:solidFill>
              </a:rPr>
              <a:t>En la esencia de las almas</a:t>
            </a:r>
          </a:p>
          <a:p>
            <a:r>
              <a:rPr lang="es-ES" sz="1600" b="1" dirty="0">
                <a:solidFill>
                  <a:schemeClr val="accent1">
                    <a:lumMod val="40000"/>
                    <a:lumOff val="60000"/>
                  </a:schemeClr>
                </a:solidFill>
              </a:rPr>
              <a:t>En la ausencia del dolor</a:t>
            </a:r>
          </a:p>
          <a:p>
            <a:r>
              <a:rPr lang="es-ES" sz="1600" b="1" dirty="0">
                <a:solidFill>
                  <a:schemeClr val="accent1">
                    <a:lumMod val="40000"/>
                    <a:lumOff val="60000"/>
                  </a:schemeClr>
                </a:solidFill>
              </a:rPr>
              <a:t>Ahora, sé que ya no</a:t>
            </a:r>
          </a:p>
          <a:p>
            <a:r>
              <a:rPr lang="es-ES" sz="1600" b="1" dirty="0">
                <a:solidFill>
                  <a:schemeClr val="accent1">
                    <a:lumMod val="40000"/>
                    <a:lumOff val="60000"/>
                  </a:schemeClr>
                </a:solidFill>
              </a:rPr>
              <a:t>Puedo vivir sin tu </a:t>
            </a:r>
            <a:r>
              <a:rPr lang="es-ES" sz="1600" b="1" dirty="0" smtClean="0">
                <a:solidFill>
                  <a:schemeClr val="accent1">
                    <a:lumMod val="40000"/>
                    <a:lumOff val="60000"/>
                  </a:schemeClr>
                </a:solidFill>
              </a:rPr>
              <a:t>amor</a:t>
            </a:r>
            <a:endParaRPr lang="es-ES" sz="1600" b="1" dirty="0">
              <a:solidFill>
                <a:schemeClr val="accent1">
                  <a:lumMod val="40000"/>
                  <a:lumOff val="60000"/>
                </a:schemeClr>
              </a:solidFill>
            </a:endParaRPr>
          </a:p>
        </p:txBody>
      </p:sp>
    </p:spTree>
    <p:extLst>
      <p:ext uri="{BB962C8B-B14F-4D97-AF65-F5344CB8AC3E}">
        <p14:creationId xmlns:p14="http://schemas.microsoft.com/office/powerpoint/2010/main" val="3967783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994122"/>
          </a:xfrm>
        </p:spPr>
        <p:txBody>
          <a:bodyPr/>
          <a:lstStyle/>
          <a:p>
            <a:r>
              <a:rPr lang="es-ES" b="1" dirty="0">
                <a:effectLst>
                  <a:outerShdw blurRad="41275" dist="20320" dir="1800000" algn="tl">
                    <a:srgbClr val="000000">
                      <a:alpha val="40000"/>
                    </a:srgbClr>
                  </a:outerShdw>
                </a:effectLst>
              </a:rPr>
              <a:t>FUNCIÓN METALINGÜÍSTICA</a:t>
            </a:r>
            <a:endParaRPr lang="es-AR" dirty="0"/>
          </a:p>
        </p:txBody>
      </p:sp>
      <p:sp>
        <p:nvSpPr>
          <p:cNvPr id="3" name="2 Marcador de contenido"/>
          <p:cNvSpPr>
            <a:spLocks noGrp="1"/>
          </p:cNvSpPr>
          <p:nvPr>
            <p:ph idx="1"/>
          </p:nvPr>
        </p:nvSpPr>
        <p:spPr>
          <a:xfrm>
            <a:off x="755576" y="1268760"/>
            <a:ext cx="6711654" cy="994122"/>
          </a:xfrm>
        </p:spPr>
        <p:txBody>
          <a:bodyPr>
            <a:normAutofit lnSpcReduction="10000"/>
          </a:bodyPr>
          <a:lstStyle/>
          <a:p>
            <a:pPr marL="0" indent="0">
              <a:buNone/>
            </a:pPr>
            <a:r>
              <a:rPr lang="es-AR" b="1" dirty="0" smtClean="0"/>
              <a:t>Se </a:t>
            </a:r>
            <a:r>
              <a:rPr lang="es-AR" b="1" dirty="0"/>
              <a:t>centra en el propio código de la lengua</a:t>
            </a:r>
            <a:r>
              <a:rPr lang="es-AR" dirty="0"/>
              <a:t>. Tiene como objetivo posibilitar al usuario para explicar los hechos del lenguaje haciendo uso del mismo. </a:t>
            </a:r>
          </a:p>
          <a:p>
            <a:endParaRPr lang="es-AR" dirty="0"/>
          </a:p>
        </p:txBody>
      </p:sp>
      <p:pic>
        <p:nvPicPr>
          <p:cNvPr id="3074" name="Picture 2" descr="Exercise: Funciones del lenguaj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9605" y="2708920"/>
            <a:ext cx="6478820" cy="364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850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686800" cy="1282154"/>
          </a:xfrm>
        </p:spPr>
        <p:txBody>
          <a:bodyPr>
            <a:normAutofit fontScale="90000"/>
          </a:bodyPr>
          <a:lstStyle/>
          <a:p>
            <a:r>
              <a:rPr lang="es-ES" b="1" dirty="0" smtClean="0">
                <a:solidFill>
                  <a:srgbClr val="00B050"/>
                </a:solidFill>
                <a:effectLst>
                  <a:outerShdw blurRad="41275" dist="20320" dir="1800000" algn="tl">
                    <a:srgbClr val="000000">
                      <a:alpha val="40000"/>
                    </a:srgbClr>
                  </a:outerShdw>
                </a:effectLst>
                <a:latin typeface="Algerian" pitchFamily="82" charset="0"/>
              </a:rPr>
              <a:t/>
            </a:r>
            <a:br>
              <a:rPr lang="es-ES" b="1" dirty="0" smtClean="0">
                <a:solidFill>
                  <a:srgbClr val="00B050"/>
                </a:solidFill>
                <a:effectLst>
                  <a:outerShdw blurRad="41275" dist="20320" dir="1800000" algn="tl">
                    <a:srgbClr val="000000">
                      <a:alpha val="40000"/>
                    </a:srgbClr>
                  </a:outerShdw>
                </a:effectLst>
                <a:latin typeface="Algerian" pitchFamily="82" charset="0"/>
              </a:rPr>
            </a:br>
            <a:r>
              <a:rPr lang="es-ES" b="1" dirty="0" smtClean="0">
                <a:solidFill>
                  <a:srgbClr val="00B050"/>
                </a:solidFill>
                <a:effectLst>
                  <a:outerShdw blurRad="41275" dist="20320" dir="1800000" algn="tl">
                    <a:srgbClr val="000000">
                      <a:alpha val="40000"/>
                    </a:srgbClr>
                  </a:outerShdw>
                </a:effectLst>
                <a:latin typeface="+mn-lt"/>
              </a:rPr>
              <a:t>FUNCIÓN REFERENCIAL O REPRESENTATIVA</a:t>
            </a:r>
            <a:r>
              <a:rPr lang="es-AR" dirty="0" smtClean="0"/>
              <a:t/>
            </a:r>
            <a:br>
              <a:rPr lang="es-AR" dirty="0" smtClean="0"/>
            </a:br>
            <a:endParaRPr lang="es-AR" dirty="0"/>
          </a:p>
        </p:txBody>
      </p:sp>
      <p:sp>
        <p:nvSpPr>
          <p:cNvPr id="3" name="2 Marcador de contenido"/>
          <p:cNvSpPr>
            <a:spLocks noGrp="1"/>
          </p:cNvSpPr>
          <p:nvPr>
            <p:ph idx="1"/>
          </p:nvPr>
        </p:nvSpPr>
        <p:spPr>
          <a:xfrm>
            <a:off x="323528" y="2132857"/>
            <a:ext cx="8714104" cy="1584175"/>
          </a:xfrm>
        </p:spPr>
        <p:txBody>
          <a:bodyPr>
            <a:normAutofit fontScale="92500" lnSpcReduction="20000"/>
          </a:bodyPr>
          <a:lstStyle/>
          <a:p>
            <a:pPr marL="0" indent="0">
              <a:buNone/>
            </a:pPr>
            <a:r>
              <a:rPr lang="es-AR" sz="2400" dirty="0"/>
              <a:t>Está presente en todos los actos comunicativos. Permite brindar conocimientos, conceptos, información objetiva. Es la función del lenguaje que </a:t>
            </a:r>
            <a:r>
              <a:rPr lang="es-AR" sz="2400" b="1" dirty="0"/>
              <a:t>da énfasis al factor contexto. </a:t>
            </a:r>
            <a:r>
              <a:rPr lang="es-AR" sz="2400" dirty="0"/>
              <a:t>Es aquella que utiliza el lenguaje denotativo (el significado primario de las palabras). </a:t>
            </a:r>
          </a:p>
          <a:p>
            <a:endParaRPr lang="es-AR" sz="1800" dirty="0"/>
          </a:p>
        </p:txBody>
      </p:sp>
      <p:pic>
        <p:nvPicPr>
          <p:cNvPr id="4098" name="Picture 2" descr="Famosa presentadora confesó que se fue sin bañar a su entrevista de trabajo  en Noticias Carac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11960" y="3627022"/>
            <a:ext cx="4825672" cy="2613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80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84710" y="452718"/>
            <a:ext cx="7055380" cy="816042"/>
          </a:xfrm>
        </p:spPr>
        <p:txBody>
          <a:bodyPr/>
          <a:lstStyle/>
          <a:p>
            <a:pPr algn="ctr"/>
            <a:r>
              <a:rPr lang="es-ES" dirty="0" smtClean="0">
                <a:solidFill>
                  <a:srgbClr val="FFFF00"/>
                </a:solidFill>
              </a:rPr>
              <a:t>Ver el siguiente video</a:t>
            </a:r>
            <a:endParaRPr lang="es-AR" dirty="0">
              <a:solidFill>
                <a:srgbClr val="FFFF00"/>
              </a:solidFill>
            </a:endParaRPr>
          </a:p>
        </p:txBody>
      </p:sp>
      <p:sp>
        <p:nvSpPr>
          <p:cNvPr id="3" name="Marcador de contenido 2"/>
          <p:cNvSpPr>
            <a:spLocks noGrp="1"/>
          </p:cNvSpPr>
          <p:nvPr>
            <p:ph idx="1"/>
          </p:nvPr>
        </p:nvSpPr>
        <p:spPr/>
        <p:txBody>
          <a:bodyPr/>
          <a:lstStyle/>
          <a:p>
            <a:r>
              <a:rPr lang="es-AR" dirty="0">
                <a:hlinkClick r:id="rId2"/>
              </a:rPr>
              <a:t>https://www.youtube.com/watch?v=-</a:t>
            </a:r>
            <a:r>
              <a:rPr lang="es-AR" dirty="0" smtClean="0">
                <a:hlinkClick r:id="rId2"/>
              </a:rPr>
              <a:t>YICQzigPaE</a:t>
            </a:r>
            <a:endParaRPr lang="es-AR" dirty="0" smtClean="0"/>
          </a:p>
          <a:p>
            <a:endParaRPr lang="es-ES" dirty="0"/>
          </a:p>
          <a:p>
            <a:r>
              <a:rPr lang="es-AR">
                <a:hlinkClick r:id="rId3"/>
              </a:rPr>
              <a:t>https</a:t>
            </a:r>
            <a:r>
              <a:rPr lang="es-AR">
                <a:hlinkClick r:id="rId3"/>
              </a:rPr>
              <a:t>://</a:t>
            </a:r>
            <a:r>
              <a:rPr lang="es-AR" smtClean="0">
                <a:hlinkClick r:id="rId3"/>
              </a:rPr>
              <a:t>campus.ort.edu.ar/secundaria/almagro/lengua/articulo/1645564/variedades-linguisticas-lectos-y-registros</a:t>
            </a:r>
            <a:r>
              <a:rPr lang="es-AR" smtClean="0"/>
              <a:t> </a:t>
            </a:r>
            <a:endParaRPr lang="es-AR" dirty="0"/>
          </a:p>
        </p:txBody>
      </p:sp>
    </p:spTree>
    <p:extLst>
      <p:ext uri="{BB962C8B-B14F-4D97-AF65-F5344CB8AC3E}">
        <p14:creationId xmlns:p14="http://schemas.microsoft.com/office/powerpoint/2010/main" val="13770204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298</TotalTime>
  <Words>362</Words>
  <Application>Microsoft Office PowerPoint</Application>
  <PresentationFormat>Presentación en pantalla (4:3)</PresentationFormat>
  <Paragraphs>33</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Algerian</vt:lpstr>
      <vt:lpstr>Arial</vt:lpstr>
      <vt:lpstr>Century Gothic</vt:lpstr>
      <vt:lpstr>Wingdings 3</vt:lpstr>
      <vt:lpstr>Ion</vt:lpstr>
      <vt:lpstr>LAS FUNCIONES DEL LENGUAJE SEGÚN JAKOBSON </vt:lpstr>
      <vt:lpstr>Presentación de PowerPoint</vt:lpstr>
      <vt:lpstr>FUNCIÓN EMOTIVA O EXPRESIVA  </vt:lpstr>
      <vt:lpstr>  FUNCIÓN APELATIVA O CONATIVA   </vt:lpstr>
      <vt:lpstr>FUNCIÓN FÁTICA </vt:lpstr>
      <vt:lpstr>Publicidad realizada a partir de nuevas prácticas culturales </vt:lpstr>
      <vt:lpstr>FUNCIÓN POÉTICA </vt:lpstr>
      <vt:lpstr>FUNCIÓN METALINGÜÍSTICA</vt:lpstr>
      <vt:lpstr> FUNCIÓN REFERENCIAL O REPRESENTATIVA </vt:lpstr>
      <vt:lpstr>Ver el siguiente video</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 FUNCIONES DEL LENGUAJE SEGÚN JAKOBSON</dc:title>
  <dc:creator>Raquel</dc:creator>
  <cp:lastModifiedBy>Cuenta Microsoft</cp:lastModifiedBy>
  <cp:revision>17</cp:revision>
  <dcterms:created xsi:type="dcterms:W3CDTF">2023-04-03T00:38:29Z</dcterms:created>
  <dcterms:modified xsi:type="dcterms:W3CDTF">2023-05-13T21:11:06Z</dcterms:modified>
</cp:coreProperties>
</file>