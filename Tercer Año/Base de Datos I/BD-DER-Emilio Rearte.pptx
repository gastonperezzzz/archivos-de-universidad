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308" r:id="rId5"/>
    <p:sldId id="309" r:id="rId6"/>
    <p:sldId id="262" r:id="rId7"/>
    <p:sldId id="293" r:id="rId8"/>
    <p:sldId id="296" r:id="rId9"/>
    <p:sldId id="277" r:id="rId10"/>
    <p:sldId id="267" r:id="rId11"/>
    <p:sldId id="306" r:id="rId12"/>
    <p:sldId id="307" r:id="rId13"/>
    <p:sldId id="273" r:id="rId14"/>
    <p:sldId id="275" r:id="rId15"/>
    <p:sldId id="263" r:id="rId16"/>
    <p:sldId id="266" r:id="rId17"/>
    <p:sldId id="264" r:id="rId18"/>
    <p:sldId id="270" r:id="rId19"/>
    <p:sldId id="279" r:id="rId20"/>
    <p:sldId id="272" r:id="rId21"/>
    <p:sldId id="281" r:id="rId22"/>
    <p:sldId id="282" r:id="rId23"/>
    <p:sldId id="283" r:id="rId24"/>
    <p:sldId id="286" r:id="rId25"/>
    <p:sldId id="287" r:id="rId26"/>
    <p:sldId id="289" r:id="rId27"/>
    <p:sldId id="291" r:id="rId28"/>
    <p:sldId id="292" r:id="rId29"/>
    <p:sldId id="302" r:id="rId30"/>
    <p:sldId id="303" r:id="rId31"/>
    <p:sldId id="304" r:id="rId32"/>
    <p:sldId id="305" r:id="rId33"/>
    <p:sldId id="288" r:id="rId34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ilio Rearte" initials="ER" lastIdx="1" clrIdx="0">
    <p:extLst>
      <p:ext uri="{19B8F6BF-5375-455C-9EA6-DF929625EA0E}">
        <p15:presenceInfo xmlns:p15="http://schemas.microsoft.com/office/powerpoint/2012/main" userId="a0bdc5d301e1ba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3" autoAdjust="0"/>
    <p:restoredTop sz="86470" autoAdjust="0"/>
  </p:normalViewPr>
  <p:slideViewPr>
    <p:cSldViewPr>
      <p:cViewPr varScale="1">
        <p:scale>
          <a:sx n="62" d="100"/>
          <a:sy n="62" d="100"/>
        </p:scale>
        <p:origin x="146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3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676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251BF-4497-4C08-9523-066CEAB46CAF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9AC23-64F2-4648-BA7F-EECF88287FDD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9AC23-64F2-4648-BA7F-EECF88287FDD}" type="slidenum">
              <a:rPr lang="es-AR" smtClean="0"/>
              <a:pPr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115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9AC23-64F2-4648-BA7F-EECF88287FDD}" type="slidenum">
              <a:rPr lang="es-AR" smtClean="0"/>
              <a:pPr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6399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9AC23-64F2-4648-BA7F-EECF88287FDD}" type="slidenum">
              <a:rPr lang="es-AR" smtClean="0"/>
              <a:pPr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523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3713B-0E9B-4F79-8221-7D5F1770E544}" type="datetimeFigureOut">
              <a:rPr lang="es-AR" smtClean="0"/>
              <a:pPr/>
              <a:t>21/04/2026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800D6-B7E3-4BEA-8684-FAB6B0C023B2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MX" sz="6000" b="1" dirty="0"/>
              <a:t>ANALISIS DE DATOS</a:t>
            </a:r>
            <a:br>
              <a:rPr lang="es-MX" sz="6000" b="1" dirty="0"/>
            </a:br>
            <a:br>
              <a:rPr lang="es-MX" sz="6000" b="1" dirty="0"/>
            </a:br>
            <a:r>
              <a:rPr lang="es-MX" sz="6000" b="1" dirty="0"/>
              <a:t>			</a:t>
            </a:r>
            <a:r>
              <a:rPr lang="es-MX" sz="3200" b="1" dirty="0"/>
              <a:t>Emilio Rearte</a:t>
            </a:r>
            <a:endParaRPr lang="es-AR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446807"/>
            <a:ext cx="7772400" cy="1470025"/>
          </a:xfrm>
        </p:spPr>
        <p:txBody>
          <a:bodyPr/>
          <a:lstStyle/>
          <a:p>
            <a:r>
              <a:rPr lang="es-MX" b="1" u="sng" cap="small" dirty="0"/>
              <a:t>Modelación Conceptual de Datos</a:t>
            </a:r>
            <a:endParaRPr lang="es-AR" b="1" u="sng" cap="smal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612504"/>
            <a:ext cx="6400800" cy="1752600"/>
          </a:xfrm>
          <a:solidFill>
            <a:schemeClr val="accent6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txBody>
          <a:bodyPr/>
          <a:lstStyle/>
          <a:p>
            <a:endParaRPr lang="es-MX" b="1" dirty="0"/>
          </a:p>
          <a:p>
            <a:r>
              <a:rPr lang="es-MX" b="1" cap="small" dirty="0">
                <a:solidFill>
                  <a:schemeClr val="accent2">
                    <a:lumMod val="50000"/>
                  </a:schemeClr>
                </a:solidFill>
              </a:rPr>
              <a:t>Diseño Global de Base de Datos</a:t>
            </a:r>
            <a:endParaRPr lang="es-AR" b="1" cap="small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u="sng" dirty="0"/>
              <a:t>Diagrama Entidad-Relación – DER</a:t>
            </a:r>
            <a:endParaRPr lang="es-AR" b="1" u="sng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17032"/>
          </a:xfr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/>
          <a:lstStyle/>
          <a:p>
            <a:pPr algn="ctr">
              <a:buNone/>
            </a:pPr>
            <a:endParaRPr lang="es-MX" dirty="0"/>
          </a:p>
          <a:p>
            <a:pPr algn="ctr">
              <a:buNone/>
            </a:pPr>
            <a:r>
              <a:rPr lang="es-MX" dirty="0"/>
              <a:t>Consiste en una </a:t>
            </a:r>
            <a:r>
              <a:rPr lang="es-MX" i="1" dirty="0"/>
              <a:t>técnica gráfica</a:t>
            </a:r>
          </a:p>
          <a:p>
            <a:pPr algn="ctr">
              <a:buNone/>
            </a:pPr>
            <a:r>
              <a:rPr lang="es-MX" dirty="0"/>
              <a:t>para el Análisis y Diseño </a:t>
            </a:r>
          </a:p>
          <a:p>
            <a:pPr algn="ctr">
              <a:buNone/>
            </a:pPr>
            <a:r>
              <a:rPr lang="es-MX" dirty="0"/>
              <a:t>del Modelo Conceptual de Datos </a:t>
            </a:r>
          </a:p>
          <a:p>
            <a:pPr algn="ctr">
              <a:buNone/>
            </a:pPr>
            <a:r>
              <a:rPr lang="es-MX" dirty="0"/>
              <a:t>de un Sistema Informático.</a:t>
            </a:r>
          </a:p>
          <a:p>
            <a:pPr algn="ctr">
              <a:buNone/>
            </a:pPr>
            <a:endParaRPr lang="es-A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>
            <a:normAutofit fontScale="90000"/>
          </a:bodyPr>
          <a:lstStyle/>
          <a:p>
            <a:br>
              <a:rPr lang="es-MX" sz="3200" b="1" u="sng" cap="small" dirty="0"/>
            </a:br>
            <a:r>
              <a:rPr lang="es-MX" sz="3200" b="1" u="sng" cap="small" dirty="0"/>
              <a:t>Construcción del DER</a:t>
            </a:r>
            <a:br>
              <a:rPr lang="es-MX" sz="3200" b="1" u="sng" cap="small" dirty="0"/>
            </a:br>
            <a:r>
              <a:rPr lang="es-MX" sz="3200" b="1" u="sng" cap="small" dirty="0"/>
              <a:t>Elementos Primarios – Simbología básica</a:t>
            </a:r>
            <a:br>
              <a:rPr lang="es-MX" sz="3200" b="1" u="sng" cap="small" dirty="0"/>
            </a:br>
            <a:r>
              <a:rPr lang="es-MX" sz="3200" b="1" u="sng" cap="small" dirty="0"/>
              <a:t>Representación Simplificada (1)</a:t>
            </a:r>
            <a:endParaRPr lang="es-AR" sz="32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80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			</a:t>
            </a:r>
          </a:p>
          <a:p>
            <a:pPr>
              <a:buNone/>
            </a:pPr>
            <a:r>
              <a:rPr lang="es-MX" sz="2800" dirty="0"/>
              <a:t>			Entidad </a:t>
            </a:r>
            <a:r>
              <a:rPr lang="es-MX" sz="2800" dirty="0">
                <a:sym typeface="Wingdings" pitchFamily="2" charset="2"/>
              </a:rPr>
              <a:t> </a:t>
            </a:r>
            <a:r>
              <a:rPr lang="es-MX" sz="2800" dirty="0"/>
              <a:t>		</a:t>
            </a:r>
          </a:p>
          <a:p>
            <a:pPr>
              <a:buNone/>
            </a:pPr>
            <a:r>
              <a:rPr lang="es-MX" sz="2800" dirty="0"/>
              <a:t>			</a:t>
            </a:r>
          </a:p>
          <a:p>
            <a:pPr>
              <a:buNone/>
            </a:pPr>
            <a:endParaRPr lang="es-MX" sz="2800" dirty="0"/>
          </a:p>
          <a:p>
            <a:pPr>
              <a:buNone/>
            </a:pPr>
            <a:r>
              <a:rPr lang="es-MX" sz="2800" dirty="0"/>
              <a:t>			Relación </a:t>
            </a:r>
            <a:r>
              <a:rPr lang="es-MX" sz="2800" dirty="0">
                <a:sym typeface="Wingdings" pitchFamily="2" charset="2"/>
              </a:rPr>
              <a:t></a:t>
            </a:r>
            <a:endParaRPr lang="es-MX" sz="2800" dirty="0"/>
          </a:p>
          <a:p>
            <a:pPr>
              <a:buNone/>
            </a:pPr>
            <a:endParaRPr lang="es-MX" sz="2800" dirty="0"/>
          </a:p>
          <a:p>
            <a:pPr>
              <a:buNone/>
            </a:pPr>
            <a:endParaRPr lang="es-MX" sz="2800" dirty="0"/>
          </a:p>
          <a:p>
            <a:pPr>
              <a:buNone/>
            </a:pPr>
            <a:r>
              <a:rPr lang="es-MX" sz="2800" dirty="0"/>
              <a:t>			Atributo </a:t>
            </a:r>
            <a:r>
              <a:rPr lang="es-MX" sz="2800" dirty="0">
                <a:sym typeface="Wingdings" pitchFamily="2" charset="2"/>
              </a:rPr>
              <a:t>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AR" dirty="0"/>
          </a:p>
        </p:txBody>
      </p:sp>
      <p:sp>
        <p:nvSpPr>
          <p:cNvPr id="4" name="3 Rectángulo"/>
          <p:cNvSpPr/>
          <p:nvPr/>
        </p:nvSpPr>
        <p:spPr>
          <a:xfrm>
            <a:off x="4355976" y="1844824"/>
            <a:ext cx="3024336" cy="1152128"/>
          </a:xfrm>
          <a:prstGeom prst="rect">
            <a:avLst/>
          </a:prstGeom>
          <a:ln w="3175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Nombre de Entidad (Obligatorio)</a:t>
            </a:r>
            <a:endParaRPr lang="es-AR" sz="2000" dirty="0"/>
          </a:p>
        </p:txBody>
      </p:sp>
      <p:sp>
        <p:nvSpPr>
          <p:cNvPr id="5" name="4 Rombo"/>
          <p:cNvSpPr/>
          <p:nvPr/>
        </p:nvSpPr>
        <p:spPr>
          <a:xfrm>
            <a:off x="4572000" y="3284984"/>
            <a:ext cx="2520280" cy="1368152"/>
          </a:xfrm>
          <a:prstGeom prst="diamond">
            <a:avLst/>
          </a:prstGeom>
          <a:ln w="3175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Nombre de Relación (Opcional)</a:t>
            </a:r>
            <a:endParaRPr lang="es-AR" dirty="0"/>
          </a:p>
        </p:txBody>
      </p:sp>
      <p:sp>
        <p:nvSpPr>
          <p:cNvPr id="6" name="5 Elipse"/>
          <p:cNvSpPr/>
          <p:nvPr/>
        </p:nvSpPr>
        <p:spPr>
          <a:xfrm>
            <a:off x="4932040" y="4941168"/>
            <a:ext cx="1872208" cy="1080120"/>
          </a:xfrm>
          <a:prstGeom prst="ellipse">
            <a:avLst/>
          </a:prstGeom>
          <a:ln w="3175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Nombre de Atributo</a:t>
            </a:r>
          </a:p>
          <a:p>
            <a:pPr algn="ctr"/>
            <a:r>
              <a:rPr lang="es-MX" dirty="0"/>
              <a:t>Obligatorio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4167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CC8CA560-2048-45C0-A868-6953949F3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5373216"/>
            <a:ext cx="1877731" cy="10912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080D6A9-3180-4864-BD78-389D95A2F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5445224"/>
            <a:ext cx="1877731" cy="1091279"/>
          </a:xfrm>
          <a:prstGeom prst="rect">
            <a:avLst/>
          </a:prstGeom>
        </p:spPr>
      </p:pic>
      <p:pic>
        <p:nvPicPr>
          <p:cNvPr id="14" name="Imagen 13" descr="yy">
            <a:extLst>
              <a:ext uri="{FF2B5EF4-FFF2-40B4-BE49-F238E27FC236}">
                <a16:creationId xmlns:a16="http://schemas.microsoft.com/office/drawing/2014/main" id="{7320ADFB-4F09-4CFE-8C9C-D1076581F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179" y="5506073"/>
            <a:ext cx="1877731" cy="109127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C7FBCAB-49C4-4BF2-B153-BDA3109AA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261" y="3851385"/>
            <a:ext cx="2530059" cy="13778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4CC862A-7A88-4F67-9E04-FEB04F1F39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3861048"/>
            <a:ext cx="2530059" cy="1377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0887F9-CA8A-4478-AB0E-8D1D36349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85" y="1844824"/>
            <a:ext cx="3029975" cy="11583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31AED21-2444-4DF1-9CF7-9897FF9D7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369" y="1982628"/>
            <a:ext cx="3029975" cy="115834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8554E7A-5BD1-456B-8E5C-5C2D9BAC0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126644"/>
            <a:ext cx="3029975" cy="115834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>
            <a:normAutofit fontScale="90000"/>
          </a:bodyPr>
          <a:lstStyle/>
          <a:p>
            <a:br>
              <a:rPr lang="es-MX" sz="3200" b="1" u="sng" cap="small" dirty="0"/>
            </a:br>
            <a:r>
              <a:rPr lang="es-MX" sz="3200" b="1" u="sng" cap="small" dirty="0"/>
              <a:t>Construcción del DER</a:t>
            </a:r>
            <a:br>
              <a:rPr lang="es-MX" sz="3200" b="1" u="sng" cap="small" dirty="0"/>
            </a:br>
            <a:r>
              <a:rPr lang="es-MX" sz="3200" b="1" u="sng" cap="small" dirty="0"/>
              <a:t>Elementos Primarios – Simbología básica</a:t>
            </a:r>
            <a:br>
              <a:rPr lang="es-MX" sz="3200" b="1" u="sng" cap="small" dirty="0"/>
            </a:br>
            <a:r>
              <a:rPr lang="es-MX" sz="3200" b="1" u="sng" cap="small" dirty="0"/>
              <a:t>Representación Amplificada (2)</a:t>
            </a:r>
            <a:endParaRPr lang="es-AR" sz="32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			</a:t>
            </a:r>
          </a:p>
          <a:p>
            <a:pPr>
              <a:buNone/>
            </a:pPr>
            <a:r>
              <a:rPr lang="es-MX" sz="2800" dirty="0"/>
              <a:t>			</a:t>
            </a:r>
          </a:p>
          <a:p>
            <a:pPr>
              <a:buNone/>
            </a:pPr>
            <a:r>
              <a:rPr lang="es-MX" sz="2800" dirty="0"/>
              <a:t>			Entidad </a:t>
            </a:r>
            <a:r>
              <a:rPr lang="es-MX" sz="2800" dirty="0">
                <a:sym typeface="Wingdings" pitchFamily="2" charset="2"/>
              </a:rPr>
              <a:t> </a:t>
            </a:r>
            <a:r>
              <a:rPr lang="es-MX" sz="2800" dirty="0"/>
              <a:t>		</a:t>
            </a:r>
          </a:p>
          <a:p>
            <a:pPr>
              <a:buNone/>
            </a:pPr>
            <a:r>
              <a:rPr lang="es-MX" sz="2800" dirty="0"/>
              <a:t>			</a:t>
            </a:r>
          </a:p>
          <a:p>
            <a:pPr>
              <a:buNone/>
            </a:pPr>
            <a:endParaRPr lang="es-MX" sz="2800" dirty="0"/>
          </a:p>
          <a:p>
            <a:pPr>
              <a:buNone/>
            </a:pPr>
            <a:r>
              <a:rPr lang="es-MX" sz="2800" dirty="0"/>
              <a:t>			Relación </a:t>
            </a:r>
            <a:r>
              <a:rPr lang="es-MX" sz="2800" dirty="0">
                <a:sym typeface="Wingdings" pitchFamily="2" charset="2"/>
              </a:rPr>
              <a:t></a:t>
            </a:r>
            <a:endParaRPr lang="es-MX" sz="2800" dirty="0"/>
          </a:p>
          <a:p>
            <a:pPr>
              <a:buNone/>
            </a:pPr>
            <a:endParaRPr lang="es-MX" sz="2800" dirty="0"/>
          </a:p>
          <a:p>
            <a:pPr>
              <a:buNone/>
            </a:pPr>
            <a:endParaRPr lang="es-MX" sz="2800" dirty="0"/>
          </a:p>
          <a:p>
            <a:pPr>
              <a:buNone/>
            </a:pPr>
            <a:r>
              <a:rPr lang="es-MX" sz="2800" dirty="0"/>
              <a:t>			Atributo </a:t>
            </a:r>
            <a:r>
              <a:rPr lang="es-MX" sz="2800" dirty="0">
                <a:sym typeface="Wingdings" pitchFamily="2" charset="2"/>
              </a:rPr>
              <a:t>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AR" dirty="0"/>
          </a:p>
        </p:txBody>
      </p:sp>
      <p:sp>
        <p:nvSpPr>
          <p:cNvPr id="4" name="3 Rectángulo"/>
          <p:cNvSpPr/>
          <p:nvPr/>
        </p:nvSpPr>
        <p:spPr>
          <a:xfrm>
            <a:off x="4355976" y="2276872"/>
            <a:ext cx="3024336" cy="1152128"/>
          </a:xfrm>
          <a:prstGeom prst="rect">
            <a:avLst/>
          </a:prstGeom>
          <a:ln w="3175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Nombre de Entidad (Obligatorio)</a:t>
            </a:r>
            <a:endParaRPr lang="es-AR" sz="2000" dirty="0"/>
          </a:p>
        </p:txBody>
      </p:sp>
      <p:sp>
        <p:nvSpPr>
          <p:cNvPr id="5" name="4 Rombo"/>
          <p:cNvSpPr/>
          <p:nvPr/>
        </p:nvSpPr>
        <p:spPr>
          <a:xfrm>
            <a:off x="4499992" y="3861048"/>
            <a:ext cx="2520280" cy="1368152"/>
          </a:xfrm>
          <a:prstGeom prst="diamond">
            <a:avLst/>
          </a:prstGeom>
          <a:ln w="3175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Nombre de Relación (Opcional)</a:t>
            </a:r>
            <a:endParaRPr lang="es-AR" dirty="0"/>
          </a:p>
        </p:txBody>
      </p:sp>
      <p:sp>
        <p:nvSpPr>
          <p:cNvPr id="6" name="5 Elipse"/>
          <p:cNvSpPr/>
          <p:nvPr/>
        </p:nvSpPr>
        <p:spPr>
          <a:xfrm>
            <a:off x="4932040" y="5589240"/>
            <a:ext cx="1872208" cy="1080120"/>
          </a:xfrm>
          <a:prstGeom prst="ellipse">
            <a:avLst/>
          </a:prstGeom>
          <a:ln w="3175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Nombre de Atributo</a:t>
            </a:r>
          </a:p>
          <a:p>
            <a:pPr algn="ctr"/>
            <a:r>
              <a:rPr lang="es-MX" dirty="0"/>
              <a:t>Obligatorio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1659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Entidades: Concepto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472608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s-MX" dirty="0"/>
              <a:t> 	Constituyen la representación de </a:t>
            </a:r>
          </a:p>
          <a:p>
            <a:pPr algn="ctr">
              <a:buNone/>
            </a:pPr>
            <a:r>
              <a:rPr lang="es-MX" dirty="0"/>
              <a:t>elementos  físicos/materiales o conceptuales,</a:t>
            </a:r>
          </a:p>
          <a:p>
            <a:pPr algn="ctr">
              <a:buNone/>
            </a:pPr>
            <a:r>
              <a:rPr lang="es-MX" dirty="0"/>
              <a:t> concretos o abstractos, </a:t>
            </a:r>
          </a:p>
          <a:p>
            <a:pPr algn="ctr">
              <a:buNone/>
            </a:pPr>
            <a:r>
              <a:rPr lang="es-MX" dirty="0"/>
              <a:t>de existencia real,  artificial o imaginaria,  </a:t>
            </a:r>
          </a:p>
          <a:p>
            <a:pPr algn="ctr">
              <a:buNone/>
            </a:pPr>
            <a:r>
              <a:rPr lang="es-MX" dirty="0"/>
              <a:t>reconocidos como objetos de información</a:t>
            </a:r>
          </a:p>
          <a:p>
            <a:pPr algn="ctr">
              <a:buNone/>
            </a:pPr>
            <a:r>
              <a:rPr lang="es-MX" dirty="0"/>
              <a:t> con significación propia, </a:t>
            </a:r>
          </a:p>
          <a:p>
            <a:pPr algn="ctr">
              <a:buNone/>
            </a:pPr>
            <a:r>
              <a:rPr lang="es-MX" dirty="0"/>
              <a:t>dentro de un contexto/realidad determinada: cosas, conceptos, seres/personas, hechos/sucesos/eventos, roles/papeles, unidades de tiempo/espacio.</a:t>
            </a:r>
          </a:p>
          <a:p>
            <a:pPr algn="ctr">
              <a:buNone/>
            </a:pPr>
            <a:endParaRPr lang="es-MX" dirty="0"/>
          </a:p>
          <a:p>
            <a:pPr algn="ctr">
              <a:buNone/>
            </a:pPr>
            <a:r>
              <a:rPr lang="es-MX" dirty="0"/>
              <a:t>Son ejemplos de entidades: Rodados, Inmuebles, Contribuyentes, Empleados, Titulares, Propietarios, Partidos, Periodos, </a:t>
            </a:r>
            <a:r>
              <a:rPr lang="es-MX" dirty="0" err="1"/>
              <a:t>Areas</a:t>
            </a:r>
            <a:r>
              <a:rPr lang="es-MX" dirty="0"/>
              <a:t>, Profesores, Materias, Estudiantes, Proveedores, Clientes, Productos, Pedidos, Ventas, Años, Candidatos, etc.</a:t>
            </a:r>
          </a:p>
          <a:p>
            <a:pPr algn="ctr">
              <a:buNone/>
            </a:pPr>
            <a:r>
              <a:rPr lang="es-MX" dirty="0"/>
              <a:t>   		</a:t>
            </a:r>
            <a:endParaRPr lang="es-A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Entidades: Características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179512" y="1268760"/>
            <a:ext cx="8784976" cy="5112568"/>
          </a:xfrm>
        </p:spPr>
        <p:txBody>
          <a:bodyPr>
            <a:normAutofit/>
          </a:bodyPr>
          <a:lstStyle/>
          <a:p>
            <a:pPr algn="ctr">
              <a:buFont typeface="Wingdings" pitchFamily="2" charset="2"/>
              <a:buChar char="Ø"/>
            </a:pPr>
            <a:r>
              <a:rPr lang="es-MX" sz="2400" dirty="0"/>
              <a:t>Representan Objetos Conceptuales de Información (OCI).</a:t>
            </a:r>
          </a:p>
          <a:p>
            <a:pPr algn="ctr">
              <a:buFont typeface="Wingdings" pitchFamily="2" charset="2"/>
              <a:buChar char="Ø"/>
            </a:pPr>
            <a:r>
              <a:rPr lang="es-MX" sz="2400" dirty="0"/>
              <a:t>Representan OCI </a:t>
            </a:r>
            <a:r>
              <a:rPr lang="es-MX" sz="2400" dirty="0" err="1"/>
              <a:t>instanciables</a:t>
            </a:r>
            <a:r>
              <a:rPr lang="es-MX" sz="2400" dirty="0"/>
              <a:t>. </a:t>
            </a:r>
          </a:p>
          <a:p>
            <a:pPr algn="ctr">
              <a:buFont typeface="Wingdings" pitchFamily="2" charset="2"/>
              <a:buChar char="Ø"/>
            </a:pPr>
            <a:r>
              <a:rPr lang="es-MX" sz="2400" dirty="0"/>
              <a:t>Son nombradas.</a:t>
            </a:r>
          </a:p>
          <a:p>
            <a:pPr algn="ctr">
              <a:buFont typeface="Wingdings" pitchFamily="2" charset="2"/>
              <a:buChar char="Ø"/>
            </a:pPr>
            <a:r>
              <a:rPr lang="es-MX" sz="2400" dirty="0"/>
              <a:t>Poseen identificación propia.</a:t>
            </a:r>
          </a:p>
          <a:p>
            <a:pPr algn="ctr">
              <a:buFont typeface="Wingdings" pitchFamily="2" charset="2"/>
              <a:buChar char="Ø"/>
            </a:pPr>
            <a:r>
              <a:rPr lang="es-MX" sz="2400" dirty="0"/>
              <a:t>Poseen atributos que describen sus características y/o desempeño.</a:t>
            </a:r>
          </a:p>
          <a:p>
            <a:pPr algn="ctr">
              <a:buFont typeface="Wingdings" pitchFamily="2" charset="2"/>
              <a:buChar char="Ø"/>
            </a:pPr>
            <a:r>
              <a:rPr lang="es-MX" sz="2400" dirty="0"/>
              <a:t>Sus atributos describen propiedades permanentes.</a:t>
            </a:r>
          </a:p>
          <a:p>
            <a:pPr algn="ctr">
              <a:buFont typeface="Wingdings" pitchFamily="2" charset="2"/>
              <a:buChar char="Ø"/>
            </a:pPr>
            <a:r>
              <a:rPr lang="es-MX" sz="2400" dirty="0"/>
              <a:t>Sus atributos describen exclusivamente a sus instancias componentes.</a:t>
            </a:r>
          </a:p>
          <a:p>
            <a:pPr algn="ctr">
              <a:buFont typeface="Wingdings" pitchFamily="2" charset="2"/>
              <a:buChar char="Ø"/>
            </a:pPr>
            <a:r>
              <a:rPr lang="es-MX" sz="2400" dirty="0"/>
              <a:t>Sus atributos describen a todas sus instancias componentes.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s-MX" sz="3600" b="1" u="sng" cap="small" dirty="0"/>
              <a:t>Entidades: Tipos y Clases</a:t>
            </a:r>
            <a:endParaRPr lang="es-AR" sz="3600" b="1" u="sng" cap="small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70912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sz="3600" b="1" dirty="0"/>
              <a:t>Tipo/Subtipo:</a:t>
            </a:r>
            <a:r>
              <a:rPr lang="es-MX" sz="3600" dirty="0"/>
              <a:t> Conjunto/subconjunto de atributos/datos de una entidad.</a:t>
            </a:r>
          </a:p>
          <a:p>
            <a:pPr algn="ctr">
              <a:buNone/>
            </a:pPr>
            <a:endParaRPr lang="es-MX" sz="3600" dirty="0"/>
          </a:p>
          <a:p>
            <a:pPr algn="ctr">
              <a:buNone/>
            </a:pPr>
            <a:r>
              <a:rPr lang="es-MX" sz="3600" b="1" dirty="0"/>
              <a:t>Clase/Subclase:</a:t>
            </a:r>
            <a:r>
              <a:rPr lang="es-MX" sz="3600" dirty="0"/>
              <a:t> Conjunto/subconjunto de 	entidades de un mismo tipo. </a:t>
            </a:r>
            <a:r>
              <a:rPr lang="es-MX" sz="4000" dirty="0"/>
              <a:t>	</a:t>
            </a:r>
            <a:r>
              <a:rPr lang="es-MX" dirty="0"/>
              <a:t>	</a:t>
            </a:r>
            <a:endParaRPr lang="es-A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629816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Clasificación de Entidades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 b="1" u="sng" cap="small" baseline="0" dirty="0">
                <a:latin typeface="+mj-lt"/>
                <a:ea typeface="+mj-ea"/>
                <a:cs typeface="+mj-cs"/>
              </a:rPr>
              <a:t>según la cantidad de instancias participantes</a:t>
            </a:r>
            <a:endParaRPr kumimoji="0" lang="es-A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</a:t>
            </a:r>
            <a:endParaRPr kumimoji="0" lang="es-MX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Entidades</a:t>
            </a:r>
            <a:r>
              <a:rPr kumimoji="0" lang="es-MX" sz="5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Individuales</a:t>
            </a:r>
            <a:r>
              <a:rPr lang="es-MX" sz="5800" dirty="0">
                <a:sym typeface="Wingdings" pitchFamily="2" charset="2"/>
              </a:rPr>
              <a:t>: Entidades compuestas por una única instancia.</a:t>
            </a:r>
            <a:r>
              <a:rPr kumimoji="0" lang="es-MX" sz="5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Entidades</a:t>
            </a:r>
            <a:r>
              <a:rPr kumimoji="0" lang="es-MX" sz="5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Colectivas</a:t>
            </a:r>
            <a:r>
              <a:rPr kumimoji="0" lang="es-MX" sz="5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Entidades compuestas por </a:t>
            </a:r>
            <a:r>
              <a:rPr lang="es-MX" sz="5800" dirty="0"/>
              <a:t>más de una instancia</a:t>
            </a:r>
            <a:r>
              <a:rPr kumimoji="0" lang="es-MX" sz="5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s-MX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s-AR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629816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Clasificación de Entidades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 b="1" u="sng" cap="small" baseline="0" dirty="0">
                <a:latin typeface="+mj-lt"/>
                <a:ea typeface="+mj-ea"/>
                <a:cs typeface="+mj-cs"/>
              </a:rPr>
              <a:t>según la cantidad de tipos participantes (1)</a:t>
            </a:r>
            <a:endParaRPr kumimoji="0" lang="es-A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</a:t>
            </a:r>
            <a:endParaRPr kumimoji="0" lang="es-MX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Entidades</a:t>
            </a:r>
            <a:r>
              <a:rPr kumimoji="0" lang="es-MX" sz="5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Simples</a:t>
            </a:r>
            <a:r>
              <a:rPr lang="es-MX" sz="5800" dirty="0">
                <a:sym typeface="Wingdings" pitchFamily="2" charset="2"/>
              </a:rPr>
              <a:t>: Entidades que comprenden instancias de un mismo tipo.</a:t>
            </a:r>
            <a:r>
              <a:rPr kumimoji="0" lang="es-MX" sz="5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Entidades</a:t>
            </a:r>
            <a:r>
              <a:rPr kumimoji="0" lang="es-MX" sz="5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Compuestas</a:t>
            </a:r>
            <a:r>
              <a:rPr kumimoji="0" lang="es-MX" sz="5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Comprenden instancias de tipos de datos diferentes integradas mediante una relación.</a:t>
            </a:r>
            <a:endParaRPr kumimoji="0" lang="es-MX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s-AR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629816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Clasificación de Entidades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 b="1" u="sng" cap="small" baseline="0" dirty="0">
                <a:latin typeface="+mj-lt"/>
                <a:ea typeface="+mj-ea"/>
                <a:cs typeface="+mj-cs"/>
              </a:rPr>
              <a:t>según la cantidad de tipos participantes (2)</a:t>
            </a:r>
            <a:endParaRPr kumimoji="0" lang="es-A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1916832"/>
            <a:ext cx="8229600" cy="420933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Entidades</a:t>
            </a:r>
            <a:r>
              <a:rPr kumimoji="0" lang="es-MX" sz="2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Simples: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MX" sz="5800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Entidades</a:t>
            </a:r>
            <a:r>
              <a:rPr kumimoji="0" lang="es-MX" sz="2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Compuestas: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8 Rectángulo">
            <a:extLst>
              <a:ext uri="{FF2B5EF4-FFF2-40B4-BE49-F238E27FC236}">
                <a16:creationId xmlns:a16="http://schemas.microsoft.com/office/drawing/2014/main" id="{C40DECB0-9CFB-4EBC-9710-B5DC8459ACEC}"/>
              </a:ext>
            </a:extLst>
          </p:cNvPr>
          <p:cNvSpPr/>
          <p:nvPr/>
        </p:nvSpPr>
        <p:spPr>
          <a:xfrm>
            <a:off x="3995936" y="2420888"/>
            <a:ext cx="2088232" cy="792088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>
                    <a:lumMod val="50000"/>
                  </a:schemeClr>
                </a:solidFill>
              </a:rPr>
              <a:t>Nombre de </a:t>
            </a:r>
          </a:p>
          <a:p>
            <a:pPr algn="ctr"/>
            <a:r>
              <a:rPr lang="es-MX" dirty="0">
                <a:solidFill>
                  <a:schemeClr val="accent2">
                    <a:lumMod val="50000"/>
                  </a:schemeClr>
                </a:solidFill>
              </a:rPr>
              <a:t>Entidad</a:t>
            </a:r>
            <a:endParaRPr lang="es-A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27 Rectángulo">
            <a:extLst>
              <a:ext uri="{FF2B5EF4-FFF2-40B4-BE49-F238E27FC236}">
                <a16:creationId xmlns:a16="http://schemas.microsoft.com/office/drawing/2014/main" id="{F0815440-CA65-4EF1-9AF8-24E14156DB51}"/>
              </a:ext>
            </a:extLst>
          </p:cNvPr>
          <p:cNvSpPr/>
          <p:nvPr/>
        </p:nvSpPr>
        <p:spPr>
          <a:xfrm>
            <a:off x="1298609" y="4149080"/>
            <a:ext cx="6513752" cy="1728192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F2AA1439-5F31-47C8-AD3A-C5ABF3D206C9}"/>
              </a:ext>
            </a:extLst>
          </p:cNvPr>
          <p:cNvSpPr/>
          <p:nvPr/>
        </p:nvSpPr>
        <p:spPr>
          <a:xfrm>
            <a:off x="1691680" y="4725144"/>
            <a:ext cx="1806713" cy="624069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>
                    <a:lumMod val="50000"/>
                  </a:schemeClr>
                </a:solidFill>
              </a:rPr>
              <a:t>Nombre de </a:t>
            </a:r>
          </a:p>
          <a:p>
            <a:pPr algn="ctr"/>
            <a:r>
              <a:rPr lang="es-MX" dirty="0">
                <a:solidFill>
                  <a:schemeClr val="accent2">
                    <a:lumMod val="50000"/>
                  </a:schemeClr>
                </a:solidFill>
              </a:rPr>
              <a:t>Entidad Simple</a:t>
            </a:r>
            <a:endParaRPr lang="es-A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7 Rombo">
            <a:extLst>
              <a:ext uri="{FF2B5EF4-FFF2-40B4-BE49-F238E27FC236}">
                <a16:creationId xmlns:a16="http://schemas.microsoft.com/office/drawing/2014/main" id="{3284084C-EF13-45AB-887B-8827E65C3B78}"/>
              </a:ext>
            </a:extLst>
          </p:cNvPr>
          <p:cNvSpPr/>
          <p:nvPr/>
        </p:nvSpPr>
        <p:spPr>
          <a:xfrm>
            <a:off x="3921086" y="4552527"/>
            <a:ext cx="1478219" cy="1008112"/>
          </a:xfrm>
          <a:prstGeom prst="diamond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28 Rectángulo">
            <a:extLst>
              <a:ext uri="{FF2B5EF4-FFF2-40B4-BE49-F238E27FC236}">
                <a16:creationId xmlns:a16="http://schemas.microsoft.com/office/drawing/2014/main" id="{14D0049A-33B3-4911-8D50-F365FBE00C98}"/>
              </a:ext>
            </a:extLst>
          </p:cNvPr>
          <p:cNvSpPr/>
          <p:nvPr/>
        </p:nvSpPr>
        <p:spPr>
          <a:xfrm>
            <a:off x="5724128" y="4749147"/>
            <a:ext cx="1806713" cy="624069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accent2">
                    <a:lumMod val="50000"/>
                  </a:schemeClr>
                </a:solidFill>
              </a:rPr>
              <a:t>Nombre de </a:t>
            </a:r>
          </a:p>
          <a:p>
            <a:pPr algn="ctr"/>
            <a:r>
              <a:rPr lang="es-MX" dirty="0">
                <a:solidFill>
                  <a:schemeClr val="accent2">
                    <a:lumMod val="50000"/>
                  </a:schemeClr>
                </a:solidFill>
              </a:rPr>
              <a:t>Entidad Simple</a:t>
            </a:r>
            <a:endParaRPr lang="es-AR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1" name="30 Conector recto">
            <a:extLst>
              <a:ext uri="{FF2B5EF4-FFF2-40B4-BE49-F238E27FC236}">
                <a16:creationId xmlns:a16="http://schemas.microsoft.com/office/drawing/2014/main" id="{6083D670-AA1E-4FD6-8673-384416380C08}"/>
              </a:ext>
            </a:extLst>
          </p:cNvPr>
          <p:cNvCxnSpPr>
            <a:cxnSpLocks/>
          </p:cNvCxnSpPr>
          <p:nvPr/>
        </p:nvCxnSpPr>
        <p:spPr>
          <a:xfrm>
            <a:off x="3498393" y="5085184"/>
            <a:ext cx="425535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30 Conector recto">
            <a:extLst>
              <a:ext uri="{FF2B5EF4-FFF2-40B4-BE49-F238E27FC236}">
                <a16:creationId xmlns:a16="http://schemas.microsoft.com/office/drawing/2014/main" id="{49FFF95D-21AA-41CC-A193-E9A3DFDC1FCA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364088" y="5061182"/>
            <a:ext cx="360040" cy="24002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439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1C0F4FBE-18AE-4AD3-9717-51C97607651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b="1" u="sng" cap="small" dirty="0"/>
              <a:t>Entidades: Clasificación de Entidades </a:t>
            </a:r>
            <a:br>
              <a:rPr lang="es-MX" sz="3200" b="1" u="sng" cap="small" dirty="0"/>
            </a:br>
            <a:r>
              <a:rPr lang="es-MX" sz="3200" b="1" u="sng" cap="small" dirty="0"/>
              <a:t>según el Grado de Independencia (1)</a:t>
            </a:r>
            <a:endParaRPr lang="es-AR" sz="32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7F9A54-1128-4245-A23D-D0CFCB31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22" y="1167188"/>
            <a:ext cx="7980356" cy="45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0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Clasificación de Entidades según</a:t>
            </a:r>
            <a:br>
              <a:rPr lang="es-MX" sz="3200" b="1" u="sng" cap="small" dirty="0"/>
            </a:br>
            <a:r>
              <a:rPr lang="es-MX" sz="3200" b="1" u="sng" cap="small" dirty="0"/>
              <a:t> el Grado de Independencia de datos (2)</a:t>
            </a:r>
            <a:endParaRPr lang="es-AR" sz="32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16B066-0561-455E-938A-AB1D79B36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43" y="1417638"/>
            <a:ext cx="8230313" cy="427317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3527244-8F8D-4521-9522-7BF91E2E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868" y="1628800"/>
            <a:ext cx="2170364" cy="31519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Relaciones: Concepto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dirty="0"/>
              <a:t>Constituyen la representación </a:t>
            </a:r>
          </a:p>
          <a:p>
            <a:pPr algn="ctr">
              <a:buNone/>
            </a:pPr>
            <a:r>
              <a:rPr lang="es-MX" dirty="0"/>
              <a:t>de las vinculaciones lógicas </a:t>
            </a:r>
          </a:p>
          <a:p>
            <a:pPr algn="ctr">
              <a:buNone/>
            </a:pPr>
            <a:r>
              <a:rPr lang="es-MX" dirty="0"/>
              <a:t>o asociaciones conceptuales </a:t>
            </a:r>
          </a:p>
          <a:p>
            <a:pPr algn="ctr">
              <a:buNone/>
            </a:pPr>
            <a:r>
              <a:rPr lang="es-MX" dirty="0"/>
              <a:t>existentes entre  </a:t>
            </a:r>
          </a:p>
          <a:p>
            <a:pPr algn="ctr">
              <a:buNone/>
            </a:pPr>
            <a:r>
              <a:rPr lang="es-MX" dirty="0"/>
              <a:t>las entidades identificadas</a:t>
            </a:r>
          </a:p>
          <a:p>
            <a:pPr algn="ctr">
              <a:buNone/>
            </a:pPr>
            <a:r>
              <a:rPr lang="es-MX" dirty="0"/>
              <a:t>en la realidad representada.</a:t>
            </a:r>
            <a:endParaRPr lang="es-A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864096"/>
          </a:xfrm>
        </p:spPr>
        <p:txBody>
          <a:bodyPr>
            <a:normAutofit fontScale="90000"/>
          </a:bodyPr>
          <a:lstStyle/>
          <a:p>
            <a:r>
              <a:rPr lang="es-MX" sz="3200" b="1" u="sng" cap="small" dirty="0"/>
              <a:t>Clasificación de Relaciones según </a:t>
            </a:r>
            <a:br>
              <a:rPr lang="es-MX" sz="3200" b="1" u="sng" cap="small" dirty="0"/>
            </a:br>
            <a:r>
              <a:rPr lang="es-MX" sz="3200" b="1" u="sng" cap="small" dirty="0"/>
              <a:t>la cantidad de entidades participantes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	</a:t>
            </a:r>
          </a:p>
          <a:p>
            <a:pPr>
              <a:buNone/>
            </a:pPr>
            <a:r>
              <a:rPr lang="es-MX" dirty="0"/>
              <a:t>		</a:t>
            </a:r>
            <a:r>
              <a:rPr lang="es-AR" dirty="0"/>
              <a:t>Unarias </a:t>
            </a:r>
            <a:r>
              <a:rPr lang="es-AR" dirty="0">
                <a:sym typeface="Wingdings" pitchFamily="2" charset="2"/>
              </a:rPr>
              <a:t> 	  </a:t>
            </a: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	Binarias   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	Ternarias 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dirty="0"/>
              <a:t>		N-aria </a:t>
            </a:r>
            <a:r>
              <a:rPr lang="es-MX" dirty="0">
                <a:sym typeface="Wingdings" pitchFamily="2" charset="2"/>
              </a:rPr>
              <a:t></a:t>
            </a:r>
            <a:endParaRPr lang="es-MX" dirty="0"/>
          </a:p>
        </p:txBody>
      </p:sp>
      <p:sp>
        <p:nvSpPr>
          <p:cNvPr id="8" name="7 Rectángulo"/>
          <p:cNvSpPr/>
          <p:nvPr/>
        </p:nvSpPr>
        <p:spPr>
          <a:xfrm>
            <a:off x="3923928" y="177281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Rombo"/>
          <p:cNvSpPr/>
          <p:nvPr/>
        </p:nvSpPr>
        <p:spPr>
          <a:xfrm>
            <a:off x="5220072" y="1700808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1" name="10 Conector recto"/>
          <p:cNvCxnSpPr>
            <a:stCxn id="8" idx="3"/>
            <a:endCxn id="9" idx="1"/>
          </p:cNvCxnSpPr>
          <p:nvPr/>
        </p:nvCxnSpPr>
        <p:spPr>
          <a:xfrm>
            <a:off x="4838328" y="1952836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Forma"/>
          <p:cNvCxnSpPr>
            <a:stCxn id="9" idx="0"/>
          </p:cNvCxnSpPr>
          <p:nvPr/>
        </p:nvCxnSpPr>
        <p:spPr>
          <a:xfrm rot="16200000" flipV="1">
            <a:off x="4770022" y="926722"/>
            <a:ext cx="288032" cy="12601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4283968" y="141277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Rectángulo"/>
          <p:cNvSpPr/>
          <p:nvPr/>
        </p:nvSpPr>
        <p:spPr>
          <a:xfrm>
            <a:off x="3945632" y="292494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ombo"/>
          <p:cNvSpPr/>
          <p:nvPr/>
        </p:nvSpPr>
        <p:spPr>
          <a:xfrm>
            <a:off x="5241776" y="2852936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7" name="26 Conector recto"/>
          <p:cNvCxnSpPr>
            <a:stCxn id="25" idx="3"/>
            <a:endCxn id="26" idx="1"/>
          </p:cNvCxnSpPr>
          <p:nvPr/>
        </p:nvCxnSpPr>
        <p:spPr>
          <a:xfrm>
            <a:off x="4860032" y="3104964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"/>
          <p:cNvSpPr/>
          <p:nvPr/>
        </p:nvSpPr>
        <p:spPr>
          <a:xfrm>
            <a:off x="6321896" y="292494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2" name="31 Conector recto"/>
          <p:cNvCxnSpPr>
            <a:stCxn id="26" idx="3"/>
            <a:endCxn id="28" idx="1"/>
          </p:cNvCxnSpPr>
          <p:nvPr/>
        </p:nvCxnSpPr>
        <p:spPr>
          <a:xfrm>
            <a:off x="5889848" y="310496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"/>
          <p:cNvSpPr/>
          <p:nvPr/>
        </p:nvSpPr>
        <p:spPr>
          <a:xfrm>
            <a:off x="3923928" y="407707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Rombo"/>
          <p:cNvSpPr/>
          <p:nvPr/>
        </p:nvSpPr>
        <p:spPr>
          <a:xfrm>
            <a:off x="5220072" y="4005064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9" name="38 Conector recto"/>
          <p:cNvCxnSpPr>
            <a:stCxn id="37" idx="3"/>
            <a:endCxn id="38" idx="1"/>
          </p:cNvCxnSpPr>
          <p:nvPr/>
        </p:nvCxnSpPr>
        <p:spPr>
          <a:xfrm>
            <a:off x="4838328" y="4257092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Rectángulo"/>
          <p:cNvSpPr/>
          <p:nvPr/>
        </p:nvSpPr>
        <p:spPr>
          <a:xfrm>
            <a:off x="6300192" y="407707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1" name="40 Conector recto"/>
          <p:cNvCxnSpPr>
            <a:stCxn id="38" idx="3"/>
            <a:endCxn id="40" idx="1"/>
          </p:cNvCxnSpPr>
          <p:nvPr/>
        </p:nvCxnSpPr>
        <p:spPr>
          <a:xfrm>
            <a:off x="5868144" y="425709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41 Rectángulo"/>
          <p:cNvSpPr/>
          <p:nvPr/>
        </p:nvSpPr>
        <p:spPr>
          <a:xfrm>
            <a:off x="3945632" y="537321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42 Rombo"/>
          <p:cNvSpPr/>
          <p:nvPr/>
        </p:nvSpPr>
        <p:spPr>
          <a:xfrm>
            <a:off x="5241776" y="5301208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4" name="43 Conector recto"/>
          <p:cNvCxnSpPr>
            <a:stCxn id="42" idx="3"/>
            <a:endCxn id="43" idx="1"/>
          </p:cNvCxnSpPr>
          <p:nvPr/>
        </p:nvCxnSpPr>
        <p:spPr>
          <a:xfrm>
            <a:off x="4860032" y="5553236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44 Rectángulo"/>
          <p:cNvSpPr/>
          <p:nvPr/>
        </p:nvSpPr>
        <p:spPr>
          <a:xfrm>
            <a:off x="6321896" y="537321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6" name="45 Conector recto"/>
          <p:cNvCxnSpPr>
            <a:stCxn id="43" idx="3"/>
            <a:endCxn id="45" idx="1"/>
          </p:cNvCxnSpPr>
          <p:nvPr/>
        </p:nvCxnSpPr>
        <p:spPr>
          <a:xfrm>
            <a:off x="5889848" y="5553236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Rectángulo"/>
          <p:cNvSpPr/>
          <p:nvPr/>
        </p:nvSpPr>
        <p:spPr>
          <a:xfrm>
            <a:off x="5097760" y="6021288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8" name="47 Rectángulo"/>
          <p:cNvSpPr/>
          <p:nvPr/>
        </p:nvSpPr>
        <p:spPr>
          <a:xfrm>
            <a:off x="5097760" y="472514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2" name="61 Conector recto"/>
          <p:cNvCxnSpPr/>
          <p:nvPr/>
        </p:nvCxnSpPr>
        <p:spPr>
          <a:xfrm>
            <a:off x="5580112" y="501317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5580112" y="57332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61 Conector recto">
            <a:extLst>
              <a:ext uri="{FF2B5EF4-FFF2-40B4-BE49-F238E27FC236}">
                <a16:creationId xmlns:a16="http://schemas.microsoft.com/office/drawing/2014/main" id="{D6B3BEC9-C4A9-4158-A362-F31D6BE10021}"/>
              </a:ext>
            </a:extLst>
          </p:cNvPr>
          <p:cNvCxnSpPr/>
          <p:nvPr/>
        </p:nvCxnSpPr>
        <p:spPr>
          <a:xfrm>
            <a:off x="5508104" y="364502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7 Rectángulo">
            <a:extLst>
              <a:ext uri="{FF2B5EF4-FFF2-40B4-BE49-F238E27FC236}">
                <a16:creationId xmlns:a16="http://schemas.microsoft.com/office/drawing/2014/main" id="{0876ED2D-61E7-4C7B-82A4-1BA25C4A3F72}"/>
              </a:ext>
            </a:extLst>
          </p:cNvPr>
          <p:cNvSpPr/>
          <p:nvPr/>
        </p:nvSpPr>
        <p:spPr>
          <a:xfrm>
            <a:off x="5025752" y="3501008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864096"/>
          </a:xfrm>
        </p:spPr>
        <p:txBody>
          <a:bodyPr>
            <a:normAutofit fontScale="90000"/>
          </a:bodyPr>
          <a:lstStyle/>
          <a:p>
            <a:r>
              <a:rPr lang="es-MX" sz="3200" b="1" u="sng" cap="small" dirty="0"/>
              <a:t>Especificación de Relaciones: Sentido de la Relación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1845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	</a:t>
            </a:r>
          </a:p>
          <a:p>
            <a:pPr>
              <a:buNone/>
            </a:pPr>
            <a:r>
              <a:rPr lang="es-MX" dirty="0"/>
              <a:t>	</a:t>
            </a: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    Unidireccional   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   Bidireccional 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dirty="0"/>
              <a:t>	</a:t>
            </a:r>
          </a:p>
        </p:txBody>
      </p:sp>
      <p:sp>
        <p:nvSpPr>
          <p:cNvPr id="25" name="24 Rectángulo"/>
          <p:cNvSpPr/>
          <p:nvPr/>
        </p:nvSpPr>
        <p:spPr>
          <a:xfrm>
            <a:off x="4305672" y="184482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ombo"/>
          <p:cNvSpPr/>
          <p:nvPr/>
        </p:nvSpPr>
        <p:spPr>
          <a:xfrm>
            <a:off x="5601816" y="1772816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7" name="26 Conector recto"/>
          <p:cNvCxnSpPr>
            <a:stCxn id="25" idx="3"/>
            <a:endCxn id="26" idx="1"/>
          </p:cNvCxnSpPr>
          <p:nvPr/>
        </p:nvCxnSpPr>
        <p:spPr>
          <a:xfrm>
            <a:off x="5220072" y="2024844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"/>
          <p:cNvSpPr/>
          <p:nvPr/>
        </p:nvSpPr>
        <p:spPr>
          <a:xfrm>
            <a:off x="6681936" y="184482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2" name="31 Conector recto"/>
          <p:cNvCxnSpPr>
            <a:stCxn id="26" idx="3"/>
            <a:endCxn id="28" idx="1"/>
          </p:cNvCxnSpPr>
          <p:nvPr/>
        </p:nvCxnSpPr>
        <p:spPr>
          <a:xfrm>
            <a:off x="6249888" y="202484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"/>
          <p:cNvSpPr/>
          <p:nvPr/>
        </p:nvSpPr>
        <p:spPr>
          <a:xfrm>
            <a:off x="4305672" y="4149080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Rombo"/>
          <p:cNvSpPr/>
          <p:nvPr/>
        </p:nvSpPr>
        <p:spPr>
          <a:xfrm>
            <a:off x="5601816" y="4077072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39 Rectángulo"/>
          <p:cNvSpPr/>
          <p:nvPr/>
        </p:nvSpPr>
        <p:spPr>
          <a:xfrm>
            <a:off x="6681936" y="4149080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0" name="29 Conector recto de flecha"/>
          <p:cNvCxnSpPr>
            <a:stCxn id="26" idx="3"/>
            <a:endCxn id="28" idx="1"/>
          </p:cNvCxnSpPr>
          <p:nvPr/>
        </p:nvCxnSpPr>
        <p:spPr>
          <a:xfrm>
            <a:off x="6249888" y="2024844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 de flecha"/>
          <p:cNvCxnSpPr/>
          <p:nvPr/>
        </p:nvCxnSpPr>
        <p:spPr>
          <a:xfrm>
            <a:off x="6228184" y="4365104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 de flecha"/>
          <p:cNvCxnSpPr/>
          <p:nvPr/>
        </p:nvCxnSpPr>
        <p:spPr>
          <a:xfrm flipH="1">
            <a:off x="5220072" y="436510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55 Rectángulo"/>
          <p:cNvSpPr/>
          <p:nvPr/>
        </p:nvSpPr>
        <p:spPr>
          <a:xfrm>
            <a:off x="4305672" y="285293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56 Rombo"/>
          <p:cNvSpPr/>
          <p:nvPr/>
        </p:nvSpPr>
        <p:spPr>
          <a:xfrm>
            <a:off x="5601816" y="2780928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9" name="58 Rectángulo"/>
          <p:cNvSpPr/>
          <p:nvPr/>
        </p:nvSpPr>
        <p:spPr>
          <a:xfrm>
            <a:off x="6681936" y="285293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0" name="59 Conector recto"/>
          <p:cNvCxnSpPr>
            <a:stCxn id="57" idx="3"/>
            <a:endCxn id="59" idx="1"/>
          </p:cNvCxnSpPr>
          <p:nvPr/>
        </p:nvCxnSpPr>
        <p:spPr>
          <a:xfrm>
            <a:off x="6249888" y="3032956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/>
          <p:nvPr/>
        </p:nvCxnSpPr>
        <p:spPr>
          <a:xfrm flipH="1">
            <a:off x="5220072" y="2996952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brir llave 2">
            <a:extLst>
              <a:ext uri="{FF2B5EF4-FFF2-40B4-BE49-F238E27FC236}">
                <a16:creationId xmlns:a16="http://schemas.microsoft.com/office/drawing/2014/main" id="{BC54F115-7C05-4EFA-8852-A96845E99A9D}"/>
              </a:ext>
            </a:extLst>
          </p:cNvPr>
          <p:cNvSpPr/>
          <p:nvPr/>
        </p:nvSpPr>
        <p:spPr>
          <a:xfrm>
            <a:off x="3851920" y="1628800"/>
            <a:ext cx="453752" cy="1800200"/>
          </a:xfrm>
          <a:prstGeom prst="leftBrace">
            <a:avLst/>
          </a:prstGeom>
          <a:noFill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864096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Especificación de Relaciones: </a:t>
            </a:r>
            <a:r>
              <a:rPr lang="es-MX" sz="3200" b="1" u="sng" cap="small" dirty="0" err="1"/>
              <a:t>Cardinalidad</a:t>
            </a:r>
            <a:endParaRPr lang="es-AR" sz="3200" b="1" dirty="0"/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	</a:t>
            </a:r>
          </a:p>
          <a:p>
            <a:pPr>
              <a:buNone/>
            </a:pPr>
            <a:r>
              <a:rPr lang="es-MX" dirty="0"/>
              <a:t>		</a:t>
            </a:r>
            <a:r>
              <a:rPr lang="es-AR" dirty="0"/>
              <a:t>Uno a Uno </a:t>
            </a:r>
            <a:r>
              <a:rPr lang="es-AR" dirty="0">
                <a:sym typeface="Wingdings" pitchFamily="2" charset="2"/>
              </a:rPr>
              <a:t>                  </a:t>
            </a:r>
            <a:r>
              <a:rPr lang="es-AR" sz="1400" b="1" dirty="0">
                <a:sym typeface="Wingdings" pitchFamily="2" charset="2"/>
              </a:rPr>
              <a:t>1                              1</a:t>
            </a:r>
            <a:r>
              <a:rPr lang="es-AR" sz="1000" dirty="0">
                <a:sym typeface="Wingdings" pitchFamily="2" charset="2"/>
              </a:rPr>
              <a:t>                                        </a:t>
            </a:r>
            <a:r>
              <a:rPr lang="es-AR" dirty="0">
                <a:sym typeface="Wingdings" pitchFamily="2" charset="2"/>
              </a:rPr>
              <a:t>	  </a:t>
            </a: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	Uno a Varios                </a:t>
            </a:r>
            <a:r>
              <a:rPr lang="es-MX" sz="1400" b="1" dirty="0">
                <a:sym typeface="Wingdings" pitchFamily="2" charset="2"/>
              </a:rPr>
              <a:t>1                             n</a:t>
            </a:r>
            <a:r>
              <a:rPr lang="es-MX" dirty="0">
                <a:sym typeface="Wingdings" pitchFamily="2" charset="2"/>
              </a:rPr>
              <a:t>    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	Varios a Uno                </a:t>
            </a:r>
            <a:r>
              <a:rPr lang="es-MX" sz="1400" b="1" dirty="0">
                <a:sym typeface="Wingdings" pitchFamily="2" charset="2"/>
              </a:rPr>
              <a:t>n                             1</a:t>
            </a:r>
            <a:r>
              <a:rPr lang="es-MX" sz="1000" b="1" dirty="0">
                <a:sym typeface="Wingdings" pitchFamily="2" charset="2"/>
              </a:rPr>
              <a:t> 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dirty="0"/>
              <a:t>		Varios a Varios</a:t>
            </a:r>
            <a:r>
              <a:rPr lang="es-MX" dirty="0">
                <a:sym typeface="Wingdings" pitchFamily="2" charset="2"/>
              </a:rPr>
              <a:t>             </a:t>
            </a:r>
            <a:r>
              <a:rPr lang="es-MX" sz="1400" b="1" dirty="0">
                <a:sym typeface="Wingdings" pitchFamily="2" charset="2"/>
              </a:rPr>
              <a:t>n                           </a:t>
            </a:r>
            <a:r>
              <a:rPr lang="es-MX" sz="1400" b="1" dirty="0" err="1">
                <a:sym typeface="Wingdings" pitchFamily="2" charset="2"/>
              </a:rPr>
              <a:t>n</a:t>
            </a:r>
            <a:endParaRPr lang="es-MX" sz="1400" dirty="0"/>
          </a:p>
        </p:txBody>
      </p:sp>
      <p:sp>
        <p:nvSpPr>
          <p:cNvPr id="6" name="5 Rectángulo"/>
          <p:cNvSpPr/>
          <p:nvPr/>
        </p:nvSpPr>
        <p:spPr>
          <a:xfrm>
            <a:off x="4449688" y="184482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Rombo"/>
          <p:cNvSpPr/>
          <p:nvPr/>
        </p:nvSpPr>
        <p:spPr>
          <a:xfrm>
            <a:off x="5745832" y="1772816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" name="7 Conector recto"/>
          <p:cNvCxnSpPr>
            <a:stCxn id="6" idx="3"/>
            <a:endCxn id="7" idx="1"/>
          </p:cNvCxnSpPr>
          <p:nvPr/>
        </p:nvCxnSpPr>
        <p:spPr>
          <a:xfrm>
            <a:off x="5364088" y="2024844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"/>
          <p:cNvSpPr/>
          <p:nvPr/>
        </p:nvSpPr>
        <p:spPr>
          <a:xfrm>
            <a:off x="6825952" y="1844824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"/>
          <p:cNvCxnSpPr>
            <a:stCxn id="7" idx="3"/>
            <a:endCxn id="9" idx="1"/>
          </p:cNvCxnSpPr>
          <p:nvPr/>
        </p:nvCxnSpPr>
        <p:spPr>
          <a:xfrm>
            <a:off x="6393904" y="202484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"/>
          <p:cNvSpPr/>
          <p:nvPr/>
        </p:nvSpPr>
        <p:spPr>
          <a:xfrm>
            <a:off x="4449688" y="299695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Rombo"/>
          <p:cNvSpPr/>
          <p:nvPr/>
        </p:nvSpPr>
        <p:spPr>
          <a:xfrm>
            <a:off x="5745832" y="2924944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3" name="12 Conector recto"/>
          <p:cNvCxnSpPr/>
          <p:nvPr/>
        </p:nvCxnSpPr>
        <p:spPr>
          <a:xfrm>
            <a:off x="5364088" y="3214686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"/>
          <p:cNvSpPr/>
          <p:nvPr/>
        </p:nvSpPr>
        <p:spPr>
          <a:xfrm>
            <a:off x="6825952" y="299695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5" name="14 Conector recto"/>
          <p:cNvCxnSpPr/>
          <p:nvPr/>
        </p:nvCxnSpPr>
        <p:spPr>
          <a:xfrm>
            <a:off x="6393904" y="3214686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4449688" y="4149080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ombo"/>
          <p:cNvSpPr/>
          <p:nvPr/>
        </p:nvSpPr>
        <p:spPr>
          <a:xfrm>
            <a:off x="5745832" y="4077072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17 Conector recto"/>
          <p:cNvCxnSpPr/>
          <p:nvPr/>
        </p:nvCxnSpPr>
        <p:spPr>
          <a:xfrm>
            <a:off x="5364088" y="4357694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Rectángulo"/>
          <p:cNvSpPr/>
          <p:nvPr/>
        </p:nvSpPr>
        <p:spPr>
          <a:xfrm>
            <a:off x="6825952" y="4149080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recto"/>
          <p:cNvCxnSpPr/>
          <p:nvPr/>
        </p:nvCxnSpPr>
        <p:spPr>
          <a:xfrm>
            <a:off x="6393904" y="435769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Rectángulo"/>
          <p:cNvSpPr/>
          <p:nvPr/>
        </p:nvSpPr>
        <p:spPr>
          <a:xfrm>
            <a:off x="4449688" y="537321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Rombo"/>
          <p:cNvSpPr/>
          <p:nvPr/>
        </p:nvSpPr>
        <p:spPr>
          <a:xfrm>
            <a:off x="5745832" y="5301208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3" name="22 Conector recto"/>
          <p:cNvCxnSpPr>
            <a:stCxn id="21" idx="3"/>
            <a:endCxn id="22" idx="1"/>
          </p:cNvCxnSpPr>
          <p:nvPr/>
        </p:nvCxnSpPr>
        <p:spPr>
          <a:xfrm>
            <a:off x="5364088" y="5553236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Rectángulo"/>
          <p:cNvSpPr/>
          <p:nvPr/>
        </p:nvSpPr>
        <p:spPr>
          <a:xfrm>
            <a:off x="6825952" y="5373216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5" name="24 Conector recto"/>
          <p:cNvCxnSpPr>
            <a:stCxn id="22" idx="3"/>
            <a:endCxn id="24" idx="1"/>
          </p:cNvCxnSpPr>
          <p:nvPr/>
        </p:nvCxnSpPr>
        <p:spPr>
          <a:xfrm>
            <a:off x="6393904" y="5553236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864096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Especificación de Relaciones: Condicionalidad</a:t>
            </a:r>
            <a:endParaRPr lang="es-AR" sz="3200" b="1" dirty="0"/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	</a:t>
            </a:r>
          </a:p>
          <a:p>
            <a:pPr>
              <a:buNone/>
            </a:pPr>
            <a:r>
              <a:rPr lang="es-MX" dirty="0"/>
              <a:t>	Relación </a:t>
            </a:r>
            <a:r>
              <a:rPr lang="es-AR" dirty="0"/>
              <a:t>Obligatoria </a:t>
            </a:r>
            <a:r>
              <a:rPr lang="es-AR" dirty="0">
                <a:sym typeface="Wingdings" pitchFamily="2" charset="2"/>
              </a:rPr>
              <a:t>                  </a:t>
            </a:r>
            <a:r>
              <a:rPr lang="es-AR" sz="1400" b="1" dirty="0">
                <a:sym typeface="Wingdings" pitchFamily="2" charset="2"/>
              </a:rPr>
              <a:t>1                              1</a:t>
            </a:r>
            <a:r>
              <a:rPr lang="es-AR" sz="1000" dirty="0">
                <a:sym typeface="Wingdings" pitchFamily="2" charset="2"/>
              </a:rPr>
              <a:t>                                        </a:t>
            </a:r>
            <a:r>
              <a:rPr lang="es-AR" dirty="0">
                <a:sym typeface="Wingdings" pitchFamily="2" charset="2"/>
              </a:rPr>
              <a:t>	  </a:t>
            </a:r>
            <a:r>
              <a:rPr lang="es-MX" dirty="0">
                <a:sym typeface="Wingdings" pitchFamily="2" charset="2"/>
              </a:rPr>
              <a:t>  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Relación Opcional                              </a:t>
            </a:r>
            <a:r>
              <a:rPr lang="es-MX" sz="1200" dirty="0">
                <a:sym typeface="Wingdings" pitchFamily="2" charset="2"/>
              </a:rPr>
              <a:t>(O)</a:t>
            </a:r>
            <a:endParaRPr lang="es-MX" sz="1200" b="1" dirty="0">
              <a:sym typeface="Wingdings" pitchFamily="2" charset="2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953744" y="191683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Rombo"/>
          <p:cNvSpPr/>
          <p:nvPr/>
        </p:nvSpPr>
        <p:spPr>
          <a:xfrm>
            <a:off x="6249888" y="1844824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" name="7 Conector recto"/>
          <p:cNvCxnSpPr>
            <a:stCxn id="6" idx="3"/>
            <a:endCxn id="7" idx="1"/>
          </p:cNvCxnSpPr>
          <p:nvPr/>
        </p:nvCxnSpPr>
        <p:spPr>
          <a:xfrm>
            <a:off x="5868144" y="2096852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"/>
          <p:cNvSpPr/>
          <p:nvPr/>
        </p:nvSpPr>
        <p:spPr>
          <a:xfrm>
            <a:off x="7330008" y="191683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"/>
          <p:cNvCxnSpPr>
            <a:stCxn id="7" idx="3"/>
            <a:endCxn id="9" idx="1"/>
          </p:cNvCxnSpPr>
          <p:nvPr/>
        </p:nvCxnSpPr>
        <p:spPr>
          <a:xfrm>
            <a:off x="6897960" y="209685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"/>
          <p:cNvSpPr/>
          <p:nvPr/>
        </p:nvSpPr>
        <p:spPr>
          <a:xfrm>
            <a:off x="4953744" y="371703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Rombo"/>
          <p:cNvSpPr/>
          <p:nvPr/>
        </p:nvSpPr>
        <p:spPr>
          <a:xfrm>
            <a:off x="6249888" y="3645024"/>
            <a:ext cx="648072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3" name="12 Conector recto"/>
          <p:cNvCxnSpPr>
            <a:stCxn id="11" idx="3"/>
            <a:endCxn id="12" idx="1"/>
          </p:cNvCxnSpPr>
          <p:nvPr/>
        </p:nvCxnSpPr>
        <p:spPr>
          <a:xfrm>
            <a:off x="5868144" y="3897052"/>
            <a:ext cx="381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"/>
          <p:cNvSpPr/>
          <p:nvPr/>
        </p:nvSpPr>
        <p:spPr>
          <a:xfrm>
            <a:off x="7330008" y="3717032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5" name="14 Conector recto"/>
          <p:cNvCxnSpPr>
            <a:stCxn id="12" idx="3"/>
            <a:endCxn id="14" idx="1"/>
          </p:cNvCxnSpPr>
          <p:nvPr/>
        </p:nvCxnSpPr>
        <p:spPr>
          <a:xfrm>
            <a:off x="6897960" y="389705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Atributos: Concepto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179512" y="1417638"/>
            <a:ext cx="8784976" cy="470852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dirty="0"/>
              <a:t> 	Constituyen la representación </a:t>
            </a:r>
          </a:p>
          <a:p>
            <a:pPr algn="ctr">
              <a:buNone/>
            </a:pPr>
            <a:r>
              <a:rPr lang="es-MX" dirty="0"/>
              <a:t>de las propiedades/cualidades</a:t>
            </a:r>
          </a:p>
          <a:p>
            <a:pPr algn="ctr">
              <a:buNone/>
            </a:pPr>
            <a:r>
              <a:rPr lang="es-MX" dirty="0"/>
              <a:t>reconocidas a las entidades</a:t>
            </a:r>
          </a:p>
          <a:p>
            <a:pPr algn="ctr">
              <a:buNone/>
            </a:pPr>
            <a:r>
              <a:rPr lang="es-MX" dirty="0"/>
              <a:t> seleccionadas para el modelo de datos.  </a:t>
            </a:r>
          </a:p>
          <a:p>
            <a:pPr algn="ctr">
              <a:buNone/>
            </a:pPr>
            <a:r>
              <a:rPr lang="es-MX" dirty="0"/>
              <a:t>.  		</a:t>
            </a:r>
            <a:endParaRPr lang="es-A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629816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Clasificación de Atributos</a:t>
            </a:r>
            <a:endParaRPr kumimoji="0" lang="es-A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s-MX" sz="2800" b="1" dirty="0">
                <a:sym typeface="Wingdings" pitchFamily="2" charset="2"/>
              </a:rPr>
              <a:t>Identificadores</a:t>
            </a:r>
            <a:r>
              <a:rPr lang="es-MX" sz="2800" dirty="0">
                <a:sym typeface="Wingdings" pitchFamily="2" charset="2"/>
              </a:rPr>
              <a:t>: Atributos que permiten reconocer, referenciar y diferenciar a las instancias de las entidades de un modelo de datos. </a:t>
            </a:r>
            <a:r>
              <a:rPr kumimoji="0" lang="es-MX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2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Descriptivos</a:t>
            </a:r>
            <a:r>
              <a:rPr kumimoji="0" lang="es-MX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Atributos que permiten caracterizar a las entidades de un modelo de datos.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5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s-AR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629816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Claves</a:t>
            </a:r>
            <a:endParaRPr kumimoji="0" lang="es-A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1600200"/>
            <a:ext cx="8229600" cy="384502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4000" noProof="0" dirty="0"/>
              <a:t>Se denomina clave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4000" noProof="0" dirty="0"/>
              <a:t>a un identificador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4000" noProof="0" dirty="0"/>
              <a:t>o conjunto de identificadores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4000" noProof="0" dirty="0"/>
              <a:t>utilizado como referencia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4000" noProof="0" dirty="0"/>
              <a:t> de una entidad.  </a:t>
            </a:r>
            <a:endParaRPr kumimoji="0" lang="es-MX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s-AR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77383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Clasificación de claves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800" b="1" u="sng" cap="small" baseline="0" dirty="0">
                <a:latin typeface="+mj-lt"/>
                <a:ea typeface="+mj-ea"/>
                <a:cs typeface="+mj-cs"/>
              </a:rPr>
              <a:t>Según la cantidad de identificadores componentes</a:t>
            </a:r>
            <a:endParaRPr kumimoji="0" lang="es-AR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2027981"/>
            <a:ext cx="8229600" cy="42813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3200" b="1" noProof="0" dirty="0"/>
              <a:t>Clave Simple</a:t>
            </a:r>
            <a:r>
              <a:rPr lang="es-MX" sz="3200" noProof="0" dirty="0"/>
              <a:t>: Compuesta por un solo atributo identificador.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MX" sz="32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3200" b="1" noProof="0" dirty="0"/>
              <a:t>Clave Compuesta</a:t>
            </a:r>
            <a:r>
              <a:rPr lang="es-MX" sz="3200" noProof="0" dirty="0"/>
              <a:t>: Compuesta por dos o más atributos identificadores </a:t>
            </a: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s-AR" sz="5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77383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Clasificación de claves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800" b="1" u="sng" cap="small" baseline="0" dirty="0">
                <a:latin typeface="+mj-lt"/>
                <a:ea typeface="+mj-ea"/>
                <a:cs typeface="+mj-cs"/>
              </a:rPr>
              <a:t>Según la capacidad de identificación </a:t>
            </a:r>
            <a:endParaRPr kumimoji="0" lang="es-AR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2027981"/>
            <a:ext cx="8229600" cy="42813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3200" b="1" noProof="0" dirty="0"/>
              <a:t>Claves Primarias</a:t>
            </a:r>
            <a:r>
              <a:rPr lang="es-MX" sz="3200" noProof="0" dirty="0"/>
              <a:t>: Claves que identifican unívocamente a las instancias de una entidad.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MX" sz="32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3200" b="1" noProof="0" dirty="0"/>
              <a:t>Claves Secundarias</a:t>
            </a:r>
            <a:r>
              <a:rPr lang="es-MX" sz="3200" noProof="0" dirty="0"/>
              <a:t>: Claves que identifican a un grupo de instancias de una entidad.  </a:t>
            </a: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457200" y="77383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sng" strike="noStrike" kern="1200" cap="small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Clasificación de claves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800" b="1" u="sng" cap="small" baseline="0" dirty="0">
                <a:latin typeface="+mj-lt"/>
                <a:ea typeface="+mj-ea"/>
                <a:cs typeface="+mj-cs"/>
              </a:rPr>
              <a:t>Según la funcionalidad</a:t>
            </a:r>
            <a:r>
              <a:rPr lang="es-MX" sz="2800" b="1" u="sng" cap="small" dirty="0">
                <a:latin typeface="+mj-lt"/>
                <a:ea typeface="+mj-ea"/>
                <a:cs typeface="+mj-cs"/>
              </a:rPr>
              <a:t> escogida</a:t>
            </a:r>
            <a:r>
              <a:rPr lang="es-MX" sz="2800" b="1" u="sng" cap="small" baseline="0" dirty="0">
                <a:latin typeface="+mj-lt"/>
                <a:ea typeface="+mj-ea"/>
                <a:cs typeface="+mj-cs"/>
              </a:rPr>
              <a:t> </a:t>
            </a:r>
            <a:endParaRPr kumimoji="0" lang="es-AR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457200" y="2027981"/>
            <a:ext cx="8229600" cy="42813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3200" b="1" noProof="0" dirty="0"/>
              <a:t>Clave Principal</a:t>
            </a:r>
            <a:r>
              <a:rPr lang="es-MX" sz="3200" noProof="0" dirty="0"/>
              <a:t>: Clave primaria seleccionada para la identificación de una entidad.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s-MX" sz="3200" dirty="0"/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3200" b="1" noProof="0" dirty="0"/>
              <a:t>Claves Alternativas</a:t>
            </a:r>
            <a:r>
              <a:rPr lang="es-MX" sz="3200" noProof="0" dirty="0"/>
              <a:t>: Clave/s primaria/s sustituta/s de la clave principal.  </a:t>
            </a: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26 Conector recto"/>
          <p:cNvCxnSpPr>
            <a:stCxn id="40" idx="6"/>
          </p:cNvCxnSpPr>
          <p:nvPr/>
        </p:nvCxnSpPr>
        <p:spPr>
          <a:xfrm>
            <a:off x="4355976" y="3253172"/>
            <a:ext cx="864096" cy="535868"/>
          </a:xfrm>
          <a:prstGeom prst="line">
            <a:avLst/>
          </a:prstGeom>
          <a:ln w="508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864096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Especificación de Atributos: Funcionalidad</a:t>
            </a:r>
            <a:endParaRPr lang="es-AR" sz="3200" b="1" dirty="0"/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611560" y="2276872"/>
            <a:ext cx="7848872" cy="28803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1800" b="1" dirty="0"/>
              <a:t>                                                            Identificadores           Descriptores</a:t>
            </a:r>
          </a:p>
          <a:p>
            <a:pPr>
              <a:buNone/>
            </a:pPr>
            <a:r>
              <a:rPr lang="es-MX" sz="1800" b="1" dirty="0"/>
              <a:t>        Clave Alternativa (Compuesta)</a:t>
            </a:r>
          </a:p>
          <a:p>
            <a:pPr>
              <a:buNone/>
            </a:pPr>
            <a:r>
              <a:rPr lang="es-MX" sz="1800" b="1" dirty="0"/>
              <a:t>               Clave Principal (Simple)</a:t>
            </a:r>
          </a:p>
          <a:p>
            <a:pPr>
              <a:buNone/>
            </a:pPr>
            <a:endParaRPr lang="es-MX" sz="1800" b="1" dirty="0"/>
          </a:p>
          <a:p>
            <a:pPr>
              <a:buNone/>
            </a:pPr>
            <a:r>
              <a:rPr lang="es-MX" sz="1800" b="1" dirty="0"/>
              <a:t>			</a:t>
            </a:r>
          </a:p>
          <a:p>
            <a:pPr>
              <a:buNone/>
            </a:pPr>
            <a:endParaRPr lang="es-MX" sz="1200" b="1" dirty="0">
              <a:sym typeface="Wingdings" pitchFamily="2" charset="2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076056" y="3789040"/>
            <a:ext cx="914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3851920" y="3149352"/>
            <a:ext cx="432048" cy="2160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4788024" y="2708920"/>
            <a:ext cx="432048" cy="2160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4283968" y="2708920"/>
            <a:ext cx="432048" cy="2160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Elipse"/>
          <p:cNvSpPr/>
          <p:nvPr/>
        </p:nvSpPr>
        <p:spPr>
          <a:xfrm>
            <a:off x="5436096" y="2708920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Elipse"/>
          <p:cNvSpPr/>
          <p:nvPr/>
        </p:nvSpPr>
        <p:spPr>
          <a:xfrm>
            <a:off x="5940152" y="2708920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Elipse"/>
          <p:cNvSpPr/>
          <p:nvPr/>
        </p:nvSpPr>
        <p:spPr>
          <a:xfrm>
            <a:off x="6444208" y="2708920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Elipse"/>
          <p:cNvSpPr/>
          <p:nvPr/>
        </p:nvSpPr>
        <p:spPr>
          <a:xfrm>
            <a:off x="6948264" y="2708920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Elipse"/>
          <p:cNvSpPr/>
          <p:nvPr/>
        </p:nvSpPr>
        <p:spPr>
          <a:xfrm>
            <a:off x="4139952" y="2636912"/>
            <a:ext cx="1224136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9" name="28 Conector recto"/>
          <p:cNvCxnSpPr>
            <a:stCxn id="25" idx="4"/>
          </p:cNvCxnSpPr>
          <p:nvPr/>
        </p:nvCxnSpPr>
        <p:spPr>
          <a:xfrm>
            <a:off x="4752020" y="2996952"/>
            <a:ext cx="684076" cy="7920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>
            <a:stCxn id="19" idx="4"/>
            <a:endCxn id="6" idx="0"/>
          </p:cNvCxnSpPr>
          <p:nvPr/>
        </p:nvCxnSpPr>
        <p:spPr>
          <a:xfrm flipH="1">
            <a:off x="5533256" y="2924944"/>
            <a:ext cx="118864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>
            <a:stCxn id="20" idx="4"/>
          </p:cNvCxnSpPr>
          <p:nvPr/>
        </p:nvCxnSpPr>
        <p:spPr>
          <a:xfrm flipH="1">
            <a:off x="5724128" y="2924944"/>
            <a:ext cx="432048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>
            <a:stCxn id="21" idx="4"/>
          </p:cNvCxnSpPr>
          <p:nvPr/>
        </p:nvCxnSpPr>
        <p:spPr>
          <a:xfrm flipH="1">
            <a:off x="5796136" y="2924944"/>
            <a:ext cx="864096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>
            <a:stCxn id="22" idx="4"/>
          </p:cNvCxnSpPr>
          <p:nvPr/>
        </p:nvCxnSpPr>
        <p:spPr>
          <a:xfrm flipH="1">
            <a:off x="5940152" y="2924944"/>
            <a:ext cx="1224136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Elipse"/>
          <p:cNvSpPr/>
          <p:nvPr/>
        </p:nvSpPr>
        <p:spPr>
          <a:xfrm>
            <a:off x="3771528" y="3077344"/>
            <a:ext cx="584448" cy="351656"/>
          </a:xfrm>
          <a:prstGeom prst="ellipse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80120"/>
          </a:xfrm>
        </p:spPr>
        <p:txBody>
          <a:bodyPr>
            <a:normAutofit fontScale="90000"/>
          </a:bodyPr>
          <a:lstStyle/>
          <a:p>
            <a:r>
              <a:rPr lang="es-MX" sz="3200" b="1" u="sng" cap="small" dirty="0"/>
              <a:t>Extensiones del DER</a:t>
            </a:r>
            <a:br>
              <a:rPr lang="es-MX" sz="3200" b="1" u="sng" cap="small" dirty="0"/>
            </a:br>
            <a:r>
              <a:rPr lang="es-MX" sz="3200" b="1" u="sng" cap="small" dirty="0"/>
              <a:t>Elementos Especiales – Simbología Complementaria </a:t>
            </a:r>
            <a:endParaRPr lang="es-AR" sz="32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MX" sz="2800" dirty="0">
              <a:sym typeface="Wingdings" pitchFamily="2" charset="2"/>
            </a:endParaRPr>
          </a:p>
          <a:p>
            <a:pPr>
              <a:buNone/>
            </a:pPr>
            <a:endParaRPr lang="es-MX" sz="2800" dirty="0">
              <a:sym typeface="Wingdings" pitchFamily="2" charset="2"/>
            </a:endParaRPr>
          </a:p>
          <a:p>
            <a:pPr>
              <a:buNone/>
            </a:pPr>
            <a:r>
              <a:rPr lang="es-MX" sz="2800" dirty="0">
                <a:sym typeface="Wingdings" pitchFamily="2" charset="2"/>
              </a:rPr>
              <a:t>Objeto </a:t>
            </a:r>
          </a:p>
          <a:p>
            <a:pPr>
              <a:buNone/>
            </a:pPr>
            <a:r>
              <a:rPr lang="es-MX" sz="2800" dirty="0">
                <a:sym typeface="Wingdings" pitchFamily="2" charset="2"/>
              </a:rPr>
              <a:t>Asociativo </a:t>
            </a:r>
            <a:endParaRPr lang="es-AR" dirty="0"/>
          </a:p>
        </p:txBody>
      </p:sp>
      <p:sp>
        <p:nvSpPr>
          <p:cNvPr id="7" name="6 Rectángulo"/>
          <p:cNvSpPr/>
          <p:nvPr/>
        </p:nvSpPr>
        <p:spPr>
          <a:xfrm>
            <a:off x="2699792" y="3573016"/>
            <a:ext cx="2136237" cy="864096"/>
          </a:xfrm>
          <a:prstGeom prst="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/>
              <a:t>Nombre de </a:t>
            </a:r>
          </a:p>
          <a:p>
            <a:pPr algn="ctr"/>
            <a:r>
              <a:rPr lang="es-MX" sz="2000" dirty="0"/>
              <a:t>Objeto Asociativo</a:t>
            </a:r>
            <a:endParaRPr lang="es-AR" sz="2000" dirty="0"/>
          </a:p>
        </p:txBody>
      </p:sp>
      <p:sp>
        <p:nvSpPr>
          <p:cNvPr id="8" name="7 Rombo"/>
          <p:cNvSpPr/>
          <p:nvPr/>
        </p:nvSpPr>
        <p:spPr>
          <a:xfrm>
            <a:off x="6372200" y="3501008"/>
            <a:ext cx="1512168" cy="1008112"/>
          </a:xfrm>
          <a:prstGeom prst="diamond">
            <a:avLst/>
          </a:prstGeom>
          <a:ln w="3175"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0" name="9 Conector recto de flecha"/>
          <p:cNvCxnSpPr>
            <a:stCxn id="7" idx="3"/>
            <a:endCxn id="8" idx="1"/>
          </p:cNvCxnSpPr>
          <p:nvPr/>
        </p:nvCxnSpPr>
        <p:spPr>
          <a:xfrm>
            <a:off x="4836029" y="4005064"/>
            <a:ext cx="1536171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Elipse"/>
          <p:cNvSpPr/>
          <p:nvPr/>
        </p:nvSpPr>
        <p:spPr>
          <a:xfrm>
            <a:off x="2339752" y="2420888"/>
            <a:ext cx="792088" cy="36004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3347864" y="2420888"/>
            <a:ext cx="792088" cy="36004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4355976" y="2420888"/>
            <a:ext cx="792088" cy="36004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recto"/>
          <p:cNvCxnSpPr>
            <a:stCxn id="16" idx="4"/>
          </p:cNvCxnSpPr>
          <p:nvPr/>
        </p:nvCxnSpPr>
        <p:spPr>
          <a:xfrm>
            <a:off x="2735796" y="2780928"/>
            <a:ext cx="396044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stCxn id="17" idx="4"/>
            <a:endCxn id="7" idx="0"/>
          </p:cNvCxnSpPr>
          <p:nvPr/>
        </p:nvCxnSpPr>
        <p:spPr>
          <a:xfrm>
            <a:off x="3743908" y="2780928"/>
            <a:ext cx="24003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>
            <a:stCxn id="18" idx="4"/>
          </p:cNvCxnSpPr>
          <p:nvPr/>
        </p:nvCxnSpPr>
        <p:spPr>
          <a:xfrm flipH="1">
            <a:off x="4427984" y="2780928"/>
            <a:ext cx="324036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7217D2FE-FB6C-4933-8BC3-C2772C889E89}"/>
              </a:ext>
            </a:extLst>
          </p:cNvPr>
          <p:cNvSpPr/>
          <p:nvPr/>
        </p:nvSpPr>
        <p:spPr>
          <a:xfrm>
            <a:off x="6084168" y="2108292"/>
            <a:ext cx="2088232" cy="792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Nombre </a:t>
            </a:r>
          </a:p>
          <a:p>
            <a:pPr algn="ctr"/>
            <a:r>
              <a:rPr lang="es-AR" dirty="0">
                <a:solidFill>
                  <a:schemeClr val="tx1"/>
                </a:solidFill>
              </a:rPr>
              <a:t>Entidad A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659DAB92-F49C-48F7-9102-A18584943282}"/>
              </a:ext>
            </a:extLst>
          </p:cNvPr>
          <p:cNvSpPr/>
          <p:nvPr/>
        </p:nvSpPr>
        <p:spPr>
          <a:xfrm>
            <a:off x="2051720" y="3212976"/>
            <a:ext cx="25202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6343027-ED87-46F2-B754-979D6AACA4E3}"/>
              </a:ext>
            </a:extLst>
          </p:cNvPr>
          <p:cNvSpPr/>
          <p:nvPr/>
        </p:nvSpPr>
        <p:spPr>
          <a:xfrm>
            <a:off x="6084168" y="5229200"/>
            <a:ext cx="2088232" cy="792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Nombre</a:t>
            </a:r>
          </a:p>
          <a:p>
            <a:pPr algn="ctr"/>
            <a:r>
              <a:rPr lang="es-AR" dirty="0">
                <a:solidFill>
                  <a:schemeClr val="tx1"/>
                </a:solidFill>
              </a:rPr>
              <a:t>Entidad B</a:t>
            </a:r>
          </a:p>
        </p:txBody>
      </p:sp>
      <p:sp>
        <p:nvSpPr>
          <p:cNvPr id="32" name="16 Elipse">
            <a:extLst>
              <a:ext uri="{FF2B5EF4-FFF2-40B4-BE49-F238E27FC236}">
                <a16:creationId xmlns:a16="http://schemas.microsoft.com/office/drawing/2014/main" id="{9953B1C2-843E-4348-8ECF-783D97052D6B}"/>
              </a:ext>
            </a:extLst>
          </p:cNvPr>
          <p:cNvSpPr/>
          <p:nvPr/>
        </p:nvSpPr>
        <p:spPr>
          <a:xfrm>
            <a:off x="6156176" y="1412776"/>
            <a:ext cx="792088" cy="36004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17 Elipse">
            <a:extLst>
              <a:ext uri="{FF2B5EF4-FFF2-40B4-BE49-F238E27FC236}">
                <a16:creationId xmlns:a16="http://schemas.microsoft.com/office/drawing/2014/main" id="{47A5E726-2D69-4236-9322-F7FF506E5C3F}"/>
              </a:ext>
            </a:extLst>
          </p:cNvPr>
          <p:cNvSpPr/>
          <p:nvPr/>
        </p:nvSpPr>
        <p:spPr>
          <a:xfrm>
            <a:off x="7164288" y="1412776"/>
            <a:ext cx="792088" cy="36004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4" name="23 Conector recto">
            <a:extLst>
              <a:ext uri="{FF2B5EF4-FFF2-40B4-BE49-F238E27FC236}">
                <a16:creationId xmlns:a16="http://schemas.microsoft.com/office/drawing/2014/main" id="{64F6EF0B-5B52-4955-8ACE-151970CF84E5}"/>
              </a:ext>
            </a:extLst>
          </p:cNvPr>
          <p:cNvCxnSpPr>
            <a:cxnSpLocks/>
            <a:stCxn id="33" idx="4"/>
          </p:cNvCxnSpPr>
          <p:nvPr/>
        </p:nvCxnSpPr>
        <p:spPr>
          <a:xfrm flipH="1">
            <a:off x="7380312" y="1772816"/>
            <a:ext cx="180020" cy="327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21 Conector recto">
            <a:extLst>
              <a:ext uri="{FF2B5EF4-FFF2-40B4-BE49-F238E27FC236}">
                <a16:creationId xmlns:a16="http://schemas.microsoft.com/office/drawing/2014/main" id="{3AEE56BF-CA74-4150-87DB-93DBE89EF87F}"/>
              </a:ext>
            </a:extLst>
          </p:cNvPr>
          <p:cNvCxnSpPr>
            <a:cxnSpLocks/>
          </p:cNvCxnSpPr>
          <p:nvPr/>
        </p:nvCxnSpPr>
        <p:spPr>
          <a:xfrm>
            <a:off x="6625885" y="1773070"/>
            <a:ext cx="76352" cy="326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16 Elipse">
            <a:extLst>
              <a:ext uri="{FF2B5EF4-FFF2-40B4-BE49-F238E27FC236}">
                <a16:creationId xmlns:a16="http://schemas.microsoft.com/office/drawing/2014/main" id="{9B92531D-8A16-4781-B59B-823030785EE8}"/>
              </a:ext>
            </a:extLst>
          </p:cNvPr>
          <p:cNvSpPr/>
          <p:nvPr/>
        </p:nvSpPr>
        <p:spPr>
          <a:xfrm>
            <a:off x="6012160" y="4542068"/>
            <a:ext cx="792088" cy="36004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0" name="21 Conector recto">
            <a:extLst>
              <a:ext uri="{FF2B5EF4-FFF2-40B4-BE49-F238E27FC236}">
                <a16:creationId xmlns:a16="http://schemas.microsoft.com/office/drawing/2014/main" id="{5E251768-4041-4BB6-8ACB-77C878C82A7F}"/>
              </a:ext>
            </a:extLst>
          </p:cNvPr>
          <p:cNvCxnSpPr>
            <a:cxnSpLocks/>
          </p:cNvCxnSpPr>
          <p:nvPr/>
        </p:nvCxnSpPr>
        <p:spPr>
          <a:xfrm>
            <a:off x="6481869" y="4902362"/>
            <a:ext cx="76352" cy="326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17 Elipse">
            <a:extLst>
              <a:ext uri="{FF2B5EF4-FFF2-40B4-BE49-F238E27FC236}">
                <a16:creationId xmlns:a16="http://schemas.microsoft.com/office/drawing/2014/main" id="{8F41095C-6400-4ED9-A8DF-28E7FDFE0A17}"/>
              </a:ext>
            </a:extLst>
          </p:cNvPr>
          <p:cNvSpPr/>
          <p:nvPr/>
        </p:nvSpPr>
        <p:spPr>
          <a:xfrm>
            <a:off x="7452320" y="4509120"/>
            <a:ext cx="792088" cy="360040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23 Conector recto">
            <a:extLst>
              <a:ext uri="{FF2B5EF4-FFF2-40B4-BE49-F238E27FC236}">
                <a16:creationId xmlns:a16="http://schemas.microsoft.com/office/drawing/2014/main" id="{A6515141-C082-43FD-9456-7E401B89FBF5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7668344" y="4869160"/>
            <a:ext cx="180020" cy="327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D6D7A96-EC24-4001-BF8A-A41B89315C89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7128284" y="2900380"/>
            <a:ext cx="0" cy="600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BE365A3-CA6A-4695-BA5F-B68423D2D44B}"/>
              </a:ext>
            </a:extLst>
          </p:cNvPr>
          <p:cNvCxnSpPr>
            <a:stCxn id="8" idx="2"/>
            <a:endCxn id="27" idx="0"/>
          </p:cNvCxnSpPr>
          <p:nvPr/>
        </p:nvCxnSpPr>
        <p:spPr>
          <a:xfrm>
            <a:off x="7128284" y="4509120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92088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Objetos asociativos: Concepto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4713387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dirty="0"/>
              <a:t>Constituyen la representación </a:t>
            </a:r>
          </a:p>
          <a:p>
            <a:pPr algn="ctr">
              <a:buNone/>
            </a:pPr>
            <a:r>
              <a:rPr lang="es-MX" dirty="0"/>
              <a:t>de relaciones de entidades asociadas conceptualmente, cuando éstas son portadoras de información para el usuario.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s-MX" sz="3200" b="1" u="sng" cap="small" dirty="0"/>
              <a:t>Objetos asociativos: Características</a:t>
            </a:r>
            <a:endParaRPr lang="es-AR" sz="3200" b="1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400600"/>
          </a:xfrm>
        </p:spPr>
        <p:txBody>
          <a:bodyPr>
            <a:normAutofit fontScale="70000" lnSpcReduction="20000"/>
          </a:bodyPr>
          <a:lstStyle/>
          <a:p>
            <a:pPr algn="ctr">
              <a:buFont typeface="Wingdings" pitchFamily="2" charset="2"/>
              <a:buChar char="Ø"/>
            </a:pPr>
            <a:r>
              <a:rPr lang="es-MX" dirty="0"/>
              <a:t>Son representaciones derivadas del accionar de las entidades involucradas en una relación.</a:t>
            </a:r>
          </a:p>
          <a:p>
            <a:pPr algn="ctr">
              <a:buFont typeface="Wingdings" pitchFamily="2" charset="2"/>
              <a:buChar char="Ø"/>
            </a:pPr>
            <a:r>
              <a:rPr lang="es-MX" dirty="0"/>
              <a:t>Carecen de identidad propia; se identifican mediante las claves de las entidades participantes de la relación.</a:t>
            </a:r>
          </a:p>
          <a:p>
            <a:pPr algn="ctr">
              <a:buFont typeface="Wingdings" pitchFamily="2" charset="2"/>
              <a:buChar char="Ø"/>
            </a:pPr>
            <a:r>
              <a:rPr lang="es-MX" dirty="0"/>
              <a:t> Poseen atributos.</a:t>
            </a:r>
          </a:p>
          <a:p>
            <a:pPr algn="ctr">
              <a:buFont typeface="Wingdings" pitchFamily="2" charset="2"/>
              <a:buChar char="Ø"/>
            </a:pPr>
            <a:r>
              <a:rPr lang="es-MX" dirty="0"/>
              <a:t>Normalmente describen resultados referidos a eventos  y/o roles. </a:t>
            </a:r>
          </a:p>
          <a:p>
            <a:pPr algn="ctr">
              <a:buFont typeface="Wingdings" pitchFamily="2" charset="2"/>
              <a:buChar char="Ø"/>
            </a:pPr>
            <a:r>
              <a:rPr lang="es-MX" dirty="0"/>
              <a:t>El contenido de sus atributos tienen validez por un periodo determinado, representado en estos casos, mediante alguna de las entidades participantes de la relación y que indica la unidad de tiempo seleccionada.</a:t>
            </a:r>
          </a:p>
          <a:p>
            <a:pPr algn="ctr">
              <a:buFont typeface="Wingdings" pitchFamily="2" charset="2"/>
              <a:buChar char="Ø"/>
            </a:pPr>
            <a:r>
              <a:rPr lang="es-MX" dirty="0"/>
              <a:t>Sus atributos son comunes a todas las entidades participantes de la relación en cuestión.</a:t>
            </a:r>
          </a:p>
          <a:p>
            <a:pPr algn="ctr">
              <a:buFont typeface="Wingdings" pitchFamily="2" charset="2"/>
              <a:buChar char="Ø"/>
            </a:pPr>
            <a:r>
              <a:rPr lang="es-MX" dirty="0"/>
              <a:t>Se trata de elementos híbridos: No son enteramente entidades ni relaciones, pero sí una combinación de ambos elementos.</a:t>
            </a:r>
          </a:p>
          <a:p>
            <a:pPr algn="ctr">
              <a:buFont typeface="Wingdings" pitchFamily="2" charset="2"/>
              <a:buChar char="Ø"/>
            </a:pPr>
            <a:r>
              <a:rPr lang="es-MX" dirty="0"/>
              <a:t>Aproximadamente, los objetos asociativos representan el 5 % de la totalidad  de las entidades del modelo de datos.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864096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Operaciones sobre atributos de una entidad</a:t>
            </a:r>
            <a:endParaRPr lang="es-AR" sz="3200" b="1" u="sng" cap="small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4644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AR" dirty="0"/>
              <a:t>Agregación:  Anexión de datos a una entidad. </a:t>
            </a:r>
          </a:p>
          <a:p>
            <a:pPr>
              <a:buNone/>
            </a:pPr>
            <a:endParaRPr lang="es-AR" dirty="0"/>
          </a:p>
          <a:p>
            <a:pPr>
              <a:buNone/>
            </a:pPr>
            <a:endParaRPr lang="es-AR" dirty="0"/>
          </a:p>
          <a:p>
            <a:pPr>
              <a:buNone/>
            </a:pPr>
            <a:r>
              <a:rPr lang="es-AR" sz="2000" dirty="0"/>
              <a:t>			     Datos originales           Datos Complementarios</a:t>
            </a:r>
            <a:r>
              <a:rPr lang="es-AR" sz="2000" dirty="0">
                <a:sym typeface="Wingdings" pitchFamily="2" charset="2"/>
              </a:rPr>
              <a:t>	  </a:t>
            </a:r>
            <a:endParaRPr lang="es-MX" sz="2000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	</a:t>
            </a:r>
            <a:endParaRPr lang="es-MX" dirty="0"/>
          </a:p>
        </p:txBody>
      </p:sp>
      <p:sp>
        <p:nvSpPr>
          <p:cNvPr id="28" name="27 Rectángulo"/>
          <p:cNvSpPr/>
          <p:nvPr/>
        </p:nvSpPr>
        <p:spPr>
          <a:xfrm>
            <a:off x="4139952" y="4293096"/>
            <a:ext cx="91440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Elipse"/>
          <p:cNvSpPr/>
          <p:nvPr/>
        </p:nvSpPr>
        <p:spPr>
          <a:xfrm>
            <a:off x="3275856" y="3284984"/>
            <a:ext cx="576064" cy="28803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Elipse"/>
          <p:cNvSpPr/>
          <p:nvPr/>
        </p:nvSpPr>
        <p:spPr>
          <a:xfrm>
            <a:off x="3995936" y="3284984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4716016" y="3284984"/>
            <a:ext cx="576064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Elipse"/>
          <p:cNvSpPr/>
          <p:nvPr/>
        </p:nvSpPr>
        <p:spPr>
          <a:xfrm>
            <a:off x="5508104" y="3284984"/>
            <a:ext cx="576064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3" name="12 Conector recto"/>
          <p:cNvCxnSpPr>
            <a:stCxn id="8" idx="4"/>
          </p:cNvCxnSpPr>
          <p:nvPr/>
        </p:nvCxnSpPr>
        <p:spPr>
          <a:xfrm>
            <a:off x="3563888" y="3573016"/>
            <a:ext cx="720080" cy="7200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>
            <a:stCxn id="9" idx="4"/>
          </p:cNvCxnSpPr>
          <p:nvPr/>
        </p:nvCxnSpPr>
        <p:spPr>
          <a:xfrm>
            <a:off x="4283968" y="3573016"/>
            <a:ext cx="14401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>
            <a:stCxn id="10" idx="4"/>
          </p:cNvCxnSpPr>
          <p:nvPr/>
        </p:nvCxnSpPr>
        <p:spPr>
          <a:xfrm flipH="1">
            <a:off x="4716016" y="3573016"/>
            <a:ext cx="288032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stCxn id="11" idx="4"/>
          </p:cNvCxnSpPr>
          <p:nvPr/>
        </p:nvCxnSpPr>
        <p:spPr>
          <a:xfrm flipH="1">
            <a:off x="4932040" y="3573016"/>
            <a:ext cx="86409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s-MX" sz="3200" b="1" u="sng" cap="small" dirty="0"/>
              <a:t>Operaciones sobre instancias de una entidad (1)</a:t>
            </a:r>
            <a:endParaRPr lang="es-AR" sz="3200" b="1" u="sng" cap="small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83264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AR" b="1" dirty="0"/>
              <a:t>Especialización</a:t>
            </a:r>
            <a:r>
              <a:rPr lang="es-AR" dirty="0"/>
              <a:t>: Consiste en clasificar entidades de una misma clase en tipos diferentes de datos. </a:t>
            </a: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r>
              <a:rPr lang="es-AR" sz="2000" dirty="0">
                <a:sym typeface="Wingdings" pitchFamily="2" charset="2"/>
              </a:rPr>
              <a:t>	  </a:t>
            </a:r>
            <a:endParaRPr lang="es-MX" sz="2000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A partir de una clase determinada, el procedimiento radica en descomponer esta estructura original, separando sus instancias/ocurrencias para conformar entidades de menor jerarquía, en las que no se compartan datos/atributos.   </a:t>
            </a: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Las entidades clasificadas mantienen y comparten la clave de la entidad original. </a:t>
            </a: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Se emplea esta operación para enfatizar las diferencias entre entidades.</a:t>
            </a: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</a:t>
            </a:r>
            <a:endParaRPr lang="es-MX" dirty="0"/>
          </a:p>
        </p:txBody>
      </p:sp>
      <p:sp>
        <p:nvSpPr>
          <p:cNvPr id="16" name="15 Elipse"/>
          <p:cNvSpPr/>
          <p:nvPr/>
        </p:nvSpPr>
        <p:spPr>
          <a:xfrm>
            <a:off x="1547664" y="1484784"/>
            <a:ext cx="576064" cy="28803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17" name="16 Elipse"/>
          <p:cNvSpPr/>
          <p:nvPr/>
        </p:nvSpPr>
        <p:spPr>
          <a:xfrm>
            <a:off x="2267744" y="1484784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B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8" name="17 Elipse"/>
          <p:cNvSpPr/>
          <p:nvPr/>
        </p:nvSpPr>
        <p:spPr>
          <a:xfrm>
            <a:off x="2987824" y="1484784"/>
            <a:ext cx="576064" cy="28803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9" name="18 Elipse"/>
          <p:cNvSpPr/>
          <p:nvPr/>
        </p:nvSpPr>
        <p:spPr>
          <a:xfrm>
            <a:off x="3779912" y="1484784"/>
            <a:ext cx="576064" cy="28803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</a:t>
            </a:r>
            <a:endParaRPr lang="es-AR" dirty="0">
              <a:solidFill>
                <a:schemeClr val="tx1"/>
              </a:solidFill>
            </a:endParaRPr>
          </a:p>
        </p:txBody>
      </p:sp>
      <p:cxnSp>
        <p:nvCxnSpPr>
          <p:cNvPr id="20" name="19 Conector recto"/>
          <p:cNvCxnSpPr>
            <a:stCxn id="16" idx="4"/>
          </p:cNvCxnSpPr>
          <p:nvPr/>
        </p:nvCxnSpPr>
        <p:spPr>
          <a:xfrm>
            <a:off x="1835696" y="1772816"/>
            <a:ext cx="720080" cy="7200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stCxn id="17" idx="4"/>
          </p:cNvCxnSpPr>
          <p:nvPr/>
        </p:nvCxnSpPr>
        <p:spPr>
          <a:xfrm>
            <a:off x="2555776" y="1772816"/>
            <a:ext cx="14401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>
            <a:stCxn id="18" idx="4"/>
          </p:cNvCxnSpPr>
          <p:nvPr/>
        </p:nvCxnSpPr>
        <p:spPr>
          <a:xfrm flipH="1">
            <a:off x="2987824" y="1772816"/>
            <a:ext cx="288032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>
            <a:stCxn id="19" idx="4"/>
          </p:cNvCxnSpPr>
          <p:nvPr/>
        </p:nvCxnSpPr>
        <p:spPr>
          <a:xfrm flipH="1">
            <a:off x="3203848" y="1772816"/>
            <a:ext cx="86409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Elipse"/>
          <p:cNvSpPr/>
          <p:nvPr/>
        </p:nvSpPr>
        <p:spPr>
          <a:xfrm>
            <a:off x="5076056" y="1484784"/>
            <a:ext cx="576064" cy="28803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A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29" name="28 Elipse"/>
          <p:cNvSpPr/>
          <p:nvPr/>
        </p:nvSpPr>
        <p:spPr>
          <a:xfrm>
            <a:off x="5796136" y="1484784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X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30" name="29 Elipse"/>
          <p:cNvSpPr/>
          <p:nvPr/>
        </p:nvSpPr>
        <p:spPr>
          <a:xfrm>
            <a:off x="6516216" y="1484784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Y</a:t>
            </a:r>
            <a:endParaRPr lang="es-AR" dirty="0">
              <a:solidFill>
                <a:schemeClr val="tx1"/>
              </a:solidFill>
            </a:endParaRPr>
          </a:p>
        </p:txBody>
      </p:sp>
      <p:cxnSp>
        <p:nvCxnSpPr>
          <p:cNvPr id="32" name="31 Conector recto"/>
          <p:cNvCxnSpPr>
            <a:stCxn id="27" idx="4"/>
          </p:cNvCxnSpPr>
          <p:nvPr/>
        </p:nvCxnSpPr>
        <p:spPr>
          <a:xfrm>
            <a:off x="5364088" y="1772816"/>
            <a:ext cx="720080" cy="7200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>
            <a:stCxn id="29" idx="4"/>
          </p:cNvCxnSpPr>
          <p:nvPr/>
        </p:nvCxnSpPr>
        <p:spPr>
          <a:xfrm>
            <a:off x="6084168" y="1772816"/>
            <a:ext cx="14401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>
            <a:stCxn id="30" idx="4"/>
          </p:cNvCxnSpPr>
          <p:nvPr/>
        </p:nvCxnSpPr>
        <p:spPr>
          <a:xfrm flipH="1">
            <a:off x="6516216" y="1772816"/>
            <a:ext cx="288032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Rectángulo"/>
          <p:cNvSpPr/>
          <p:nvPr/>
        </p:nvSpPr>
        <p:spPr>
          <a:xfrm>
            <a:off x="5652120" y="2204864"/>
            <a:ext cx="1512168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Entidad Subtipo 1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2051720" y="2204864"/>
            <a:ext cx="1512168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Entidad Subtipo 1</a:t>
            </a:r>
            <a:endParaRPr lang="es-A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 flipH="1">
            <a:off x="5148064" y="1484784"/>
            <a:ext cx="792088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s-MX" sz="3200" b="1" u="sng" cap="small" dirty="0"/>
              <a:t>Operaciones sobre instancias de una entidad (2)</a:t>
            </a:r>
            <a:endParaRPr lang="es-AR" sz="3200" b="1" u="sng" cap="small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90465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s-AR" b="1" dirty="0"/>
              <a:t>Generalización</a:t>
            </a:r>
            <a:r>
              <a:rPr lang="es-AR" dirty="0"/>
              <a:t>: Consiste en agrupar entidades de igual tipo en una  clase superior (</a:t>
            </a:r>
            <a:r>
              <a:rPr lang="es-AR" dirty="0" err="1"/>
              <a:t>Supertipo</a:t>
            </a:r>
            <a:r>
              <a:rPr lang="es-AR" dirty="0"/>
              <a:t>).  </a:t>
            </a: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r>
              <a:rPr lang="es-AR" sz="2000" dirty="0">
                <a:sym typeface="Wingdings" pitchFamily="2" charset="2"/>
              </a:rPr>
              <a:t>	  </a:t>
            </a:r>
            <a:endParaRPr lang="es-MX" sz="2000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A partir de entidades </a:t>
            </a:r>
            <a:r>
              <a:rPr lang="es-MX" dirty="0" err="1">
                <a:sym typeface="Wingdings" pitchFamily="2" charset="2"/>
              </a:rPr>
              <a:t>identicas</a:t>
            </a:r>
            <a:r>
              <a:rPr lang="es-MX" dirty="0">
                <a:sym typeface="Wingdings" pitchFamily="2" charset="2"/>
              </a:rPr>
              <a:t> y de menor jerarquía, el procedimiento radica en conformar un único conjunto de entidades de mayor jerarquía.   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Las entidades resultantes de la generalización mantienen la clave de las entidades originales y comparten los mismos atributos. </a:t>
            </a: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La clase de entidades generalizada debe incorporar un atributo discriminador de tipos de datos.</a:t>
            </a: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Se emplea esta operación para destacar similitudes y aspectos comunes de las entidades representadas. </a:t>
            </a:r>
          </a:p>
        </p:txBody>
      </p:sp>
      <p:sp>
        <p:nvSpPr>
          <p:cNvPr id="16" name="15 Elipse"/>
          <p:cNvSpPr/>
          <p:nvPr/>
        </p:nvSpPr>
        <p:spPr>
          <a:xfrm>
            <a:off x="3491880" y="1268760"/>
            <a:ext cx="576064" cy="28803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17" name="16 Elipse"/>
          <p:cNvSpPr/>
          <p:nvPr/>
        </p:nvSpPr>
        <p:spPr>
          <a:xfrm>
            <a:off x="4211960" y="1268760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B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8" name="17 Elipse"/>
          <p:cNvSpPr/>
          <p:nvPr/>
        </p:nvSpPr>
        <p:spPr>
          <a:xfrm>
            <a:off x="4932040" y="1268760"/>
            <a:ext cx="576064" cy="28803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9" name="18 Elipse"/>
          <p:cNvSpPr/>
          <p:nvPr/>
        </p:nvSpPr>
        <p:spPr>
          <a:xfrm>
            <a:off x="5724128" y="1268760"/>
            <a:ext cx="576064" cy="28803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</a:t>
            </a:r>
            <a:endParaRPr lang="es-AR" dirty="0">
              <a:solidFill>
                <a:schemeClr val="tx1"/>
              </a:solidFill>
            </a:endParaRPr>
          </a:p>
        </p:txBody>
      </p:sp>
      <p:cxnSp>
        <p:nvCxnSpPr>
          <p:cNvPr id="20" name="19 Conector recto"/>
          <p:cNvCxnSpPr>
            <a:stCxn id="16" idx="4"/>
          </p:cNvCxnSpPr>
          <p:nvPr/>
        </p:nvCxnSpPr>
        <p:spPr>
          <a:xfrm>
            <a:off x="3779912" y="1556792"/>
            <a:ext cx="720080" cy="7200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stCxn id="17" idx="4"/>
          </p:cNvCxnSpPr>
          <p:nvPr/>
        </p:nvCxnSpPr>
        <p:spPr>
          <a:xfrm>
            <a:off x="4499992" y="1556792"/>
            <a:ext cx="14401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>
            <a:stCxn id="18" idx="4"/>
          </p:cNvCxnSpPr>
          <p:nvPr/>
        </p:nvCxnSpPr>
        <p:spPr>
          <a:xfrm flipH="1">
            <a:off x="4932040" y="1556792"/>
            <a:ext cx="288032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"/>
          <p:cNvSpPr/>
          <p:nvPr/>
        </p:nvSpPr>
        <p:spPr>
          <a:xfrm>
            <a:off x="3995936" y="1916832"/>
            <a:ext cx="1512168" cy="8640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Entidad 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Generalizada (</a:t>
            </a:r>
            <a:r>
              <a:rPr lang="es-MX" dirty="0" err="1">
                <a:solidFill>
                  <a:schemeClr val="tx1"/>
                </a:solidFill>
              </a:rPr>
              <a:t>Supertipo</a:t>
            </a:r>
            <a:r>
              <a:rPr lang="es-MX" dirty="0">
                <a:solidFill>
                  <a:schemeClr val="tx1"/>
                </a:solidFill>
              </a:rPr>
              <a:t>)</a:t>
            </a:r>
            <a:endParaRPr lang="es-A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26 Conector recto"/>
          <p:cNvCxnSpPr/>
          <p:nvPr/>
        </p:nvCxnSpPr>
        <p:spPr>
          <a:xfrm>
            <a:off x="1763688" y="3140968"/>
            <a:ext cx="720080" cy="7200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>
            <a:stCxn id="30" idx="4"/>
          </p:cNvCxnSpPr>
          <p:nvPr/>
        </p:nvCxnSpPr>
        <p:spPr>
          <a:xfrm>
            <a:off x="6804248" y="3212976"/>
            <a:ext cx="144016" cy="6480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>
            <a:stCxn id="31" idx="4"/>
          </p:cNvCxnSpPr>
          <p:nvPr/>
        </p:nvCxnSpPr>
        <p:spPr>
          <a:xfrm flipH="1">
            <a:off x="7380312" y="3212976"/>
            <a:ext cx="72008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 flipH="1">
            <a:off x="5148064" y="1628800"/>
            <a:ext cx="792088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es-MX" sz="3200" b="1" u="sng" cap="small" dirty="0"/>
              <a:t>Operaciones sobre instancias de una entidad (3)</a:t>
            </a:r>
            <a:endParaRPr lang="es-AR" sz="3200" b="1" u="sng" cap="small" dirty="0"/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90465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AR" b="1" dirty="0"/>
              <a:t>Mixta</a:t>
            </a:r>
            <a:r>
              <a:rPr lang="es-AR" dirty="0"/>
              <a:t>: Consiste en combinar simultáneamente las dos operaciones anteriores: Generalización y Especialización de Datos. </a:t>
            </a: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endParaRPr lang="es-AR" sz="2000" dirty="0">
              <a:sym typeface="Wingdings" pitchFamily="2" charset="2"/>
            </a:endParaRPr>
          </a:p>
          <a:p>
            <a:pPr>
              <a:buNone/>
            </a:pPr>
            <a:r>
              <a:rPr lang="es-AR" sz="2000" dirty="0">
                <a:sym typeface="Wingdings" pitchFamily="2" charset="2"/>
              </a:rPr>
              <a:t>	  </a:t>
            </a:r>
            <a:endParaRPr lang="es-MX" sz="2000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  </a:t>
            </a: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None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Las entidades de menor jerarquía  describen los aspectos comunes, . </a:t>
            </a:r>
          </a:p>
          <a:p>
            <a:pPr>
              <a:buFont typeface="Wingdings" pitchFamily="2" charset="2"/>
              <a:buChar char="Ø"/>
            </a:pPr>
            <a:endParaRPr lang="es-MX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s-MX" dirty="0">
                <a:sym typeface="Wingdings" pitchFamily="2" charset="2"/>
              </a:rPr>
              <a:t>La clase de entidades generalizada debe incorporar un atributo discriminador de tipos de datos.</a:t>
            </a:r>
          </a:p>
          <a:p>
            <a:pPr>
              <a:buNone/>
            </a:pPr>
            <a:r>
              <a:rPr lang="es-MX" dirty="0">
                <a:sym typeface="Wingdings" pitchFamily="2" charset="2"/>
              </a:rPr>
              <a:t>	</a:t>
            </a:r>
            <a:endParaRPr lang="es-MX" dirty="0"/>
          </a:p>
        </p:txBody>
      </p:sp>
      <p:sp>
        <p:nvSpPr>
          <p:cNvPr id="16" name="15 Elipse"/>
          <p:cNvSpPr/>
          <p:nvPr/>
        </p:nvSpPr>
        <p:spPr>
          <a:xfrm>
            <a:off x="3491880" y="1412776"/>
            <a:ext cx="576064" cy="28803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17" name="16 Elipse"/>
          <p:cNvSpPr/>
          <p:nvPr/>
        </p:nvSpPr>
        <p:spPr>
          <a:xfrm>
            <a:off x="4211960" y="1412776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B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8" name="17 Elipse"/>
          <p:cNvSpPr/>
          <p:nvPr/>
        </p:nvSpPr>
        <p:spPr>
          <a:xfrm>
            <a:off x="4932040" y="1412776"/>
            <a:ext cx="576064" cy="28803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9" name="18 Elipse"/>
          <p:cNvSpPr/>
          <p:nvPr/>
        </p:nvSpPr>
        <p:spPr>
          <a:xfrm>
            <a:off x="5652120" y="1412776"/>
            <a:ext cx="576064" cy="28803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</a:t>
            </a:r>
            <a:endParaRPr lang="es-AR" dirty="0">
              <a:solidFill>
                <a:schemeClr val="tx1"/>
              </a:solidFill>
            </a:endParaRPr>
          </a:p>
        </p:txBody>
      </p:sp>
      <p:cxnSp>
        <p:nvCxnSpPr>
          <p:cNvPr id="20" name="19 Conector recto"/>
          <p:cNvCxnSpPr/>
          <p:nvPr/>
        </p:nvCxnSpPr>
        <p:spPr>
          <a:xfrm>
            <a:off x="3851920" y="1628800"/>
            <a:ext cx="720080" cy="7200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stCxn id="17" idx="4"/>
          </p:cNvCxnSpPr>
          <p:nvPr/>
        </p:nvCxnSpPr>
        <p:spPr>
          <a:xfrm>
            <a:off x="4499992" y="1700808"/>
            <a:ext cx="14401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>
            <a:stCxn id="18" idx="4"/>
          </p:cNvCxnSpPr>
          <p:nvPr/>
        </p:nvCxnSpPr>
        <p:spPr>
          <a:xfrm flipH="1">
            <a:off x="4932040" y="1700808"/>
            <a:ext cx="288032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"/>
          <p:cNvSpPr/>
          <p:nvPr/>
        </p:nvSpPr>
        <p:spPr>
          <a:xfrm>
            <a:off x="4067944" y="1916832"/>
            <a:ext cx="1512168" cy="8640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Entidad 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Generalizada (</a:t>
            </a:r>
            <a:r>
              <a:rPr lang="es-MX" dirty="0" err="1">
                <a:solidFill>
                  <a:schemeClr val="tx1"/>
                </a:solidFill>
              </a:rPr>
              <a:t>Supertipo</a:t>
            </a:r>
            <a:r>
              <a:rPr lang="es-MX" dirty="0">
                <a:solidFill>
                  <a:schemeClr val="tx1"/>
                </a:solidFill>
              </a:rPr>
              <a:t>)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5796136" y="3573016"/>
            <a:ext cx="1872208" cy="6480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Entidad Subtipo 1</a:t>
            </a:r>
            <a:endParaRPr lang="es-AR" dirty="0"/>
          </a:p>
        </p:txBody>
      </p:sp>
      <p:sp>
        <p:nvSpPr>
          <p:cNvPr id="21" name="20 Elipse"/>
          <p:cNvSpPr/>
          <p:nvPr/>
        </p:nvSpPr>
        <p:spPr>
          <a:xfrm>
            <a:off x="1403648" y="2924944"/>
            <a:ext cx="576064" cy="28803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23" name="22 Elipse"/>
          <p:cNvSpPr/>
          <p:nvPr/>
        </p:nvSpPr>
        <p:spPr>
          <a:xfrm>
            <a:off x="2123728" y="2924944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O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26" name="25 Elipse"/>
          <p:cNvSpPr/>
          <p:nvPr/>
        </p:nvSpPr>
        <p:spPr>
          <a:xfrm>
            <a:off x="2843808" y="2924944"/>
            <a:ext cx="576064" cy="288032"/>
          </a:xfrm>
          <a:prstGeom prst="ellipse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P</a:t>
            </a:r>
            <a:endParaRPr lang="es-AR" dirty="0">
              <a:solidFill>
                <a:schemeClr val="tx1"/>
              </a:solidFill>
            </a:endParaRPr>
          </a:p>
        </p:txBody>
      </p:sp>
      <p:cxnSp>
        <p:nvCxnSpPr>
          <p:cNvPr id="28" name="27 Conector recto"/>
          <p:cNvCxnSpPr>
            <a:stCxn id="23" idx="4"/>
          </p:cNvCxnSpPr>
          <p:nvPr/>
        </p:nvCxnSpPr>
        <p:spPr>
          <a:xfrm>
            <a:off x="2411760" y="3212976"/>
            <a:ext cx="144016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>
            <a:stCxn id="26" idx="4"/>
          </p:cNvCxnSpPr>
          <p:nvPr/>
        </p:nvCxnSpPr>
        <p:spPr>
          <a:xfrm flipH="1">
            <a:off x="2843808" y="3212976"/>
            <a:ext cx="288032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2051720" y="3573016"/>
            <a:ext cx="1944216" cy="6480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Entidad Subtipo 1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30" name="29 Elipse"/>
          <p:cNvSpPr/>
          <p:nvPr/>
        </p:nvSpPr>
        <p:spPr>
          <a:xfrm>
            <a:off x="6516216" y="2924944"/>
            <a:ext cx="576064" cy="28803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AR" b="1" dirty="0">
              <a:solidFill>
                <a:schemeClr val="tx1"/>
              </a:solidFill>
            </a:endParaRPr>
          </a:p>
        </p:txBody>
      </p:sp>
      <p:sp>
        <p:nvSpPr>
          <p:cNvPr id="31" name="30 Elipse"/>
          <p:cNvSpPr/>
          <p:nvPr/>
        </p:nvSpPr>
        <p:spPr>
          <a:xfrm>
            <a:off x="7164288" y="2924944"/>
            <a:ext cx="576064" cy="288032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X</a:t>
            </a:r>
            <a:endParaRPr lang="es-AR" dirty="0">
              <a:solidFill>
                <a:schemeClr val="tx1"/>
              </a:solidFill>
            </a:endParaRPr>
          </a:p>
        </p:txBody>
      </p:sp>
      <p:cxnSp>
        <p:nvCxnSpPr>
          <p:cNvPr id="39" name="38 Forma"/>
          <p:cNvCxnSpPr/>
          <p:nvPr/>
        </p:nvCxnSpPr>
        <p:spPr>
          <a:xfrm rot="5400000">
            <a:off x="3977934" y="2366882"/>
            <a:ext cx="432048" cy="1260140"/>
          </a:xfrm>
          <a:prstGeom prst="bentConnector2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Forma"/>
          <p:cNvCxnSpPr>
            <a:stCxn id="14" idx="2"/>
          </p:cNvCxnSpPr>
          <p:nvPr/>
        </p:nvCxnSpPr>
        <p:spPr>
          <a:xfrm rot="16200000" flipH="1">
            <a:off x="5382090" y="2222866"/>
            <a:ext cx="432048" cy="1548172"/>
          </a:xfrm>
          <a:prstGeom prst="bentConnector2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3563888" y="3212976"/>
            <a:ext cx="0" cy="3600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6372200" y="3212976"/>
            <a:ext cx="0" cy="3600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28 Conector recto"/>
          <p:cNvCxnSpPr>
            <a:stCxn id="23" idx="5"/>
          </p:cNvCxnSpPr>
          <p:nvPr/>
        </p:nvCxnSpPr>
        <p:spPr>
          <a:xfrm>
            <a:off x="1498475" y="1490131"/>
            <a:ext cx="409229" cy="507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134 Rectángulo"/>
          <p:cNvSpPr/>
          <p:nvPr/>
        </p:nvSpPr>
        <p:spPr>
          <a:xfrm>
            <a:off x="2771800" y="3149352"/>
            <a:ext cx="1728192" cy="2520280"/>
          </a:xfrm>
          <a:prstGeom prst="rect">
            <a:avLst/>
          </a:prstGeom>
          <a:solidFill>
            <a:schemeClr val="bg1"/>
          </a:solidFill>
          <a:ln w="31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8" name="47 Conector recto"/>
          <p:cNvCxnSpPr>
            <a:endCxn id="105" idx="3"/>
          </p:cNvCxnSpPr>
          <p:nvPr/>
        </p:nvCxnSpPr>
        <p:spPr>
          <a:xfrm>
            <a:off x="3851920" y="2177244"/>
            <a:ext cx="3096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4644008" y="1565176"/>
            <a:ext cx="385192" cy="43204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>
            <a:stCxn id="32" idx="4"/>
          </p:cNvCxnSpPr>
          <p:nvPr/>
        </p:nvCxnSpPr>
        <p:spPr>
          <a:xfrm flipH="1">
            <a:off x="5364088" y="1421160"/>
            <a:ext cx="504056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>
            <a:stCxn id="34" idx="4"/>
          </p:cNvCxnSpPr>
          <p:nvPr/>
        </p:nvCxnSpPr>
        <p:spPr>
          <a:xfrm flipH="1">
            <a:off x="5580112" y="1421160"/>
            <a:ext cx="792088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2051720" y="2492896"/>
            <a:ext cx="0" cy="8640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>
            <a:stCxn id="20" idx="4"/>
          </p:cNvCxnSpPr>
          <p:nvPr/>
        </p:nvCxnSpPr>
        <p:spPr>
          <a:xfrm flipH="1">
            <a:off x="2051720" y="1484784"/>
            <a:ext cx="432048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>
            <a:endCxn id="46" idx="1"/>
          </p:cNvCxnSpPr>
          <p:nvPr/>
        </p:nvCxnSpPr>
        <p:spPr>
          <a:xfrm>
            <a:off x="2246040" y="2177244"/>
            <a:ext cx="1101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flipH="1">
            <a:off x="3635896" y="2429272"/>
            <a:ext cx="36004" cy="280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>
            <a:stCxn id="64" idx="4"/>
          </p:cNvCxnSpPr>
          <p:nvPr/>
        </p:nvCxnSpPr>
        <p:spPr>
          <a:xfrm>
            <a:off x="3131840" y="2789312"/>
            <a:ext cx="360040" cy="576064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>
            <a:stCxn id="66" idx="4"/>
          </p:cNvCxnSpPr>
          <p:nvPr/>
        </p:nvCxnSpPr>
        <p:spPr>
          <a:xfrm flipH="1">
            <a:off x="3851920" y="2933328"/>
            <a:ext cx="144016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>
            <a:stCxn id="76" idx="4"/>
          </p:cNvCxnSpPr>
          <p:nvPr/>
        </p:nvCxnSpPr>
        <p:spPr>
          <a:xfrm flipH="1">
            <a:off x="3995936" y="2933328"/>
            <a:ext cx="504056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"/>
          <p:cNvCxnSpPr>
            <a:stCxn id="93" idx="4"/>
          </p:cNvCxnSpPr>
          <p:nvPr/>
        </p:nvCxnSpPr>
        <p:spPr>
          <a:xfrm flipH="1">
            <a:off x="3923928" y="4733528"/>
            <a:ext cx="216024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108 Conector recto de flecha"/>
          <p:cNvCxnSpPr/>
          <p:nvPr/>
        </p:nvCxnSpPr>
        <p:spPr>
          <a:xfrm>
            <a:off x="6516216" y="2141240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122 Conector recto"/>
          <p:cNvCxnSpPr/>
          <p:nvPr/>
        </p:nvCxnSpPr>
        <p:spPr>
          <a:xfrm>
            <a:off x="6084168" y="4445496"/>
            <a:ext cx="360040" cy="576064"/>
          </a:xfrm>
          <a:prstGeom prst="line">
            <a:avLst/>
          </a:prstGeom>
          <a:ln w="31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114 Conector recto"/>
          <p:cNvCxnSpPr>
            <a:stCxn id="114" idx="4"/>
          </p:cNvCxnSpPr>
          <p:nvPr/>
        </p:nvCxnSpPr>
        <p:spPr>
          <a:xfrm flipH="1">
            <a:off x="6804248" y="4373488"/>
            <a:ext cx="504056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116 Conector recto"/>
          <p:cNvCxnSpPr/>
          <p:nvPr/>
        </p:nvCxnSpPr>
        <p:spPr>
          <a:xfrm>
            <a:off x="6660232" y="4373488"/>
            <a:ext cx="0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>
            <a:stCxn id="99" idx="5"/>
          </p:cNvCxnSpPr>
          <p:nvPr/>
        </p:nvCxnSpPr>
        <p:spPr>
          <a:xfrm>
            <a:off x="7461056" y="1461532"/>
            <a:ext cx="351304" cy="5356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"/>
          <p:cNvCxnSpPr>
            <a:stCxn id="100" idx="4"/>
          </p:cNvCxnSpPr>
          <p:nvPr/>
        </p:nvCxnSpPr>
        <p:spPr>
          <a:xfrm flipH="1">
            <a:off x="8172400" y="1421160"/>
            <a:ext cx="504056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103 Conector recto"/>
          <p:cNvCxnSpPr/>
          <p:nvPr/>
        </p:nvCxnSpPr>
        <p:spPr>
          <a:xfrm>
            <a:off x="8028384" y="1421160"/>
            <a:ext cx="0" cy="864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120 Rectángulo"/>
          <p:cNvSpPr/>
          <p:nvPr/>
        </p:nvSpPr>
        <p:spPr>
          <a:xfrm>
            <a:off x="7524328" y="1853208"/>
            <a:ext cx="1080120" cy="648072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648072"/>
          </a:xfrm>
        </p:spPr>
        <p:txBody>
          <a:bodyPr>
            <a:normAutofit/>
          </a:bodyPr>
          <a:lstStyle/>
          <a:p>
            <a:r>
              <a:rPr lang="es-MX" sz="3200" b="1" u="sng" cap="small" dirty="0"/>
              <a:t>Fisonomía Típica de un DER</a:t>
            </a:r>
            <a:r>
              <a:rPr lang="es-MX" sz="3200" b="1" dirty="0"/>
              <a:t> </a:t>
            </a:r>
            <a:endParaRPr lang="es-AR" sz="3200" b="1" dirty="0"/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323528" y="1196752"/>
            <a:ext cx="822960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	</a:t>
            </a:r>
            <a:r>
              <a:rPr lang="es-MX" sz="1800" b="1" dirty="0"/>
              <a:t>                                	          </a:t>
            </a:r>
          </a:p>
          <a:p>
            <a:pPr>
              <a:buNone/>
            </a:pPr>
            <a:r>
              <a:rPr lang="es-MX" sz="1800" b="1" dirty="0"/>
              <a:t>		</a:t>
            </a:r>
          </a:p>
          <a:p>
            <a:pPr>
              <a:buNone/>
            </a:pPr>
            <a:endParaRPr lang="es-MX" sz="1800" b="1" dirty="0"/>
          </a:p>
          <a:p>
            <a:pPr>
              <a:buNone/>
            </a:pPr>
            <a:r>
              <a:rPr lang="es-MX" sz="1800" b="1" dirty="0"/>
              <a:t>			</a:t>
            </a:r>
          </a:p>
          <a:p>
            <a:pPr>
              <a:buNone/>
            </a:pPr>
            <a:endParaRPr lang="es-MX" sz="1200" b="1" dirty="0">
              <a:sym typeface="Wingdings" pitchFamily="2" charset="2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619672" y="1997224"/>
            <a:ext cx="914400" cy="36004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539552" y="1196752"/>
            <a:ext cx="432048" cy="2160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00" dirty="0"/>
              <a:t>Id</a:t>
            </a:r>
            <a:endParaRPr lang="es-AR" sz="500" dirty="0"/>
          </a:p>
        </p:txBody>
      </p:sp>
      <p:sp>
        <p:nvSpPr>
          <p:cNvPr id="18" name="17 Elipse"/>
          <p:cNvSpPr/>
          <p:nvPr/>
        </p:nvSpPr>
        <p:spPr>
          <a:xfrm>
            <a:off x="1043608" y="1196752"/>
            <a:ext cx="432048" cy="2160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Elipse"/>
          <p:cNvSpPr/>
          <p:nvPr/>
        </p:nvSpPr>
        <p:spPr>
          <a:xfrm>
            <a:off x="1763688" y="1268760"/>
            <a:ext cx="432048" cy="216024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Elipse"/>
          <p:cNvSpPr/>
          <p:nvPr/>
        </p:nvSpPr>
        <p:spPr>
          <a:xfrm>
            <a:off x="2267744" y="1268760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Elipse"/>
          <p:cNvSpPr/>
          <p:nvPr/>
        </p:nvSpPr>
        <p:spPr>
          <a:xfrm>
            <a:off x="2771800" y="1268760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Elipse"/>
          <p:cNvSpPr/>
          <p:nvPr/>
        </p:nvSpPr>
        <p:spPr>
          <a:xfrm>
            <a:off x="395536" y="1124744"/>
            <a:ext cx="1224136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1" name="30 Conector recto"/>
          <p:cNvCxnSpPr>
            <a:stCxn id="19" idx="4"/>
            <a:endCxn id="6" idx="0"/>
          </p:cNvCxnSpPr>
          <p:nvPr/>
        </p:nvCxnSpPr>
        <p:spPr>
          <a:xfrm>
            <a:off x="1979712" y="1484784"/>
            <a:ext cx="97160" cy="51244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>
            <a:stCxn id="21" idx="4"/>
          </p:cNvCxnSpPr>
          <p:nvPr/>
        </p:nvCxnSpPr>
        <p:spPr>
          <a:xfrm flipH="1">
            <a:off x="2339752" y="1484784"/>
            <a:ext cx="648072" cy="512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Elipse"/>
          <p:cNvSpPr/>
          <p:nvPr/>
        </p:nvSpPr>
        <p:spPr>
          <a:xfrm>
            <a:off x="323528" y="1052736"/>
            <a:ext cx="1376536" cy="5124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Rectángulo"/>
          <p:cNvSpPr/>
          <p:nvPr/>
        </p:nvSpPr>
        <p:spPr>
          <a:xfrm>
            <a:off x="4716016" y="1997224"/>
            <a:ext cx="914400" cy="36004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Elipse"/>
          <p:cNvSpPr/>
          <p:nvPr/>
        </p:nvSpPr>
        <p:spPr>
          <a:xfrm>
            <a:off x="3995936" y="1277144"/>
            <a:ext cx="432048" cy="2160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Elipse"/>
          <p:cNvSpPr/>
          <p:nvPr/>
        </p:nvSpPr>
        <p:spPr>
          <a:xfrm>
            <a:off x="4499992" y="1277144"/>
            <a:ext cx="432048" cy="216024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31 Elipse"/>
          <p:cNvSpPr/>
          <p:nvPr/>
        </p:nvSpPr>
        <p:spPr>
          <a:xfrm>
            <a:off x="5652120" y="1205136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Elipse"/>
          <p:cNvSpPr/>
          <p:nvPr/>
        </p:nvSpPr>
        <p:spPr>
          <a:xfrm>
            <a:off x="6156176" y="1205136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42 Elipse"/>
          <p:cNvSpPr/>
          <p:nvPr/>
        </p:nvSpPr>
        <p:spPr>
          <a:xfrm>
            <a:off x="5148064" y="1205136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Rombo"/>
          <p:cNvSpPr/>
          <p:nvPr/>
        </p:nvSpPr>
        <p:spPr>
          <a:xfrm>
            <a:off x="3347864" y="1925216"/>
            <a:ext cx="648072" cy="504056"/>
          </a:xfrm>
          <a:prstGeom prst="diamond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3" name="52 Rectángulo"/>
          <p:cNvSpPr/>
          <p:nvPr/>
        </p:nvSpPr>
        <p:spPr>
          <a:xfrm>
            <a:off x="3203848" y="3365376"/>
            <a:ext cx="914400" cy="36004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63 Elipse"/>
          <p:cNvSpPr/>
          <p:nvPr/>
        </p:nvSpPr>
        <p:spPr>
          <a:xfrm>
            <a:off x="2915816" y="2573288"/>
            <a:ext cx="432048" cy="216024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6" name="65 Elipse"/>
          <p:cNvSpPr/>
          <p:nvPr/>
        </p:nvSpPr>
        <p:spPr>
          <a:xfrm>
            <a:off x="3779912" y="2717304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6" name="75 Elipse"/>
          <p:cNvSpPr/>
          <p:nvPr/>
        </p:nvSpPr>
        <p:spPr>
          <a:xfrm>
            <a:off x="4283968" y="2717304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4" name="83 Rombo"/>
          <p:cNvSpPr/>
          <p:nvPr/>
        </p:nvSpPr>
        <p:spPr>
          <a:xfrm>
            <a:off x="3347864" y="4085456"/>
            <a:ext cx="648072" cy="504056"/>
          </a:xfrm>
          <a:prstGeom prst="diamond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7" name="86 Rectángulo"/>
          <p:cNvSpPr/>
          <p:nvPr/>
        </p:nvSpPr>
        <p:spPr>
          <a:xfrm>
            <a:off x="3203848" y="4949552"/>
            <a:ext cx="914400" cy="36004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1" name="90 Elipse"/>
          <p:cNvSpPr/>
          <p:nvPr/>
        </p:nvSpPr>
        <p:spPr>
          <a:xfrm>
            <a:off x="2915816" y="4589512"/>
            <a:ext cx="432048" cy="216024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92" name="91 Conector recto"/>
          <p:cNvCxnSpPr>
            <a:stCxn id="91" idx="4"/>
          </p:cNvCxnSpPr>
          <p:nvPr/>
        </p:nvCxnSpPr>
        <p:spPr>
          <a:xfrm>
            <a:off x="3131840" y="4805536"/>
            <a:ext cx="216024" cy="14401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92 Elipse"/>
          <p:cNvSpPr/>
          <p:nvPr/>
        </p:nvSpPr>
        <p:spPr>
          <a:xfrm>
            <a:off x="3923928" y="4517504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8" name="97 Rectángulo"/>
          <p:cNvSpPr/>
          <p:nvPr/>
        </p:nvSpPr>
        <p:spPr>
          <a:xfrm>
            <a:off x="7596336" y="1997224"/>
            <a:ext cx="914400" cy="36004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9" name="98 Elipse"/>
          <p:cNvSpPr/>
          <p:nvPr/>
        </p:nvSpPr>
        <p:spPr>
          <a:xfrm>
            <a:off x="7092280" y="1277144"/>
            <a:ext cx="432048" cy="2160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0" name="99 Elipse"/>
          <p:cNvSpPr/>
          <p:nvPr/>
        </p:nvSpPr>
        <p:spPr>
          <a:xfrm>
            <a:off x="8460432" y="1205136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3" name="102 Elipse"/>
          <p:cNvSpPr/>
          <p:nvPr/>
        </p:nvSpPr>
        <p:spPr>
          <a:xfrm>
            <a:off x="7812360" y="1205136"/>
            <a:ext cx="432048" cy="21602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5" name="104 Rombo"/>
          <p:cNvSpPr/>
          <p:nvPr/>
        </p:nvSpPr>
        <p:spPr>
          <a:xfrm>
            <a:off x="6300192" y="1925216"/>
            <a:ext cx="648072" cy="504056"/>
          </a:xfrm>
          <a:prstGeom prst="diamond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2" name="111 Rectángulo"/>
          <p:cNvSpPr/>
          <p:nvPr/>
        </p:nvSpPr>
        <p:spPr>
          <a:xfrm>
            <a:off x="6228184" y="4949552"/>
            <a:ext cx="914400" cy="36004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3" name="112 Elipse"/>
          <p:cNvSpPr/>
          <p:nvPr/>
        </p:nvSpPr>
        <p:spPr>
          <a:xfrm>
            <a:off x="5724128" y="4229472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4" name="113 Elipse"/>
          <p:cNvSpPr/>
          <p:nvPr/>
        </p:nvSpPr>
        <p:spPr>
          <a:xfrm>
            <a:off x="7092280" y="4157464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6" name="115 Elipse"/>
          <p:cNvSpPr/>
          <p:nvPr/>
        </p:nvSpPr>
        <p:spPr>
          <a:xfrm>
            <a:off x="6444208" y="4157464"/>
            <a:ext cx="432048" cy="216024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8" name="117 Rombo"/>
          <p:cNvSpPr/>
          <p:nvPr/>
        </p:nvSpPr>
        <p:spPr>
          <a:xfrm>
            <a:off x="4860032" y="4877544"/>
            <a:ext cx="648072" cy="504056"/>
          </a:xfrm>
          <a:prstGeom prst="diamond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32" name="131 Conector recto"/>
          <p:cNvCxnSpPr>
            <a:stCxn id="87" idx="3"/>
            <a:endCxn id="118" idx="1"/>
          </p:cNvCxnSpPr>
          <p:nvPr/>
        </p:nvCxnSpPr>
        <p:spPr>
          <a:xfrm>
            <a:off x="4118248" y="5129572"/>
            <a:ext cx="7417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33 Conector recto de flecha"/>
          <p:cNvCxnSpPr>
            <a:stCxn id="112" idx="1"/>
            <a:endCxn id="118" idx="3"/>
          </p:cNvCxnSpPr>
          <p:nvPr/>
        </p:nvCxnSpPr>
        <p:spPr>
          <a:xfrm flipH="1">
            <a:off x="5508104" y="5129572"/>
            <a:ext cx="72008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136 Elipse"/>
          <p:cNvSpPr/>
          <p:nvPr/>
        </p:nvSpPr>
        <p:spPr>
          <a:xfrm>
            <a:off x="3851920" y="1205136"/>
            <a:ext cx="1224136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9" name="68 Rectángulo"/>
          <p:cNvSpPr/>
          <p:nvPr/>
        </p:nvSpPr>
        <p:spPr>
          <a:xfrm>
            <a:off x="1569368" y="3356992"/>
            <a:ext cx="914400" cy="36004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1" name="70 Forma"/>
          <p:cNvCxnSpPr>
            <a:stCxn id="6" idx="2"/>
          </p:cNvCxnSpPr>
          <p:nvPr/>
        </p:nvCxnSpPr>
        <p:spPr>
          <a:xfrm rot="5400000">
            <a:off x="1132384" y="1908448"/>
            <a:ext cx="495672" cy="1393304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>
            <a:off x="683568" y="2852936"/>
            <a:ext cx="0" cy="8640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67 Rectángulo"/>
          <p:cNvSpPr/>
          <p:nvPr/>
        </p:nvSpPr>
        <p:spPr>
          <a:xfrm>
            <a:off x="251520" y="3356992"/>
            <a:ext cx="914400" cy="36004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</TotalTime>
  <Words>752</Words>
  <Application>Microsoft Office PowerPoint</Application>
  <PresentationFormat>Presentación en pantalla (4:3)</PresentationFormat>
  <Paragraphs>283</Paragraphs>
  <Slides>33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Wingdings</vt:lpstr>
      <vt:lpstr>Tema de Office</vt:lpstr>
      <vt:lpstr>ANALISIS DE DATOS     Emilio Rearte</vt:lpstr>
      <vt:lpstr>Modelación Conceptual de Datos</vt:lpstr>
      <vt:lpstr>Diagrama Entidad-Relación – DER</vt:lpstr>
      <vt:lpstr> Construcción del DER Elementos Primarios – Simbología básica Representación Simplificada (1)</vt:lpstr>
      <vt:lpstr> Construcción del DER Elementos Primarios – Simbología básica Representación Amplificada (2)</vt:lpstr>
      <vt:lpstr>Entidades: Concepto</vt:lpstr>
      <vt:lpstr>Entidades: Características</vt:lpstr>
      <vt:lpstr>Entidades: Tipos y Clases</vt:lpstr>
      <vt:lpstr>Presentación de PowerPoint</vt:lpstr>
      <vt:lpstr>Presentación de PowerPoint</vt:lpstr>
      <vt:lpstr>Presentación de PowerPoint</vt:lpstr>
      <vt:lpstr>Presentación de PowerPoint</vt:lpstr>
      <vt:lpstr>Clasificación de Entidades según  el Grado de Independencia de datos (2)</vt:lpstr>
      <vt:lpstr>Relaciones: Concepto</vt:lpstr>
      <vt:lpstr>Clasificación de Relaciones según  la cantidad de entidades participantes</vt:lpstr>
      <vt:lpstr>Especificación de Relaciones: Sentido de la Relación</vt:lpstr>
      <vt:lpstr>Especificación de Relaciones: Cardinalidad</vt:lpstr>
      <vt:lpstr>Especificación de Relaciones: Condicionalidad</vt:lpstr>
      <vt:lpstr>Atributos: Concepto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Especificación de Atributos: Funcionalidad</vt:lpstr>
      <vt:lpstr>Extensiones del DER Elementos Especiales – Simbología Complementaria </vt:lpstr>
      <vt:lpstr>Objetos asociativos: Concepto</vt:lpstr>
      <vt:lpstr>Objetos asociativos: Características</vt:lpstr>
      <vt:lpstr>Operaciones sobre atributos de una entidad</vt:lpstr>
      <vt:lpstr>Operaciones sobre instancias de una entidad (1)</vt:lpstr>
      <vt:lpstr>Operaciones sobre instancias de una entidad (2)</vt:lpstr>
      <vt:lpstr>Operaciones sobre instancias de una entidad (3)</vt:lpstr>
      <vt:lpstr>Fisonomía Típica de un DER 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DE DATOS</dc:title>
  <dc:creator>Emilio</dc:creator>
  <cp:lastModifiedBy>Emilio Rearte</cp:lastModifiedBy>
  <cp:revision>198</cp:revision>
  <dcterms:created xsi:type="dcterms:W3CDTF">2014-04-28T00:08:48Z</dcterms:created>
  <dcterms:modified xsi:type="dcterms:W3CDTF">2026-04-21T21:23:37Z</dcterms:modified>
</cp:coreProperties>
</file>