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_rels/theme10.xml.rels" ContentType="application/vnd.openxmlformats-package.relationships+xml"/>
  <Override PartName="/ppt/theme/_rels/theme1.xml.rels" ContentType="application/vnd.openxmlformats-package.relationships+xml"/>
  <Override PartName="/ppt/theme/_rels/theme9.xml.rels" ContentType="application/vnd.openxmlformats-package.relationships+xml"/>
  <Override PartName="/ppt/theme/_rels/theme8.xml.rels" ContentType="application/vnd.openxmlformats-package.relationships+xml"/>
  <Override PartName="/ppt/theme/_rels/theme7.xml.rels" ContentType="application/vnd.openxmlformats-package.relationships+xml"/>
  <Override PartName="/ppt/theme/_rels/theme6.xml.rels" ContentType="application/vnd.openxmlformats-package.relationships+xml"/>
  <Override PartName="/ppt/theme/_rels/theme5.xml.rels" ContentType="application/vnd.openxmlformats-package.relationships+xml"/>
  <Override PartName="/ppt/theme/_rels/theme4.xml.rels" ContentType="application/vnd.openxmlformats-package.relationships+xml"/>
  <Override PartName="/ppt/theme/_rels/theme3.xml.rels" ContentType="application/vnd.openxmlformats-package.relationships+xml"/>
  <Override PartName="/ppt/theme/_rels/theme2.xml.rels" ContentType="application/vnd.openxmlformats-package.relationships+xml"/>
  <Override PartName="/ppt/theme/_rels/theme11.xml.rels" ContentType="application/vnd.openxmlformats-package.relationships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embeddings/oleObject1.bin" ContentType="application/vnd.openxmlformats-officedocument.oleObject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49F2BD-D082-457F-8C61-29402CB0BD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33A092-E4E8-4E58-93A4-9ACF176599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487435-365F-4625-93EF-C013A2B063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8ADB0DB-B301-4293-8DC0-A42848A2F6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75EB36F-C2B2-45B3-B2D3-94EB6CCCD1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4814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4814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E2D0C9D-F946-4A62-94D0-6C0802A01F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0BA29BC-2129-4522-B0B0-F3E2D74DCF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F832C76-78D4-4065-B729-402D11BCE7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480326D-F04A-49E5-B3BE-038974B8CC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4FE0544-BB45-4A5F-8D8B-6272AC9E7C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FD44BCB-3D6D-4CC9-BB36-24B7BDD915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12 Forma libre" hidden="1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" name="11 Forma libre" hidden="1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" name="13 Triángulo rectángulo" hidden="1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3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4" name="9 Triángulo rectángulo"/>
          <p:cNvSpPr/>
          <p:nvPr/>
        </p:nvSpPr>
        <p:spPr>
          <a:xfrm>
            <a:off x="0" y="4664160"/>
            <a:ext cx="9150840" cy="360"/>
          </a:xfrm>
          <a:prstGeom prst="rtTriangle">
            <a:avLst/>
          </a:prstGeom>
          <a:gradFill rotWithShape="0">
            <a:gsLst>
              <a:gs pos="0">
                <a:srgbClr val="007795"/>
              </a:gs>
              <a:gs pos="55000">
                <a:srgbClr val="4bbade"/>
              </a:gs>
              <a:gs pos="100000">
                <a:srgbClr val="007795"/>
              </a:gs>
            </a:gsLst>
            <a:lin ang="3000000"/>
          </a:grad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-44640" bIns="-44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752480"/>
            <a:ext cx="7772040" cy="182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96685" lnSpcReduction="20000"/>
          </a:bodyPr>
          <a:p>
            <a:pPr indent="0" algn="r">
              <a:lnSpc>
                <a:spcPct val="100000"/>
              </a:lnSpc>
              <a:buNone/>
            </a:pPr>
            <a:r>
              <a:rPr b="1" lang="es-ES" sz="4800" spc="-1" strike="noStrike">
                <a:solidFill>
                  <a:schemeClr val="dk2"/>
                </a:solidFill>
                <a:latin typeface="Lucida Sans Unicode"/>
              </a:rPr>
              <a:t>Haga clic para modificar </a:t>
            </a:r>
            <a:r>
              <a:rPr b="1" lang="es-ES" sz="4800" spc="-1" strike="noStrike">
                <a:solidFill>
                  <a:schemeClr val="dk2"/>
                </a:solidFill>
                <a:latin typeface="Lucida Sans Unicode"/>
              </a:rPr>
              <a:t>el estilo de título del </a:t>
            </a:r>
            <a:r>
              <a:rPr b="1" lang="es-ES" sz="4800" spc="-1" strike="noStrike">
                <a:solidFill>
                  <a:schemeClr val="dk2"/>
                </a:solidFill>
                <a:latin typeface="Lucida Sans Unicode"/>
              </a:rPr>
              <a:t>patrón</a:t>
            </a:r>
            <a:endParaRPr b="0" lang="es-ES" sz="4800" spc="-1" strike="noStrike">
              <a:solidFill>
                <a:schemeClr val="dk1"/>
              </a:solidFill>
              <a:latin typeface="Lucida Sans Unicode"/>
            </a:endParaRPr>
          </a:p>
        </p:txBody>
      </p:sp>
      <p:grpSp>
        <p:nvGrpSpPr>
          <p:cNvPr id="6" name="1 Grupo"/>
          <p:cNvGrpSpPr/>
          <p:nvPr/>
        </p:nvGrpSpPr>
        <p:grpSpPr>
          <a:xfrm>
            <a:off x="-3600" y="4952880"/>
            <a:ext cx="9147600" cy="1911960"/>
            <a:chOff x="-3600" y="4952880"/>
            <a:chExt cx="9147600" cy="1911960"/>
          </a:xfrm>
        </p:grpSpPr>
        <p:sp>
          <p:nvSpPr>
            <p:cNvPr id="7" name="6 Forma libre"/>
            <p:cNvSpPr/>
            <p:nvPr/>
          </p:nvSpPr>
          <p:spPr>
            <a:xfrm>
              <a:off x="1687680" y="4952880"/>
              <a:ext cx="7455960" cy="487800"/>
            </a:xfrm>
            <a:custGeom>
              <a:avLst/>
              <a:gdLst/>
              <a:ahLst/>
              <a:rect l="l" t="t" r="r" b="b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Lucida Sans Unicode"/>
              </a:endParaRPr>
            </a:p>
          </p:txBody>
        </p:sp>
        <p:sp>
          <p:nvSpPr>
            <p:cNvPr id="8" name="7 Forma libre"/>
            <p:cNvSpPr/>
            <p:nvPr/>
          </p:nvSpPr>
          <p:spPr>
            <a:xfrm>
              <a:off x="35280" y="5237640"/>
              <a:ext cx="9108360" cy="788400"/>
            </a:xfrm>
            <a:custGeom>
              <a:avLst/>
              <a:gdLst/>
              <a:ahLst/>
              <a:rect l="l" t="t" r="r" b="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Lucida Sans Unicode"/>
              </a:endParaRPr>
            </a:p>
          </p:txBody>
        </p:sp>
        <p:sp>
          <p:nvSpPr>
            <p:cNvPr id="9" name="10 Forma libre"/>
            <p:cNvSpPr/>
            <p:nvPr/>
          </p:nvSpPr>
          <p:spPr>
            <a:xfrm>
              <a:off x="0" y="5001120"/>
              <a:ext cx="9143640" cy="1863720"/>
            </a:xfrm>
            <a:custGeom>
              <a:avLst/>
              <a:gdLst/>
              <a:ahLst/>
              <a:rect l="l" t="t" r="r" b="b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>
                <a:alphaModFix amt="50000"/>
              </a:blip>
              <a:srcRect/>
              <a:tile tx="0" ty="0" sx="50000" sy="50000" algn="t"/>
            </a:blipFill>
            <a:ln w="12700">
              <a:noFill/>
            </a:ln>
            <a:effectLst>
              <a:outerShdw blurRad="50760" dir="5400000" dist="38160" rotWithShape="0">
                <a:srgbClr val="000000">
                  <a:alpha val="35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Lucida Sans Unicode"/>
              </a:endParaRPr>
            </a:p>
          </p:txBody>
        </p:sp>
        <p:cxnSp>
          <p:nvCxnSpPr>
            <p:cNvPr id="10" name="11 Conector recto"/>
            <p:cNvCxnSpPr/>
            <p:nvPr/>
          </p:nvCxnSpPr>
          <p:spPr>
            <a:xfrm>
              <a:off x="-3600" y="4997520"/>
              <a:ext cx="9147960" cy="790560"/>
            </a:xfrm>
            <a:prstGeom prst="straightConnector1">
              <a:avLst/>
            </a:prstGeom>
            <a:ln w="12065">
              <a:solidFill>
                <a:srgbClr val="196f85"/>
              </a:solidFill>
              <a:miter/>
            </a:ln>
          </p:spPr>
        </p:cxnSp>
      </p:grpSp>
      <p:sp>
        <p:nvSpPr>
          <p:cNvPr id="11" name="PlaceHolder 2"/>
          <p:cNvSpPr>
            <a:spLocks noGrp="1"/>
          </p:cNvSpPr>
          <p:nvPr>
            <p:ph type="dt" idx="1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E47B44-9249-4247-855C-FC0EFC2081A4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Pulse para editar el formato de texto del esquema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Segundo nivel del esquema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900" spc="-1" strike="noStrike">
                <a:solidFill>
                  <a:schemeClr val="dk1"/>
                </a:solidFill>
                <a:latin typeface="Lucida Sans Unicode"/>
              </a:rPr>
              <a:t>Tercer nivel del esquema</a:t>
            </a:r>
            <a:endParaRPr b="0" lang="es-ES" sz="19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Cuarto nivel del esquema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2 Forma libre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8" name="11 Forma libre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9" name="13 Triángulo rectángulo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20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s-ES" sz="4100" spc="-1" strike="noStrike">
                <a:solidFill>
                  <a:schemeClr val="dk2"/>
                </a:solidFill>
                <a:latin typeface="Lucida Sans Unicode"/>
              </a:rPr>
              <a:t>Haga clic para modificar el </a:t>
            </a:r>
            <a:r>
              <a:rPr b="1" lang="es-ES" sz="4100" spc="-1" strike="noStrike">
                <a:solidFill>
                  <a:schemeClr val="dk2"/>
                </a:solidFill>
                <a:latin typeface="Lucida Sans Unicode"/>
              </a:rPr>
              <a:t>estilo de título del patrón</a:t>
            </a:r>
            <a:endParaRPr b="0" lang="es-ES" sz="41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481400"/>
            <a:ext cx="8229240" cy="438588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s-ES" sz="2300" spc="-1" strike="noStrike">
                <a:solidFill>
                  <a:schemeClr val="dk1"/>
                </a:solidFill>
                <a:latin typeface="Lucida Sans Unicode"/>
              </a:rPr>
              <a:t>Segundo nivel</a:t>
            </a:r>
            <a:endParaRPr b="0" lang="es-ES" sz="23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Tercer nivel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900" spc="-1" strike="noStrike">
                <a:solidFill>
                  <a:schemeClr val="dk1"/>
                </a:solidFill>
                <a:latin typeface="Lucida Sans Unicode"/>
              </a:rPr>
              <a:t>Cuarto nivel</a:t>
            </a:r>
            <a:endParaRPr b="0" lang="es-ES" sz="19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Quinto nivel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4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5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6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7C3135-B3F3-4946-BD32-AB85DD34317D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12 Forma libre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7" name="11 Forma libre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8" name="13 Triángulo rectángulo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29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843960" y="274680"/>
            <a:ext cx="1776960" cy="559224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s-ES" sz="4100" spc="-1" strike="noStrike">
                <a:solidFill>
                  <a:schemeClr val="dk2"/>
                </a:solidFill>
                <a:latin typeface="Lucida Sans Unicode"/>
              </a:rPr>
              <a:t>Haga clic para modificar el estilo de título del patrón</a:t>
            </a:r>
            <a:endParaRPr b="0" lang="es-ES" sz="41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324120" cy="559224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s-ES" sz="2300" spc="-1" strike="noStrike">
                <a:solidFill>
                  <a:schemeClr val="dk1"/>
                </a:solidFill>
                <a:latin typeface="Lucida Sans Unicode"/>
              </a:rPr>
              <a:t>Segundo nivel</a:t>
            </a:r>
            <a:endParaRPr b="0" lang="es-ES" sz="23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Tercer nivel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900" spc="-1" strike="noStrike">
                <a:solidFill>
                  <a:schemeClr val="dk1"/>
                </a:solidFill>
                <a:latin typeface="Lucida Sans Unicode"/>
              </a:rPr>
              <a:t>Cuarto nivel</a:t>
            </a:r>
            <a:endParaRPr b="0" lang="es-ES" sz="19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Quinto nivel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7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8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9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3E7514-8FBB-4231-AB84-573BE354B655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12 Forma libre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36" name="11 Forma libre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37" name="13 Triángulo rectángulo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38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s-ES" sz="2300" spc="-1" strike="noStrike">
                <a:solidFill>
                  <a:schemeClr val="dk1"/>
                </a:solidFill>
                <a:latin typeface="Lucida Sans Unicode"/>
              </a:rPr>
              <a:t>Segundo nivel</a:t>
            </a:r>
            <a:endParaRPr b="0" lang="es-ES" sz="23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Tercer nivel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900" spc="-1" strike="noStrike">
                <a:solidFill>
                  <a:schemeClr val="dk1"/>
                </a:solidFill>
                <a:latin typeface="Lucida Sans Unicode"/>
              </a:rPr>
              <a:t>Cuarto nivel</a:t>
            </a:r>
            <a:endParaRPr b="0" lang="es-ES" sz="19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Quinto nivel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10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11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12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B8A28A-1491-461E-B9E4-10189E793C06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s-ES" sz="4100" spc="-1" strike="noStrike">
                <a:solidFill>
                  <a:schemeClr val="dk2"/>
                </a:solidFill>
                <a:latin typeface="Lucida Sans Unicode"/>
              </a:rPr>
              <a:t>Haga clic para modificar el estilo de título del patrón</a:t>
            </a:r>
            <a:endParaRPr b="0" lang="es-ES" sz="41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12 Forma libre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47" name="11 Forma libre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48" name="13 Triángulo rectángulo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49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2520" y="1059840"/>
            <a:ext cx="777204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96685" lnSpcReduction="20000"/>
          </a:bodyPr>
          <a:p>
            <a:pPr indent="0" algn="r">
              <a:lnSpc>
                <a:spcPct val="100000"/>
              </a:lnSpc>
              <a:buNone/>
            </a:pPr>
            <a:r>
              <a:rPr b="1" lang="es-ES" sz="4800" spc="-1" strike="noStrike">
                <a:solidFill>
                  <a:schemeClr val="dk2"/>
                </a:solidFill>
                <a:latin typeface="Lucida Sans Unicode"/>
              </a:rPr>
              <a:t>Haga clic para modificar el estilo de título del patrón</a:t>
            </a:r>
            <a:endParaRPr b="0" lang="es-ES" sz="4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922560" y="2931840"/>
            <a:ext cx="4571640" cy="145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3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23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13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14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15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E5FB20-739A-4448-9FB9-58171FA919CA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6 Cheurón"/>
          <p:cNvSpPr/>
          <p:nvPr/>
        </p:nvSpPr>
        <p:spPr>
          <a:xfrm>
            <a:off x="3636720" y="3005640"/>
            <a:ext cx="182520" cy="228240"/>
          </a:xfrm>
          <a:prstGeom prst="chevron">
            <a:avLst>
              <a:gd name="adj" fmla="val 50000"/>
            </a:avLst>
          </a:prstGeom>
          <a:gradFill rotWithShape="0">
            <a:gsLst>
              <a:gs pos="0">
                <a:srgbClr val="168aa7"/>
              </a:gs>
              <a:gs pos="72000">
                <a:srgbClr val="51b7d9"/>
              </a:gs>
              <a:gs pos="100000">
                <a:srgbClr val="80c2dc"/>
              </a:gs>
            </a:gsLst>
            <a:lin ang="16200000"/>
          </a:gradFill>
          <a:ln cap="rnd" w="3175">
            <a:solidFill>
              <a:srgbClr val="2da2bf">
                <a:shade val="50000"/>
              </a:srgbClr>
            </a:solidFill>
            <a:round/>
          </a:ln>
          <a:effectLst>
            <a:outerShdw blurRad="50760" dir="5400000" dist="2556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sp>
        <p:nvSpPr>
          <p:cNvPr id="56" name="7 Cheurón"/>
          <p:cNvSpPr/>
          <p:nvPr/>
        </p:nvSpPr>
        <p:spPr>
          <a:xfrm>
            <a:off x="3450240" y="3005640"/>
            <a:ext cx="182520" cy="228240"/>
          </a:xfrm>
          <a:prstGeom prst="chevron">
            <a:avLst>
              <a:gd name="adj" fmla="val 50000"/>
            </a:avLst>
          </a:prstGeom>
          <a:gradFill rotWithShape="0">
            <a:gsLst>
              <a:gs pos="0">
                <a:srgbClr val="168aa7"/>
              </a:gs>
              <a:gs pos="72000">
                <a:srgbClr val="51b7d9"/>
              </a:gs>
              <a:gs pos="100000">
                <a:srgbClr val="80c2dc"/>
              </a:gs>
            </a:gsLst>
            <a:lin ang="16200000"/>
          </a:gradFill>
          <a:ln cap="rnd" w="3175">
            <a:solidFill>
              <a:srgbClr val="2da2bf">
                <a:shade val="50000"/>
              </a:srgbClr>
            </a:solidFill>
            <a:round/>
          </a:ln>
          <a:effectLst>
            <a:outerShdw blurRad="50760" dir="5400000" dist="2556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12 Forma libre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58" name="11 Forma libre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59" name="13 Triángulo rectángulo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60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61" name="PlaceHolder 1"/>
          <p:cNvSpPr>
            <a:spLocks noGrp="1"/>
          </p:cNvSpPr>
          <p:nvPr>
            <p:ph type="body"/>
          </p:nvPr>
        </p:nvSpPr>
        <p:spPr>
          <a:xfrm>
            <a:off x="457200" y="14814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Segundo nivel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Tercer nivel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Cuarto nivel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Quinto nivel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648320" y="14814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Segundo nivel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Tercer nivel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Cuarto nivel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Quinto nivel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16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17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8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98B736-0969-4F34-8583-D845E7CD090C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s-ES" sz="4100" spc="-1" strike="noStrike">
                <a:solidFill>
                  <a:schemeClr val="dk2"/>
                </a:solidFill>
                <a:latin typeface="Lucida Sans Unicode"/>
              </a:rPr>
              <a:t>Haga clic para modificar el estilo de título del patrón</a:t>
            </a:r>
            <a:endParaRPr b="0" lang="es-ES" sz="41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12 Forma libre" hidden="1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71" name="11 Forma libre" hidden="1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72" name="13 Triángulo rectángulo" hidden="1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73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s-ES" sz="4100" spc="-1" strike="noStrike">
                <a:solidFill>
                  <a:schemeClr val="dk2"/>
                </a:solidFill>
                <a:latin typeface="Lucida Sans Unicode"/>
              </a:rPr>
              <a:t>Haga clic para modificar el estilo de título del patrón</a:t>
            </a:r>
            <a:endParaRPr b="0" lang="es-ES" sz="41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5410080"/>
            <a:ext cx="4039920" cy="761760"/>
          </a:xfrm>
          <a:prstGeom prst="rect">
            <a:avLst/>
          </a:prstGeom>
          <a:solidFill>
            <a:schemeClr val="accent1"/>
          </a:solidFill>
          <a:ln w="9720">
            <a:solidFill>
              <a:schemeClr val="accent1"/>
            </a:solidFill>
            <a:miter/>
          </a:ln>
        </p:spPr>
        <p:txBody>
          <a:bodyPr lIns="182880" rIns="90000" tIns="45000" bIns="45000" anchor="ctr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lt1"/>
                </a:solidFill>
                <a:latin typeface="Lucida Sans Unicode"/>
              </a:rPr>
              <a:t>Haga clic para modificar el estilo de texto del patrón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45080" y="5410080"/>
            <a:ext cx="4041360" cy="761760"/>
          </a:xfrm>
          <a:prstGeom prst="rect">
            <a:avLst/>
          </a:prstGeom>
          <a:solidFill>
            <a:schemeClr val="accent1"/>
          </a:solidFill>
          <a:ln w="9720">
            <a:solidFill>
              <a:schemeClr val="accent1"/>
            </a:solidFill>
            <a:miter/>
          </a:ln>
        </p:spPr>
        <p:txBody>
          <a:bodyPr lIns="182880" rIns="90000" tIns="45000" bIns="45000" anchor="ctr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lt1"/>
                </a:solidFill>
                <a:latin typeface="Lucida Sans Unicode"/>
              </a:rPr>
              <a:t>Haga clic para modificar el estilo de texto del patrón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57200" y="1444320"/>
            <a:ext cx="4039920" cy="394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Segundo nivel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Tercer nivel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600" spc="-1" strike="noStrike">
                <a:solidFill>
                  <a:schemeClr val="dk1"/>
                </a:solidFill>
                <a:latin typeface="Lucida Sans Unicode"/>
              </a:rPr>
              <a:t>Cuarto nivel</a:t>
            </a: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600" spc="-1" strike="noStrike">
                <a:solidFill>
                  <a:schemeClr val="dk1"/>
                </a:solidFill>
                <a:latin typeface="Lucida Sans Unicode"/>
              </a:rPr>
              <a:t>Quinto nivel</a:t>
            </a: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645080" y="1444320"/>
            <a:ext cx="4041360" cy="394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Segundo nivel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Tercer nivel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600" spc="-1" strike="noStrike">
                <a:solidFill>
                  <a:schemeClr val="dk1"/>
                </a:solidFill>
                <a:latin typeface="Lucida Sans Unicode"/>
              </a:rPr>
              <a:t>Cuarto nivel</a:t>
            </a: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1600" spc="-1" strike="noStrike">
                <a:solidFill>
                  <a:schemeClr val="dk1"/>
                </a:solidFill>
                <a:latin typeface="Lucida Sans Unicode"/>
              </a:rPr>
              <a:t>Quinto nivel</a:t>
            </a: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dt" idx="19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ftr" idx="20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8"/>
          <p:cNvSpPr>
            <a:spLocks noGrp="1"/>
          </p:cNvSpPr>
          <p:nvPr>
            <p:ph type="sldNum" idx="21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60EE93-DBAA-4A94-86A2-303F011705AE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12 Forma libre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83" name="11 Forma libre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84" name="13 Triángulo rectángulo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85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86" name="PlaceHolder 1"/>
          <p:cNvSpPr>
            <a:spLocks noGrp="1"/>
          </p:cNvSpPr>
          <p:nvPr>
            <p:ph type="dt" idx="22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ftr" idx="23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24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61DCD8-B8D9-4A0F-AAA4-3768E9A47851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s-ES" sz="4100" spc="-1" strike="noStrike">
                <a:solidFill>
                  <a:schemeClr val="dk2"/>
                </a:solidFill>
                <a:latin typeface="Lucida Sans Unicode"/>
              </a:rPr>
              <a:t>Haga clic para modificar el estilo de título del patrón</a:t>
            </a:r>
            <a:endParaRPr b="0" lang="es-ES" sz="41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Pulse para editar el formato de texto del esquema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Segundo nivel del esquema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900" spc="-1" strike="noStrike">
                <a:solidFill>
                  <a:schemeClr val="dk1"/>
                </a:solidFill>
                <a:latin typeface="Lucida Sans Unicode"/>
              </a:rPr>
              <a:t>Tercer nivel del esquema</a:t>
            </a:r>
            <a:endParaRPr b="0" lang="es-ES" sz="19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Cuarto nivel del esquema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12 Forma libre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93" name="11 Forma libre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94" name="13 Triángulo rectángulo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95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96" name="PlaceHolder 1"/>
          <p:cNvSpPr>
            <a:spLocks noGrp="1"/>
          </p:cNvSpPr>
          <p:nvPr>
            <p:ph type="dt" idx="25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ftr" idx="26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27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033C8F-8CE8-4A14-A900-1179F1483652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Pulse para editar el formato del texto de título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Pulse para editar el formato de texto del esquema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Segundo nivel del esquema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900" spc="-1" strike="noStrike">
                <a:solidFill>
                  <a:schemeClr val="dk1"/>
                </a:solidFill>
                <a:latin typeface="Lucida Sans Unicode"/>
              </a:rPr>
              <a:t>Tercer nivel del esquema</a:t>
            </a:r>
            <a:endParaRPr b="0" lang="es-ES" sz="19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Cuarto nivel del esquema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12 Forma libre" hidden="1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02" name="11 Forma libre" hidden="1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03" name="13 Triángulo rectángulo" hidden="1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104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4400" y="4876920"/>
            <a:ext cx="7481520" cy="45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es-ES" sz="2500" spc="-1" strike="noStrike">
                <a:solidFill>
                  <a:schemeClr val="accent1"/>
                </a:solidFill>
                <a:latin typeface="Lucida Sans Unicode"/>
              </a:rPr>
              <a:t>Haga clic para modificar el estilo de título del patrón</a:t>
            </a:r>
            <a:endParaRPr b="0" lang="es-ES" sz="25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419720" y="5355000"/>
            <a:ext cx="3974400" cy="91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914400" y="274320"/>
            <a:ext cx="7479360" cy="45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32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3200" spc="-1" strike="noStrike">
              <a:solidFill>
                <a:schemeClr val="dk1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Segundo nivel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Tercer nivel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Cuarto nivel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Quinto nivel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28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ftr" idx="29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sldNum" idx="30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44E828-2EF0-406C-ABE2-2B8922E13EDD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12 Forma libre" hidden="1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12" name="11 Forma libre" hidden="1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13" name="13 Triángulo rectángulo" hidden="1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114" name="14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115" name="PlaceHolder 1"/>
          <p:cNvSpPr>
            <a:spLocks noGrp="1"/>
          </p:cNvSpPr>
          <p:nvPr>
            <p:ph type="body"/>
          </p:nvPr>
        </p:nvSpPr>
        <p:spPr>
          <a:xfrm>
            <a:off x="1141200" y="5443560"/>
            <a:ext cx="7162560" cy="64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000" anchor="t">
            <a:noAutofit/>
          </a:bodyPr>
          <a:p>
            <a:pPr indent="0" algn="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chemeClr val="dk1"/>
                </a:solidFill>
                <a:latin typeface="Lucida Sans Unicode"/>
              </a:rPr>
              <a:t>Haga clic para modificar el estilo de texto del patrón</a:t>
            </a:r>
            <a:endParaRPr b="0" lang="es-ES" sz="14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228600" y="190080"/>
            <a:ext cx="8686440" cy="4388760"/>
          </a:xfrm>
          <a:prstGeom prst="rect">
            <a:avLst/>
          </a:prstGeom>
          <a:solidFill>
            <a:schemeClr val="lt2"/>
          </a:solidFill>
          <a:ln w="0">
            <a:solidFill>
              <a:schemeClr val="lt1"/>
            </a:solidFill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chemeClr val="dk1"/>
                </a:solidFill>
                <a:latin typeface="Lucida Sans Unicode"/>
              </a:rPr>
              <a:t>Haga clic en el icono para agregar una imagen</a:t>
            </a:r>
            <a:endParaRPr b="0" lang="es-ES" sz="32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31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&lt;fecha/hora&gt;</a:t>
            </a:r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ftr" idx="32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sldNum" idx="33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000" spc="-1" strike="noStrike">
                <a:solidFill>
                  <a:schemeClr val="dk1"/>
                </a:solidFill>
                <a:latin typeface="Lucida Sans Unicod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9C1673-7A7E-4495-B491-DBCCD2D0329D}" type="slidenum">
              <a:rPr b="0" lang="es-ES" sz="1000" spc="-1" strike="noStrike">
                <a:solidFill>
                  <a:schemeClr val="dk1"/>
                </a:solidFill>
                <a:latin typeface="Lucida Sans Unicode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title"/>
          </p:nvPr>
        </p:nvSpPr>
        <p:spPr>
          <a:xfrm>
            <a:off x="228600" y="4865040"/>
            <a:ext cx="8075160" cy="56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es-ES" sz="3000" spc="-1" strike="noStrike">
                <a:solidFill>
                  <a:schemeClr val="accent1"/>
                </a:solidFill>
                <a:latin typeface="Lucida Sans Unicode"/>
              </a:rPr>
              <a:t>Haga clic para modificar el estilo de título del patrón</a:t>
            </a:r>
            <a:endParaRPr b="0" lang="es-ES" sz="30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21" name="7 Forma libre"/>
          <p:cNvSpPr/>
          <p:nvPr/>
        </p:nvSpPr>
        <p:spPr>
          <a:xfrm>
            <a:off x="499320" y="5945040"/>
            <a:ext cx="4940280" cy="920880"/>
          </a:xfrm>
          <a:custGeom>
            <a:avLst/>
            <a:gdLst/>
            <a:ah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22" name="8 Forma libre"/>
          <p:cNvSpPr/>
          <p:nvPr/>
        </p:nvSpPr>
        <p:spPr>
          <a:xfrm>
            <a:off x="485640" y="5938920"/>
            <a:ext cx="3690000" cy="933120"/>
          </a:xfrm>
          <a:custGeom>
            <a:avLst/>
            <a:gdLst/>
            <a:ah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23" name="9 Triángulo rectángulo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3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124" name="10 Conector recto"/>
          <p:cNvCxnSpPr/>
          <p:nvPr/>
        </p:nvCxnSpPr>
        <p:spPr>
          <a:xfrm>
            <a:off x="-9000" y="5787720"/>
            <a:ext cx="340560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125" name="11 Cheurón"/>
          <p:cNvSpPr/>
          <p:nvPr/>
        </p:nvSpPr>
        <p:spPr>
          <a:xfrm>
            <a:off x="8664120" y="4988520"/>
            <a:ext cx="182520" cy="228240"/>
          </a:xfrm>
          <a:prstGeom prst="chevron">
            <a:avLst>
              <a:gd name="adj" fmla="val 50000"/>
            </a:avLst>
          </a:prstGeom>
          <a:gradFill rotWithShape="0">
            <a:gsLst>
              <a:gs pos="0">
                <a:srgbClr val="168aa7"/>
              </a:gs>
              <a:gs pos="72000">
                <a:srgbClr val="51b7d9"/>
              </a:gs>
              <a:gs pos="100000">
                <a:srgbClr val="80c2dc"/>
              </a:gs>
            </a:gsLst>
            <a:lin ang="16200000"/>
          </a:gradFill>
          <a:ln cap="rnd" w="3175">
            <a:solidFill>
              <a:srgbClr val="2da2bf">
                <a:shade val="50000"/>
              </a:srgbClr>
            </a:solidFill>
            <a:round/>
          </a:ln>
          <a:effectLst>
            <a:outerShdw blurRad="50760" dir="5400000" dist="2556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sp>
        <p:nvSpPr>
          <p:cNvPr id="126" name="12 Cheurón"/>
          <p:cNvSpPr/>
          <p:nvPr/>
        </p:nvSpPr>
        <p:spPr>
          <a:xfrm>
            <a:off x="8477640" y="4988520"/>
            <a:ext cx="182520" cy="228240"/>
          </a:xfrm>
          <a:prstGeom prst="chevron">
            <a:avLst>
              <a:gd name="adj" fmla="val 50000"/>
            </a:avLst>
          </a:prstGeom>
          <a:gradFill rotWithShape="0">
            <a:gsLst>
              <a:gs pos="0">
                <a:srgbClr val="168aa7"/>
              </a:gs>
              <a:gs pos="72000">
                <a:srgbClr val="51b7d9"/>
              </a:gs>
              <a:gs pos="100000">
                <a:srgbClr val="80c2dc"/>
              </a:gs>
            </a:gsLst>
            <a:lin ang="16200000"/>
          </a:gradFill>
          <a:ln cap="rnd" w="3175">
            <a:solidFill>
              <a:srgbClr val="2da2bf">
                <a:shade val="50000"/>
              </a:srgbClr>
            </a:solidFill>
            <a:round/>
          </a:ln>
          <a:effectLst>
            <a:outerShdw blurRad="50760" dir="5400000" dist="2556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es.wikipedia.org/wiki/Cadena_de_caracteres" TargetMode="External"/><Relationship Id="rId2" Type="http://schemas.openxmlformats.org/officeDocument/2006/relationships/slideLayout" Target="../slideLayouts/slideLayout8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es.wikipedia.org/wiki/PHP" TargetMode="External"/><Relationship Id="rId2" Type="http://schemas.openxmlformats.org/officeDocument/2006/relationships/hyperlink" Target="https://es.wikipedia.org/wiki/Perl" TargetMode="External"/><Relationship Id="rId3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14240" y="2214720"/>
            <a:ext cx="7772040" cy="64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ES" sz="3200" spc="-1" strike="noStrike">
                <a:solidFill>
                  <a:schemeClr val="dk2"/>
                </a:solidFill>
                <a:latin typeface="Lucida Sans Unicode"/>
              </a:rPr>
              <a:t>Universidad Nacional de La Rioja</a:t>
            </a:r>
            <a:endParaRPr b="0" lang="es-ES" sz="32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642960" y="3071880"/>
            <a:ext cx="8000640" cy="1752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000" bIns="45000" anchor="t">
            <a:normAutofit fontScale="84029"/>
          </a:bodyPr>
          <a:p>
            <a:pPr indent="0">
              <a:lnSpc>
                <a:spcPct val="15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700" spc="-1" strike="noStrike">
                <a:solidFill>
                  <a:schemeClr val="dk2">
                    <a:lumMod val="75000"/>
                  </a:schemeClr>
                </a:solidFill>
                <a:latin typeface="Lucida Sans Unicode"/>
              </a:rPr>
              <a:t>Carrera: </a:t>
            </a:r>
            <a:r>
              <a:rPr b="0" lang="es-ES" sz="1900" spc="-1" strike="noStrike">
                <a:solidFill>
                  <a:schemeClr val="dk2"/>
                </a:solidFill>
                <a:latin typeface="Lucida Sans Unicode"/>
              </a:rPr>
              <a:t>Licenciatura e Ingeniería en Sistemas de Información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700" spc="-1" strike="noStrike">
                <a:solidFill>
                  <a:schemeClr val="dk2">
                    <a:lumMod val="75000"/>
                  </a:schemeClr>
                </a:solidFill>
                <a:latin typeface="Lucida Sans Unicode"/>
              </a:rPr>
              <a:t>Asignatura: </a:t>
            </a:r>
            <a:r>
              <a:rPr b="0" lang="es-ES" sz="2700" spc="-1" strike="noStrike">
                <a:solidFill>
                  <a:schemeClr val="dk2"/>
                </a:solidFill>
                <a:latin typeface="Lucida Sans Unicode"/>
              </a:rPr>
              <a:t>Computación I- Computación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700" spc="-1" strike="noStrike">
                <a:solidFill>
                  <a:schemeClr val="dk2">
                    <a:lumMod val="75000"/>
                  </a:schemeClr>
                </a:solidFill>
                <a:latin typeface="Lucida Sans Unicode"/>
              </a:rPr>
              <a:t>Tema: </a:t>
            </a:r>
            <a:r>
              <a:rPr b="0" lang="es-ES" sz="2700" spc="-1" strike="noStrike">
                <a:solidFill>
                  <a:schemeClr val="dk2"/>
                </a:solidFill>
                <a:latin typeface="Lucida Sans Unicode"/>
              </a:rPr>
              <a:t>Lenguajes Formales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2"/>
          <p:cNvSpPr/>
          <p:nvPr/>
        </p:nvSpPr>
        <p:spPr>
          <a:xfrm>
            <a:off x="0" y="0"/>
            <a:ext cx="9143640" cy="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tIns="360" bIns="360" anchor="ctr">
            <a:sp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</p:txBody>
      </p:sp>
      <p:graphicFrame>
        <p:nvGraphicFramePr>
          <p:cNvPr id="130" name="Object 1"/>
          <p:cNvGraphicFramePr/>
          <p:nvPr/>
        </p:nvGraphicFramePr>
        <p:xfrm>
          <a:off x="3786120" y="571320"/>
          <a:ext cx="1356840" cy="1428480"/>
        </p:xfrm>
        <a:graphic>
          <a:graphicData uri="http://schemas.openxmlformats.org/presentationml/2006/ole">
            <p:oleObj progId="Word.Picture.8" r:id="rId1" spid="">
              <p:embed/>
              <p:pic>
                <p:nvPicPr>
                  <p:cNvPr id="131" name="Object 1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786120" y="571320"/>
                    <a:ext cx="1356840" cy="14284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chemeClr val="dk1"/>
                </a:solidFill>
                <a:latin typeface="Lucida Sans Unicode"/>
              </a:rPr>
              <a:t>Es una ciencia que estudia los modelos de computación, 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esta se basa en otros campos científicos, los principales eslabones son: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1" i="1" lang="es-ES" sz="2400" spc="-1" strike="noStrike">
                <a:solidFill>
                  <a:schemeClr val="dk1"/>
                </a:solidFill>
                <a:latin typeface="Lucida Sans Unicode"/>
              </a:rPr>
              <a:t>La matemática 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(Lógica matemática, teoría de grafos, Algebra matricial, algebra relacional, Teoría de conjunto).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1" i="1" lang="es-ES" sz="2400" spc="-1" strike="noStrike">
                <a:solidFill>
                  <a:schemeClr val="dk1"/>
                </a:solidFill>
                <a:latin typeface="Lucida Sans Unicode"/>
              </a:rPr>
              <a:t>Electrónica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 (Máquinas Secuenciales y autómatas)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1" i="1" lang="es-ES" sz="2400" spc="-1" strike="noStrike">
                <a:solidFill>
                  <a:schemeClr val="dk1"/>
                </a:solidFill>
                <a:latin typeface="Lucida Sans Unicode"/>
              </a:rPr>
              <a:t>Lingüística 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(Lenguajes Formales y Expresiones Regulares)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ES" sz="3600" spc="-1" strike="noStrike">
                <a:solidFill>
                  <a:srgbClr val="c00000"/>
                </a:solidFill>
                <a:latin typeface="Lucida Sans Unicode"/>
              </a:rPr>
              <a:t>Ciencia de la computación o Informática Teórica</a:t>
            </a: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84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MX" sz="3600" spc="-1" strike="noStrike">
                <a:solidFill>
                  <a:schemeClr val="dk2"/>
                </a:solidFill>
                <a:latin typeface="Lucida Sans Unicode"/>
              </a:rPr>
              <a:t>Ciencia de la computación</a:t>
            </a: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</p:txBody>
      </p:sp>
      <p:graphicFrame>
        <p:nvGraphicFramePr>
          <p:cNvPr id="136" name="Tabla 4"/>
          <p:cNvGraphicFramePr/>
          <p:nvPr/>
        </p:nvGraphicFramePr>
        <p:xfrm>
          <a:off x="1523880" y="2587680"/>
          <a:ext cx="6095520" cy="2825640"/>
        </p:xfrm>
        <a:graphic>
          <a:graphicData uri="http://schemas.openxmlformats.org/drawingml/2006/table">
            <a:tbl>
              <a:tblPr/>
              <a:tblGrid>
                <a:gridCol w="3047760"/>
                <a:gridCol w="3047760"/>
              </a:tblGrid>
              <a:tr h="739440">
                <a:tc gridSpan="2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endParaRPr b="0" lang="es-E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s-MX" sz="2200" spc="-1" strike="noStrike">
                          <a:solidFill>
                            <a:schemeClr val="lt1"/>
                          </a:solidFill>
                          <a:latin typeface="Lucida Sans Unicode"/>
                        </a:rPr>
                        <a:t>Teoría de la Computación</a:t>
                      </a:r>
                      <a:endParaRPr b="0" lang="es-E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s-MX" sz="2200" spc="-1" strike="noStrike">
                          <a:solidFill>
                            <a:schemeClr val="lt1"/>
                          </a:solidFill>
                          <a:latin typeface="Lucida Sans Unicode"/>
                        </a:rPr>
                        <a:t>(computabilidad y complejidad)</a:t>
                      </a:r>
                      <a:endParaRPr b="0" lang="es-E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b="0" lang="es-E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276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endParaRPr b="0" lang="es-E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MX" sz="2200" spc="-1" strike="noStrike">
                          <a:solidFill>
                            <a:schemeClr val="dk1"/>
                          </a:solidFill>
                          <a:latin typeface="Lucida Sans Unicode"/>
                        </a:rPr>
                        <a:t>Teoría de</a:t>
                      </a:r>
                      <a:endParaRPr b="0" lang="es-E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MX" sz="2200" spc="-1" strike="noStrike">
                          <a:solidFill>
                            <a:schemeClr val="dk1"/>
                          </a:solidFill>
                          <a:latin typeface="Lucida Sans Unicode"/>
                        </a:rPr>
                        <a:t> </a:t>
                      </a:r>
                      <a:r>
                        <a:rPr b="0" lang="es-MX" sz="2200" spc="-1" strike="noStrike">
                          <a:solidFill>
                            <a:schemeClr val="dk1"/>
                          </a:solidFill>
                          <a:latin typeface="Lucida Sans Unicode"/>
                        </a:rPr>
                        <a:t>Lenguajes Formales</a:t>
                      </a:r>
                      <a:endParaRPr b="0" lang="es-E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endParaRPr b="0" lang="es-E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MX" sz="2200" spc="-1" strike="noStrike">
                          <a:solidFill>
                            <a:schemeClr val="dk1"/>
                          </a:solidFill>
                          <a:latin typeface="Lucida Sans Unicode"/>
                        </a:rPr>
                        <a:t>Teoría de</a:t>
                      </a:r>
                      <a:endParaRPr b="0" lang="es-E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MX" sz="2200" spc="-1" strike="noStrike">
                          <a:solidFill>
                            <a:schemeClr val="dk1"/>
                          </a:solidFill>
                          <a:latin typeface="Lucida Sans Unicode"/>
                        </a:rPr>
                        <a:t> </a:t>
                      </a:r>
                      <a:r>
                        <a:rPr b="0" lang="es-MX" sz="2200" spc="-1" strike="noStrike">
                          <a:solidFill>
                            <a:schemeClr val="dk1"/>
                          </a:solidFill>
                          <a:latin typeface="Lucida Sans Unicode"/>
                        </a:rPr>
                        <a:t>Autómatas</a:t>
                      </a:r>
                      <a:endParaRPr b="0" lang="es-E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7" name="CuadroTexto 5"/>
          <p:cNvSpPr/>
          <p:nvPr/>
        </p:nvSpPr>
        <p:spPr>
          <a:xfrm>
            <a:off x="899640" y="1628640"/>
            <a:ext cx="6408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MX" sz="2400" spc="-1" strike="noStrike">
                <a:solidFill>
                  <a:schemeClr val="dk1"/>
                </a:solidFill>
                <a:latin typeface="Lucida Sans Unicode"/>
              </a:rPr>
              <a:t>Está compuesta por varias teorías: 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/>
          </p:nvPr>
        </p:nvSpPr>
        <p:spPr>
          <a:xfrm>
            <a:off x="50760" y="540000"/>
            <a:ext cx="8229240" cy="489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4029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MX" sz="2700" spc="-1" strike="noStrike">
                <a:solidFill>
                  <a:schemeClr val="dk1"/>
                </a:solidFill>
                <a:latin typeface="Lucida Sans Unicode"/>
              </a:rPr>
              <a:t>Teoría de la computación: estudio de la computabilidad </a:t>
            </a:r>
            <a:r>
              <a:rPr b="0" lang="es-MX" sz="2200" spc="-1" strike="noStrike">
                <a:solidFill>
                  <a:schemeClr val="dk1"/>
                </a:solidFill>
                <a:latin typeface="Lucida Sans Unicode"/>
              </a:rPr>
              <a:t>(¿Qué puede hacer una computadora?)</a:t>
            </a:r>
            <a:r>
              <a:rPr b="0" lang="es-MX" sz="2700" spc="-1" strike="noStrike">
                <a:solidFill>
                  <a:schemeClr val="dk1"/>
                </a:solidFill>
                <a:latin typeface="Lucida Sans Unicode"/>
              </a:rPr>
              <a:t>y la complejidad</a:t>
            </a:r>
            <a:r>
              <a:rPr b="0" lang="es-MX" sz="2800" spc="-1" strike="noStrike">
                <a:solidFill>
                  <a:schemeClr val="dk1"/>
                </a:solidFill>
                <a:latin typeface="Lucida Sans Unicode"/>
              </a:rPr>
              <a:t> </a:t>
            </a:r>
            <a:r>
              <a:rPr b="0" lang="es-MX" sz="2200" spc="-1" strike="noStrike">
                <a:solidFill>
                  <a:schemeClr val="dk1"/>
                </a:solidFill>
                <a:latin typeface="Lucida Sans Unicode"/>
              </a:rPr>
              <a:t>(especifica el grado de dificultad para resolver un problema)</a:t>
            </a:r>
            <a:endParaRPr b="0" lang="es-ES" sz="22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2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2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MX" sz="2700" spc="-1" strike="noStrike">
                <a:solidFill>
                  <a:schemeClr val="dk1"/>
                </a:solidFill>
                <a:latin typeface="Lucida Sans Unicode"/>
              </a:rPr>
              <a:t>Teoría de Autómatas (Estudio de máquinas de computación abstractas</a:t>
            </a:r>
            <a:r>
              <a:rPr b="0" lang="es-MX" sz="2200" spc="-1" strike="noStrike">
                <a:solidFill>
                  <a:schemeClr val="dk1"/>
                </a:solidFill>
                <a:latin typeface="Lucida Sans Unicode"/>
              </a:rPr>
              <a:t>).(¿Qué es una computadora?)</a:t>
            </a:r>
            <a:endParaRPr b="0" lang="es-ES" sz="22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2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MX" sz="2700" spc="-1" strike="noStrike">
                <a:solidFill>
                  <a:schemeClr val="dk1"/>
                </a:solidFill>
                <a:latin typeface="Lucida Sans Unicode"/>
              </a:rPr>
              <a:t>Teoría de Lenguajes Formales: (estudio y formalización de las gramáticas).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MX" sz="2800" spc="-1" strike="noStrike">
                <a:solidFill>
                  <a:schemeClr val="dk1"/>
                </a:solidFill>
                <a:latin typeface="Lucida Sans Unicode"/>
              </a:rPr>
              <a:t>* </a:t>
            </a:r>
            <a:r>
              <a:rPr b="0" lang="es-MX" sz="1600" spc="-1" strike="noStrike">
                <a:solidFill>
                  <a:schemeClr val="dk1"/>
                </a:solidFill>
                <a:latin typeface="Lucida Sans Unicode"/>
              </a:rPr>
              <a:t>La computabilidad, estudio y determinación de la clase de problemas que pueden ser resueltos en una máquina de Turing.</a:t>
            </a: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MX" sz="1600" spc="-1" strike="noStrike">
                <a:solidFill>
                  <a:schemeClr val="dk1"/>
                </a:solidFill>
                <a:latin typeface="Lucida Sans Unicode"/>
              </a:rPr>
              <a:t>*La complejidad, estudio de la cantidad de tiempo y de espacio en memoria que toma la ejecución de un cómputo dado.</a:t>
            </a: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48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49769"/>
          </a:bodyPr>
          <a:p>
            <a:pPr indent="0">
              <a:lnSpc>
                <a:spcPct val="100000"/>
              </a:lnSpc>
              <a:buNone/>
            </a:pPr>
            <a:r>
              <a:rPr b="1" lang="es-MX" sz="100" spc="-1" strike="noStrike">
                <a:solidFill>
                  <a:schemeClr val="dk2"/>
                </a:solidFill>
                <a:latin typeface="Lucida Sans Unicode"/>
              </a:rPr>
              <a:t>.</a:t>
            </a:r>
            <a:endParaRPr b="0" lang="es-ES" sz="1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/>
          </p:nvPr>
        </p:nvSpPr>
        <p:spPr>
          <a:xfrm>
            <a:off x="457200" y="1481400"/>
            <a:ext cx="8229240" cy="38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700" spc="-1" strike="noStrike">
                <a:solidFill>
                  <a:schemeClr val="dk1"/>
                </a:solidFill>
                <a:latin typeface="Lucida Sans Unicode"/>
              </a:rPr>
              <a:t>¿Qué usamos los </a:t>
            </a:r>
            <a:r>
              <a:rPr b="1" lang="es-ES" sz="2700" spc="-1" strike="noStrike">
                <a:solidFill>
                  <a:srgbClr val="ff0000"/>
                </a:solidFill>
                <a:latin typeface="Lucida Sans Unicode"/>
              </a:rPr>
              <a:t>humanos</a:t>
            </a:r>
            <a:r>
              <a:rPr b="1" lang="es-ES" sz="2700" spc="-1" strike="noStrike">
                <a:solidFill>
                  <a:schemeClr val="dk1"/>
                </a:solidFill>
                <a:latin typeface="Lucida Sans Unicode"/>
              </a:rPr>
              <a:t> para comunicarnos?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Signos orales, escritos, gestuales, mímicos, gráficos.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Estos agrupados y bajo una convención y determinadas reglas constituyen un lenguaje.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2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s-ES" sz="300" spc="-1" strike="noStrike">
                <a:solidFill>
                  <a:schemeClr val="dk2"/>
                </a:solidFill>
                <a:latin typeface="Lucida Sans Unicode"/>
              </a:rPr>
              <a:t>.</a:t>
            </a:r>
            <a:endParaRPr b="0" lang="es-ES" sz="3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/>
          </p:nvPr>
        </p:nvSpPr>
        <p:spPr>
          <a:xfrm>
            <a:off x="2723400" y="2154960"/>
            <a:ext cx="6420240" cy="295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550" lnSpcReduction="10000"/>
          </a:bodyPr>
          <a:p>
            <a:pPr marL="365760" indent="-25596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7030a0"/>
                </a:solidFill>
                <a:latin typeface="Lucida Sans Unicode"/>
              </a:rPr>
              <a:t>      </a:t>
            </a:r>
            <a:r>
              <a:rPr b="1" lang="es-ES" sz="2800" spc="-1" strike="noStrike">
                <a:solidFill>
                  <a:srgbClr val="ff0066"/>
                </a:solidFill>
                <a:latin typeface="Lucida Sans Unicode"/>
              </a:rPr>
              <a:t>Formales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7030a0"/>
                </a:solidFill>
                <a:latin typeface="Lucida Sans Unicode"/>
              </a:rPr>
              <a:t>Semiestructurados      Estructurados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Seudo código             - Lenguajes de Programación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Diagrama de flujo      - Máquinas Secuenciales,                        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                                        </a:t>
            </a: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autómatas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                                     </a:t>
            </a: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- Lenguajes de Matemática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                                     </a:t>
            </a: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- Lenguajes de Lógica</a:t>
            </a:r>
            <a:endParaRPr b="0" lang="es-ES" sz="1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</p:txBody>
      </p:sp>
      <p:cxnSp>
        <p:nvCxnSpPr>
          <p:cNvPr id="143" name="5 Conector recto de flecha"/>
          <p:cNvCxnSpPr/>
          <p:nvPr/>
        </p:nvCxnSpPr>
        <p:spPr>
          <a:xfrm flipH="1">
            <a:off x="4989600" y="2565360"/>
            <a:ext cx="857520" cy="428760"/>
          </a:xfrm>
          <a:prstGeom prst="straightConnector1">
            <a:avLst/>
          </a:prstGeom>
          <a:ln w="38100"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144" name="7 Conector recto de flecha"/>
          <p:cNvCxnSpPr/>
          <p:nvPr/>
        </p:nvCxnSpPr>
        <p:spPr>
          <a:xfrm>
            <a:off x="6372000" y="2592000"/>
            <a:ext cx="643320" cy="500400"/>
          </a:xfrm>
          <a:prstGeom prst="straightConnector1">
            <a:avLst/>
          </a:prstGeom>
          <a:ln w="38100">
            <a:solidFill>
              <a:srgbClr val="2da2bf"/>
            </a:solidFill>
            <a:round/>
            <a:tailEnd len="med" type="arrow" w="med"/>
          </a:ln>
        </p:spPr>
      </p:cxnSp>
      <p:sp>
        <p:nvSpPr>
          <p:cNvPr id="145" name="8 CuadroTexto"/>
          <p:cNvSpPr/>
          <p:nvPr/>
        </p:nvSpPr>
        <p:spPr>
          <a:xfrm>
            <a:off x="223200" y="2154960"/>
            <a:ext cx="2499840" cy="22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3200" spc="-1" strike="noStrike">
                <a:solidFill>
                  <a:srgbClr val="ff0066"/>
                </a:solidFill>
                <a:latin typeface="Lucida Sans Unicode"/>
              </a:rPr>
              <a:t>Naturales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Se usa para la comunicación humana, nacen sin el control de ninguna teoría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 </a:t>
            </a: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Ej. Español, inglés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6" name="11 Conector recto de flecha"/>
          <p:cNvCxnSpPr/>
          <p:nvPr/>
        </p:nvCxnSpPr>
        <p:spPr>
          <a:xfrm flipH="1">
            <a:off x="2267640" y="1630080"/>
            <a:ext cx="1357560" cy="429120"/>
          </a:xfrm>
          <a:prstGeom prst="straightConnector1">
            <a:avLst/>
          </a:prstGeom>
          <a:ln w="57150"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147" name="13 Conector recto de flecha"/>
          <p:cNvCxnSpPr/>
          <p:nvPr/>
        </p:nvCxnSpPr>
        <p:spPr>
          <a:xfrm>
            <a:off x="4703760" y="1677960"/>
            <a:ext cx="1143360" cy="428760"/>
          </a:xfrm>
          <a:prstGeom prst="straightConnector1">
            <a:avLst/>
          </a:prstGeom>
          <a:ln w="38100">
            <a:solidFill>
              <a:srgbClr val="2da2bf"/>
            </a:solidFill>
            <a:round/>
            <a:tailEnd len="med" type="arrow" w="med"/>
          </a:ln>
        </p:spPr>
      </p:cxnSp>
      <p:sp>
        <p:nvSpPr>
          <p:cNvPr id="148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0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24884" lnSpcReduction="10000"/>
          </a:bodyPr>
          <a:p>
            <a:pPr indent="0">
              <a:lnSpc>
                <a:spcPct val="100000"/>
              </a:lnSpc>
              <a:buNone/>
            </a:pPr>
            <a:br>
              <a:rPr sz="2400"/>
            </a:br>
            <a:br>
              <a:rPr sz="2400"/>
            </a:br>
            <a:br>
              <a:rPr sz="2400"/>
            </a:br>
            <a:r>
              <a:rPr b="1" lang="es-MX" sz="2400" spc="-1" strike="noStrike">
                <a:solidFill>
                  <a:schemeClr val="dk2"/>
                </a:solidFill>
                <a:latin typeface="Lucida Sans Unicode"/>
              </a:rPr>
              <a:t>Existen dos tipos básicos y reconocidos de lenguajes:</a:t>
            </a:r>
            <a:br>
              <a:rPr sz="2400"/>
            </a:br>
            <a:br>
              <a:rPr sz="2400"/>
            </a:br>
            <a:br>
              <a:rPr sz="2400"/>
            </a:b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49" name="CuadroTexto 4"/>
          <p:cNvSpPr/>
          <p:nvPr/>
        </p:nvSpPr>
        <p:spPr>
          <a:xfrm>
            <a:off x="2689560" y="1079280"/>
            <a:ext cx="3014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MX" sz="3600" spc="-1" strike="noStrike">
                <a:solidFill>
                  <a:srgbClr val="ff0000"/>
                </a:solidFill>
                <a:latin typeface="Lucida Sans Unicode"/>
              </a:rPr>
              <a:t>Lenguajes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CuadroTexto 6"/>
          <p:cNvSpPr/>
          <p:nvPr/>
        </p:nvSpPr>
        <p:spPr>
          <a:xfrm>
            <a:off x="611640" y="5157360"/>
            <a:ext cx="76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MX" sz="1800" spc="-1" strike="noStrike">
                <a:solidFill>
                  <a:schemeClr val="dk1"/>
                </a:solidFill>
                <a:latin typeface="Lucida Sans Unicode"/>
              </a:rPr>
              <a:t>los lenguajes naturales y los formales, difieren significativamente uno de otro por su origen y por su área de aplicación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/>
          </p:nvPr>
        </p:nvSpPr>
        <p:spPr>
          <a:xfrm>
            <a:off x="457200" y="8366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es-ES" sz="2700" spc="-1" strike="noStrike">
                <a:solidFill>
                  <a:srgbClr val="ff0000"/>
                </a:solidFill>
                <a:latin typeface="Lucida Sans Unicode"/>
              </a:rPr>
              <a:t>Lenguajes Naturales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: son sistemas mas o menos complejos que asocian contenidos de pensamientos con manifestaciones simbólicas tanto orales como escritas.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Ej. Idiomas: Español, Ingles.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EJ.: perro-dog- gou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       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Computador-computer – diànnao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        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silla- chair - yízi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34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s-ES" sz="800" spc="-1" strike="noStrike">
                <a:solidFill>
                  <a:schemeClr val="dk2"/>
                </a:solidFill>
                <a:latin typeface="Lucida Sans Unicode"/>
              </a:rPr>
              <a:t>.</a:t>
            </a:r>
            <a:endParaRPr b="0" lang="es-ES" sz="800" spc="-1" strike="noStrike">
              <a:solidFill>
                <a:schemeClr val="dk1"/>
              </a:solidFill>
              <a:latin typeface="Lucida Sans Unicode"/>
            </a:endParaRPr>
          </a:p>
        </p:txBody>
      </p:sp>
      <p:pic>
        <p:nvPicPr>
          <p:cNvPr id="153" name="Picture 2" descr=""/>
          <p:cNvPicPr/>
          <p:nvPr/>
        </p:nvPicPr>
        <p:blipFill>
          <a:blip r:embed="rId1"/>
          <a:srcRect l="19414" t="35669" r="54924" b="12241"/>
          <a:stretch/>
        </p:blipFill>
        <p:spPr>
          <a:xfrm>
            <a:off x="1115640" y="4509000"/>
            <a:ext cx="1656000" cy="1783800"/>
          </a:xfrm>
          <a:prstGeom prst="rect">
            <a:avLst/>
          </a:prstGeom>
          <a:ln w="9525">
            <a:noFill/>
          </a:ln>
        </p:spPr>
      </p:pic>
      <p:pic>
        <p:nvPicPr>
          <p:cNvPr id="154" name="Picture 3" descr=""/>
          <p:cNvPicPr/>
          <p:nvPr/>
        </p:nvPicPr>
        <p:blipFill>
          <a:blip r:embed="rId2"/>
          <a:srcRect l="12499" t="38744" r="51165" b="15312"/>
          <a:stretch/>
        </p:blipFill>
        <p:spPr>
          <a:xfrm>
            <a:off x="3430080" y="4627080"/>
            <a:ext cx="2062080" cy="1422000"/>
          </a:xfrm>
          <a:prstGeom prst="rect">
            <a:avLst/>
          </a:prstGeom>
          <a:ln w="9525">
            <a:noFill/>
          </a:ln>
        </p:spPr>
      </p:pic>
      <p:pic>
        <p:nvPicPr>
          <p:cNvPr id="155" name="5 Imagen" descr=""/>
          <p:cNvPicPr/>
          <p:nvPr/>
        </p:nvPicPr>
        <p:blipFill>
          <a:blip r:embed="rId3"/>
          <a:srcRect l="26099" t="48018" r="60661" b="24293"/>
          <a:stretch/>
        </p:blipFill>
        <p:spPr>
          <a:xfrm>
            <a:off x="6012000" y="4651560"/>
            <a:ext cx="1367640" cy="16416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/>
          </p:nvPr>
        </p:nvSpPr>
        <p:spPr>
          <a:xfrm>
            <a:off x="900000" y="1256400"/>
            <a:ext cx="8229240" cy="50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4775" lnSpcReduction="10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Supongamos tenemos un </a:t>
            </a:r>
            <a:r>
              <a:rPr b="1" lang="es-ES" sz="2100" spc="-1" strike="noStrike">
                <a:solidFill>
                  <a:schemeClr val="dk1"/>
                </a:solidFill>
                <a:latin typeface="Lucida Sans Unicode"/>
              </a:rPr>
              <a:t>lenguaje L</a:t>
            </a: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, que está constituido por un conjunto finito de cadenas (palabras)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Sea </a:t>
            </a:r>
            <a:r>
              <a:rPr b="1" lang="es-ES" sz="2100" spc="-1" strike="noStrike">
                <a:solidFill>
                  <a:schemeClr val="dk1"/>
                </a:solidFill>
                <a:latin typeface="Lucida Sans Unicode"/>
              </a:rPr>
              <a:t>L = {hombre, animal, come, bebe, pan, agua} 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Definamos una </a:t>
            </a:r>
            <a:r>
              <a:rPr b="1" lang="es-ES" sz="2100" spc="-1" strike="noStrike">
                <a:solidFill>
                  <a:schemeClr val="dk1"/>
                </a:solidFill>
                <a:latin typeface="Lucida Sans Unicode"/>
              </a:rPr>
              <a:t>sintaxis</a:t>
            </a: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 </a:t>
            </a:r>
            <a:r>
              <a:rPr b="1" lang="es-ES" sz="2100" spc="-1" strike="noStrike">
                <a:solidFill>
                  <a:schemeClr val="dk1"/>
                </a:solidFill>
                <a:latin typeface="Lucida Sans Unicode"/>
              </a:rPr>
              <a:t>T </a:t>
            </a: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sobre </a:t>
            </a:r>
            <a:r>
              <a:rPr b="1" lang="es-ES" sz="2100" spc="-1" strike="noStrike">
                <a:solidFill>
                  <a:schemeClr val="dk1"/>
                </a:solidFill>
                <a:latin typeface="Lucida Sans Unicode"/>
              </a:rPr>
              <a:t>L</a:t>
            </a: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, como: 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Sea </a:t>
            </a:r>
            <a:r>
              <a:rPr b="1" lang="es-ES" sz="2100" spc="-1" strike="noStrike">
                <a:solidFill>
                  <a:schemeClr val="dk1"/>
                </a:solidFill>
                <a:latin typeface="Lucida Sans Unicode"/>
              </a:rPr>
              <a:t>T: &lt;sujeto&gt;&lt;verbo&gt;&lt;sustantivo&gt; 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Entonces, bajo la sintaxis </a:t>
            </a:r>
            <a:r>
              <a:rPr b="1" lang="es-ES" sz="2100" spc="-1" strike="noStrike">
                <a:solidFill>
                  <a:schemeClr val="dk1"/>
                </a:solidFill>
                <a:latin typeface="Lucida Sans Unicode"/>
              </a:rPr>
              <a:t>T</a:t>
            </a: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, se pueden construir frases tales como: 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Hombre come pan 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Animal bebe agua 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1" lang="es-ES" sz="2100" spc="-1" strike="noStrike">
                <a:solidFill>
                  <a:srgbClr val="7030a0"/>
                </a:solidFill>
                <a:latin typeface="Lucida Sans Unicode"/>
              </a:rPr>
              <a:t>Hombre come agua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1" lang="es-ES" sz="2100" spc="-1" strike="noStrike">
                <a:solidFill>
                  <a:srgbClr val="7030a0"/>
                </a:solidFill>
                <a:latin typeface="Lucida Sans Unicode"/>
              </a:rPr>
              <a:t>Animal bebe pan 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Por tanto, desde el punto de vista de la sintaxis </a:t>
            </a:r>
            <a:r>
              <a:rPr b="1" lang="es-ES" sz="2100" spc="-1" strike="noStrike">
                <a:solidFill>
                  <a:schemeClr val="dk1"/>
                </a:solidFill>
                <a:latin typeface="Lucida Sans Unicode"/>
              </a:rPr>
              <a:t>T</a:t>
            </a: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, las cuatro frases están correctamente construidas. Sin embargo, desde el punto de vista semántico diríamos inmediatamente que las frases 3 y 4 no están permitidas. Es decir, se debe convenir e ir definiendo una </a:t>
            </a:r>
            <a:r>
              <a:rPr b="1" lang="es-ES" sz="2100" spc="-1" strike="noStrike">
                <a:solidFill>
                  <a:srgbClr val="ff0000"/>
                </a:solidFill>
                <a:latin typeface="Lucida Sans Unicode"/>
              </a:rPr>
              <a:t>semántica</a:t>
            </a:r>
            <a:r>
              <a:rPr b="0" lang="es-ES" sz="2100" spc="-1" strike="noStrike">
                <a:solidFill>
                  <a:srgbClr val="ff0000"/>
                </a:solidFill>
                <a:latin typeface="Lucida Sans Unicode"/>
              </a:rPr>
              <a:t> </a:t>
            </a:r>
            <a:r>
              <a:rPr b="1" lang="es-ES" sz="2100" spc="-1" strike="noStrike">
                <a:solidFill>
                  <a:srgbClr val="ff0000"/>
                </a:solidFill>
                <a:latin typeface="Lucida Sans Unicode"/>
              </a:rPr>
              <a:t>S</a:t>
            </a:r>
            <a:r>
              <a:rPr b="0" lang="es-ES" sz="2100" spc="-1" strike="noStrike">
                <a:solidFill>
                  <a:schemeClr val="dk1"/>
                </a:solidFill>
                <a:latin typeface="Lucida Sans Unicode"/>
              </a:rPr>
              <a:t>. La interpretación y significado de estructuras sintácticas es justamente el problema más difícil al momento de transformar o traducir lenguajes humanos.</a:t>
            </a:r>
            <a:endParaRPr b="0" lang="es-ES" sz="21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4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title"/>
          </p:nvPr>
        </p:nvSpPr>
        <p:spPr>
          <a:xfrm>
            <a:off x="439200" y="3218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0753" lnSpcReduction="10000"/>
          </a:bodyPr>
          <a:p>
            <a:pPr indent="0" algn="ctr">
              <a:lnSpc>
                <a:spcPct val="100000"/>
              </a:lnSpc>
              <a:buNone/>
            </a:pPr>
            <a:r>
              <a:rPr b="1" lang="es-ES" sz="4000" spc="-1" strike="noStrike">
                <a:solidFill>
                  <a:srgbClr val="ff0000"/>
                </a:solidFill>
                <a:latin typeface="Lucida Sans Unicode"/>
              </a:rPr>
              <a:t>Semántica</a:t>
            </a:r>
            <a:br>
              <a:rPr sz="6600"/>
            </a:br>
            <a:r>
              <a:rPr b="1" lang="es-ES" sz="2700" spc="-1" strike="noStrike">
                <a:solidFill>
                  <a:schemeClr val="dk2"/>
                </a:solidFill>
                <a:latin typeface="Lucida Sans Unicode"/>
              </a:rPr>
              <a:t>El significado de los signos ó frases ó expresiones lingüísticos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395640" y="260640"/>
            <a:ext cx="8229240" cy="302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s-AR" sz="2400" spc="-1" strike="noStrike">
                <a:solidFill>
                  <a:schemeClr val="dk2"/>
                </a:solidFill>
                <a:latin typeface="Lucida Sans Unicode"/>
              </a:rPr>
              <a:t>En lenguaje natural ó informal podemos encontrar dificultades: </a:t>
            </a:r>
            <a:br>
              <a:rPr sz="2400"/>
            </a:br>
            <a:r>
              <a:rPr b="1" lang="es-AR" sz="2400" spc="-1" strike="noStrike">
                <a:solidFill>
                  <a:schemeClr val="dk2"/>
                </a:solidFill>
                <a:latin typeface="Lucida Sans Unicode"/>
              </a:rPr>
              <a:t>- Algunos conceptos no significan lo mismo para todos, depende del contexto o experiencia personal.</a:t>
            </a:r>
            <a:br>
              <a:rPr sz="2400"/>
            </a:br>
            <a:r>
              <a:rPr b="1" lang="es-AR" sz="2400" spc="-1" strike="noStrike">
                <a:solidFill>
                  <a:schemeClr val="dk2"/>
                </a:solidFill>
                <a:latin typeface="Lucida Sans Unicode"/>
              </a:rPr>
              <a:t>-  El que afirma algo lo toma como verdad absoluta.</a:t>
            </a:r>
            <a:br>
              <a:rPr sz="2400"/>
            </a:br>
            <a:r>
              <a:rPr b="1" lang="es-AR" sz="2400" spc="-1" strike="noStrike">
                <a:solidFill>
                  <a:schemeClr val="dk2"/>
                </a:solidFill>
                <a:latin typeface="Lucida Sans Unicode"/>
              </a:rPr>
              <a:t>- Los razonamientos de cada quien no son comprendidos por los demás en igual forma.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</p:txBody>
      </p:sp>
      <p:pic>
        <p:nvPicPr>
          <p:cNvPr id="159" name="3 Marcador de contenido" descr=""/>
          <p:cNvPicPr/>
          <p:nvPr/>
        </p:nvPicPr>
        <p:blipFill>
          <a:blip r:embed="rId1"/>
          <a:srcRect l="0" t="27444" r="0" b="27170"/>
          <a:stretch/>
        </p:blipFill>
        <p:spPr>
          <a:xfrm>
            <a:off x="251640" y="3429000"/>
            <a:ext cx="8640720" cy="273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/>
          </p:nvPr>
        </p:nvSpPr>
        <p:spPr>
          <a:xfrm>
            <a:off x="457200" y="928800"/>
            <a:ext cx="8229240" cy="519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8096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es-ES" sz="2700" spc="-1" strike="noStrike">
                <a:solidFill>
                  <a:srgbClr val="ff0000"/>
                </a:solidFill>
                <a:latin typeface="Lucida Sans Unicode"/>
              </a:rPr>
              <a:t>Lenguaje Formal: 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(en matemática, lógica y ciencia de la computación) 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es un conjunto de símbolos primitivos y reglas preestablecidas para unir esos símbolos.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 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* </a:t>
            </a:r>
            <a:r>
              <a:rPr b="1" lang="es-ES" sz="2700" spc="-1" strike="noStrike">
                <a:solidFill>
                  <a:schemeClr val="dk1"/>
                </a:solidFill>
                <a:latin typeface="Lucida Sans Unicode"/>
              </a:rPr>
              <a:t>Símbolo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: representación distinguible de cualquier información, es un elemento atómico e indivisible.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200" spc="-1" strike="noStrike">
                <a:solidFill>
                  <a:schemeClr val="dk1"/>
                </a:solidFill>
                <a:latin typeface="Lucida Sans Unicode"/>
              </a:rPr>
              <a:t>Notación: letras minúsculas generalmente las primeras del alfabeto (a,b,c,…) ó números: …1,2,3</a:t>
            </a:r>
            <a:endParaRPr b="0" lang="es-ES" sz="22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Lucida Sans Unicode"/>
              </a:rPr>
              <a:t>O tambien      palabras reservadas (Procedure, printf, scanf,…)</a:t>
            </a:r>
            <a:endParaRPr b="0" lang="es-ES" sz="16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2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s-ES" sz="800" spc="-1" strike="noStrike">
                <a:solidFill>
                  <a:schemeClr val="dk2"/>
                </a:solidFill>
                <a:latin typeface="Lucida Sans Unicode"/>
              </a:rPr>
              <a:t>.</a:t>
            </a:r>
            <a:endParaRPr b="0" lang="es-ES" sz="8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/>
          </p:nvPr>
        </p:nvSpPr>
        <p:spPr>
          <a:xfrm>
            <a:off x="457200" y="1124640"/>
            <a:ext cx="8229240" cy="488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700" spc="-1" strike="noStrike">
                <a:solidFill>
                  <a:srgbClr val="ff0000"/>
                </a:solidFill>
                <a:latin typeface="Lucida Sans Unicode"/>
              </a:rPr>
              <a:t>Lenguaje estructurado: 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es un lenguaje natural limitado en palabras y construcciones, lo que le da mas precisión y claridad evitando ambigüedades, con este lenguaje se forma oraciones llamadas fórmulas o expresiones bien formadas según las reglas.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000" spc="-1" strike="noStrike">
                <a:solidFill>
                  <a:schemeClr val="dk2">
                    <a:lumMod val="75000"/>
                  </a:schemeClr>
                </a:solidFill>
                <a:latin typeface="Lucida Sans Unicode"/>
              </a:rPr>
              <a:t>Por ejemplo: </a:t>
            </a: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un lenguaje estructurado es una herramienta que puede utilizarse en la especificación de procesos en el desarrollo de sistemas.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43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s-ES" sz="800" spc="-1" strike="noStrike">
                <a:solidFill>
                  <a:schemeClr val="dk2"/>
                </a:solidFill>
                <a:latin typeface="Lucida Sans Unicode"/>
              </a:rPr>
              <a:t>.</a:t>
            </a:r>
            <a:endParaRPr b="0" lang="es-ES" sz="8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/>
          </p:nvPr>
        </p:nvSpPr>
        <p:spPr>
          <a:xfrm rot="10800000">
            <a:off x="457200" y="6126480"/>
            <a:ext cx="8229240" cy="4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0" bIns="360" anchor="t">
            <a:normAutofit fontScale="12215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800" spc="-1" strike="noStrike">
                <a:solidFill>
                  <a:schemeClr val="dk1"/>
                </a:solidFill>
                <a:latin typeface="Lucida Sans Unicode"/>
              </a:rPr>
              <a:t>                                                                                                                     </a:t>
            </a:r>
            <a:endParaRPr b="0" lang="es-ES" sz="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2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chemeClr val="dk2"/>
                </a:solidFill>
                <a:latin typeface="Lucida Sans Unicode"/>
              </a:rPr>
              <a:t>Un algoritmo podemos expresarlo mediante texto en lenguaje natural, un diagrama de flujo, seudocódigo después traducirlo a un lenguaje de programación</a:t>
            </a:r>
            <a:endParaRPr b="0" lang="es-ES" sz="20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66" name="3 Elipse"/>
          <p:cNvSpPr/>
          <p:nvPr/>
        </p:nvSpPr>
        <p:spPr>
          <a:xfrm>
            <a:off x="1000080" y="1285920"/>
            <a:ext cx="999720" cy="428400"/>
          </a:xfrm>
          <a:prstGeom prst="ellipse">
            <a:avLst/>
          </a:prstGeom>
          <a:solidFill>
            <a:srgbClr val="2da2bf"/>
          </a:solidFill>
          <a:ln>
            <a:solidFill>
              <a:srgbClr val="21778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Lucida Sans Unicode"/>
              </a:rPr>
              <a:t>Inicio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4 Rectángulo"/>
          <p:cNvSpPr/>
          <p:nvPr/>
        </p:nvSpPr>
        <p:spPr>
          <a:xfrm>
            <a:off x="642960" y="1928880"/>
            <a:ext cx="1642680" cy="428400"/>
          </a:xfrm>
          <a:prstGeom prst="rect">
            <a:avLst/>
          </a:prstGeom>
          <a:solidFill>
            <a:srgbClr val="2da2bf"/>
          </a:solidFill>
          <a:ln>
            <a:solidFill>
              <a:srgbClr val="21778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Lucida Sans Unicode"/>
              </a:rPr>
              <a:t>Suma=0 , n=1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5 Rectángulo"/>
          <p:cNvSpPr/>
          <p:nvPr/>
        </p:nvSpPr>
        <p:spPr>
          <a:xfrm>
            <a:off x="642960" y="2714760"/>
            <a:ext cx="1571400" cy="642600"/>
          </a:xfrm>
          <a:prstGeom prst="rect">
            <a:avLst/>
          </a:prstGeom>
          <a:solidFill>
            <a:srgbClr val="2da2bf"/>
          </a:solidFill>
          <a:ln>
            <a:solidFill>
              <a:srgbClr val="21778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Lucida Sans Unicode"/>
              </a:rPr>
              <a:t>Suma=suma+n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Lucida Sans Unicode"/>
              </a:rPr>
              <a:t>n=n+1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6 Decisión"/>
          <p:cNvSpPr/>
          <p:nvPr/>
        </p:nvSpPr>
        <p:spPr>
          <a:xfrm>
            <a:off x="714240" y="3643200"/>
            <a:ext cx="1499760" cy="642600"/>
          </a:xfrm>
          <a:prstGeom prst="flowChartDecision">
            <a:avLst/>
          </a:prstGeom>
          <a:solidFill>
            <a:srgbClr val="2da2bf"/>
          </a:solidFill>
          <a:ln>
            <a:solidFill>
              <a:srgbClr val="21778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Lucida Sans Unicode"/>
              </a:rPr>
              <a:t>n&lt;11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7 Documento"/>
          <p:cNvSpPr/>
          <p:nvPr/>
        </p:nvSpPr>
        <p:spPr>
          <a:xfrm>
            <a:off x="500040" y="4572000"/>
            <a:ext cx="2415600" cy="642600"/>
          </a:xfrm>
          <a:prstGeom prst="flowChartDocument">
            <a:avLst/>
          </a:prstGeom>
          <a:solidFill>
            <a:srgbClr val="2da2bf"/>
          </a:solidFill>
          <a:ln>
            <a:solidFill>
              <a:srgbClr val="21778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800" spc="-1" strike="noStrike">
                <a:solidFill>
                  <a:schemeClr val="lt1"/>
                </a:solidFill>
                <a:latin typeface="Lucida Sans Unicode"/>
              </a:rPr>
              <a:t>“</a:t>
            </a:r>
            <a:r>
              <a:rPr b="0" lang="es-ES" sz="1800" spc="-1" strike="noStrike">
                <a:solidFill>
                  <a:schemeClr val="lt1"/>
                </a:solidFill>
                <a:latin typeface="Lucida Sans Unicode"/>
              </a:rPr>
              <a:t>Resultado=“,suma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8 Elipse"/>
          <p:cNvSpPr/>
          <p:nvPr/>
        </p:nvSpPr>
        <p:spPr>
          <a:xfrm>
            <a:off x="857160" y="5572080"/>
            <a:ext cx="1213920" cy="356760"/>
          </a:xfrm>
          <a:prstGeom prst="ellipse">
            <a:avLst/>
          </a:prstGeom>
          <a:solidFill>
            <a:srgbClr val="2da2bf"/>
          </a:solidFill>
          <a:ln>
            <a:solidFill>
              <a:srgbClr val="21778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800" spc="-1" strike="noStrike">
                <a:solidFill>
                  <a:schemeClr val="lt1"/>
                </a:solidFill>
                <a:latin typeface="Lucida Sans Unicode"/>
              </a:rPr>
              <a:t>fin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2" name="10 Conector recto de flecha"/>
          <p:cNvCxnSpPr/>
          <p:nvPr/>
        </p:nvCxnSpPr>
        <p:spPr>
          <a:xfrm flipH="1">
            <a:off x="1499040" y="1715040"/>
            <a:ext cx="2160" cy="21456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173" name="20 Conector recto de flecha"/>
          <p:cNvCxnSpPr/>
          <p:nvPr/>
        </p:nvCxnSpPr>
        <p:spPr>
          <a:xfrm flipH="1">
            <a:off x="1427760" y="2357280"/>
            <a:ext cx="1800" cy="28620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174" name="22 Conector recto de flecha"/>
          <p:cNvCxnSpPr/>
          <p:nvPr/>
        </p:nvCxnSpPr>
        <p:spPr>
          <a:xfrm flipH="1">
            <a:off x="1427760" y="3429720"/>
            <a:ext cx="1800" cy="21456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175" name="24 Conector recto de flecha"/>
          <p:cNvCxnSpPr/>
          <p:nvPr/>
        </p:nvCxnSpPr>
        <p:spPr>
          <a:xfrm flipH="1">
            <a:off x="1427760" y="4286160"/>
            <a:ext cx="1080" cy="28692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176" name="27 Conector recto de flecha"/>
          <p:cNvCxnSpPr/>
          <p:nvPr/>
        </p:nvCxnSpPr>
        <p:spPr>
          <a:xfrm flipH="1">
            <a:off x="1427760" y="5215680"/>
            <a:ext cx="1800" cy="35748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sp>
        <p:nvSpPr>
          <p:cNvPr id="177" name="28 CuadroTexto"/>
          <p:cNvSpPr/>
          <p:nvPr/>
        </p:nvSpPr>
        <p:spPr>
          <a:xfrm>
            <a:off x="3786120" y="1500120"/>
            <a:ext cx="42145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800" spc="-1" strike="noStrike">
                <a:solidFill>
                  <a:srgbClr val="ff0000"/>
                </a:solidFill>
                <a:latin typeface="Lucida Sans Unicode"/>
              </a:rPr>
              <a:t>TAREA: </a:t>
            </a:r>
            <a:r>
              <a:rPr b="0" lang="es-ES" sz="1800" spc="-1" strike="noStrike">
                <a:solidFill>
                  <a:schemeClr val="dk1"/>
                </a:solidFill>
                <a:latin typeface="Lucida Sans Unicode"/>
              </a:rPr>
              <a:t>Al siguiente diagrama de flujo  expresarlo mediante otro forma de lenguaje, puede ser mediante texto, seudocódigo ó lenguaje de programación.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8" name="16 Conector recto"/>
          <p:cNvCxnSpPr>
            <a:stCxn id="169" idx="3"/>
          </p:cNvCxnSpPr>
          <p:nvPr/>
        </p:nvCxnSpPr>
        <p:spPr>
          <a:xfrm flipV="1">
            <a:off x="2214000" y="3929040"/>
            <a:ext cx="572400" cy="35640"/>
          </a:xfrm>
          <a:prstGeom prst="straightConnector1">
            <a:avLst/>
          </a:prstGeom>
          <a:ln>
            <a:solidFill>
              <a:srgbClr val="2da2bf"/>
            </a:solidFill>
            <a:round/>
          </a:ln>
        </p:spPr>
      </p:cxnSp>
      <p:cxnSp>
        <p:nvCxnSpPr>
          <p:cNvPr id="179" name="18 Conector recto de flecha"/>
          <p:cNvCxnSpPr/>
          <p:nvPr/>
        </p:nvCxnSpPr>
        <p:spPr>
          <a:xfrm flipV="1">
            <a:off x="2784960" y="2572200"/>
            <a:ext cx="2160" cy="135792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180" name="21 Conector recto de flecha"/>
          <p:cNvCxnSpPr/>
          <p:nvPr/>
        </p:nvCxnSpPr>
        <p:spPr>
          <a:xfrm flipH="1" flipV="1">
            <a:off x="1571400" y="2571480"/>
            <a:ext cx="1215000" cy="216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700" spc="-1" strike="noStrike">
                <a:solidFill>
                  <a:schemeClr val="accent6">
                    <a:lumMod val="75000"/>
                  </a:schemeClr>
                </a:solidFill>
                <a:latin typeface="Lucida Sans Unicode"/>
              </a:rPr>
              <a:t>ALFABETO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: conjunto finito de símbolos que forman parte del lenguaje.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5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700" spc="-1" strike="noStrike">
                <a:solidFill>
                  <a:schemeClr val="accent6">
                    <a:lumMod val="75000"/>
                  </a:schemeClr>
                </a:solidFill>
                <a:latin typeface="Lucida Sans Unicode"/>
              </a:rPr>
              <a:t>GRAMATICA FORMAL O SINTAXIS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: Es el conjunto de reglas.(para formar cadenas finitas juntando símbolos del alfabeto).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5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700" spc="-1" strike="noStrike">
                <a:solidFill>
                  <a:schemeClr val="accent6">
                    <a:lumMod val="75000"/>
                  </a:schemeClr>
                </a:solidFill>
                <a:latin typeface="Lucida Sans Unicode"/>
              </a:rPr>
              <a:t>PALABRA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: Cadena finita de símbolos de un alfabeto, bien formada de acuerdo a la gramática.(también se llama fórmula bien formada)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2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ES" sz="4100" spc="-1" strike="noStrike">
                <a:solidFill>
                  <a:schemeClr val="dk2"/>
                </a:solidFill>
                <a:latin typeface="Arial Rounded MT Bold"/>
              </a:rPr>
              <a:t>Partes de un Lenguaje</a:t>
            </a:r>
            <a:br>
              <a:rPr sz="4100"/>
            </a:br>
            <a:r>
              <a:rPr b="1" lang="es-ES" sz="2700" spc="-1" strike="noStrike">
                <a:solidFill>
                  <a:schemeClr val="dk2"/>
                </a:solidFill>
                <a:latin typeface="Lucida Sans Unicode"/>
              </a:rPr>
              <a:t>(Lenguaje:Conjunto de palabras)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2 Marcador de contenido"/>
          <p:cNvSpPr/>
          <p:nvPr/>
        </p:nvSpPr>
        <p:spPr>
          <a:xfrm>
            <a:off x="457200" y="404640"/>
            <a:ext cx="8229240" cy="55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15917"/>
          </a:bodyPr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Ejemplo de Alfabetos: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10980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Notación: Mayúsculas A,B,C …. ∑,</a:t>
            </a:r>
            <a:r>
              <a:rPr b="0" lang="es-ES" sz="11200" spc="-1" strike="noStrike">
                <a:solidFill>
                  <a:schemeClr val="dk1"/>
                </a:solidFill>
                <a:latin typeface="Symbol"/>
              </a:rPr>
              <a:t></a:t>
            </a: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,</a:t>
            </a:r>
            <a:r>
              <a:rPr b="0" lang="es-ES" sz="11200" spc="-1" strike="noStrike">
                <a:solidFill>
                  <a:schemeClr val="dk1"/>
                </a:solidFill>
                <a:latin typeface="Symbol"/>
              </a:rPr>
              <a:t>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 </a:t>
            </a: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1)   ∑={ 0,1,2,3,4,5,6,7,8,9} 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 </a:t>
            </a: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2)   ∑={ a,b,c,d,e,f,g,h,i,j,k,…,z}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 </a:t>
            </a: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3)  ∑={ 0,1}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 </a:t>
            </a: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4)  ∑={ aa,b,ba}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Ejemplos de palabras ó cadenas: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10980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Notación: Minúsculas generalmente las ultimas de nuestro alfabeto: u,v,w,x,y,z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  </a:t>
            </a: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1) 1- 12-123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  </a:t>
            </a: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2) programa – clase – carrera -   sistemas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  </a:t>
            </a: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3) 001 -010 – 011 – 100 -101 – 110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11200" spc="-1" strike="noStrike">
                <a:solidFill>
                  <a:schemeClr val="dk1"/>
                </a:solidFill>
                <a:latin typeface="Lucida Sans Unicode"/>
              </a:rPr>
              <a:t>4) bbaa – bbba -</a:t>
            </a: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s-ES" sz="112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8000" spc="-1" strike="noStrike">
                <a:solidFill>
                  <a:schemeClr val="dk1"/>
                </a:solidFill>
                <a:latin typeface="Lucida Sans Unicode"/>
              </a:rPr>
              <a:t>     </a:t>
            </a:r>
            <a:r>
              <a:rPr b="0" lang="es-ES" sz="8000" spc="-1" strike="noStrike">
                <a:solidFill>
                  <a:schemeClr val="dk1"/>
                </a:solidFill>
                <a:latin typeface="Lucida Sans Unicode"/>
              </a:rPr>
              <a:t>(cada símbolo de un alfabeto es una palabra sobre dicho Alfabeto).</a:t>
            </a:r>
            <a:endParaRPr b="0" lang="es-ES" sz="80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8000" spc="-1" strike="noStrike">
                <a:solidFill>
                  <a:schemeClr val="dk1"/>
                </a:solidFill>
                <a:latin typeface="Lucida Sans Unicode"/>
              </a:rPr>
              <a:t> </a:t>
            </a:r>
            <a:endParaRPr b="0" lang="es-ES" sz="8000" spc="-1" strike="noStrike">
              <a:solidFill>
                <a:srgbClr val="000000"/>
              </a:solidFill>
              <a:latin typeface="Arial"/>
            </a:endParaRPr>
          </a:p>
          <a:p>
            <a:pPr marL="365760" indent="-255960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    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/>
          </p:nvPr>
        </p:nvSpPr>
        <p:spPr>
          <a:xfrm>
            <a:off x="457200" y="1143000"/>
            <a:ext cx="8434800" cy="498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Un posible alfabeto sería, </a:t>
            </a:r>
            <a:r>
              <a:rPr b="0" lang="es-ES" sz="2400" spc="-1" strike="noStrike">
                <a:solidFill>
                  <a:schemeClr val="dk1"/>
                </a:solidFill>
                <a:latin typeface="Symbol"/>
              </a:rPr>
              <a:t>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= </a:t>
            </a:r>
            <a:r>
              <a:rPr b="1" i="1" lang="es-ES" sz="2400" spc="-1" strike="noStrike">
                <a:solidFill>
                  <a:srgbClr val="7030a0"/>
                </a:solidFill>
                <a:latin typeface="Lucida Sans Unicode"/>
              </a:rPr>
              <a:t>a,b</a:t>
            </a:r>
            <a:r>
              <a:rPr b="1" lang="es-ES" sz="2400" spc="-1" strike="noStrike">
                <a:solidFill>
                  <a:srgbClr val="7030a0"/>
                </a:solidFill>
                <a:latin typeface="Lucida Sans Unicode"/>
              </a:rPr>
              <a:t> 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   , y una cadena cualquiera sobre este alfabeto sería, por ejemplo, </a:t>
            </a:r>
            <a:r>
              <a:rPr b="1" i="1" lang="es-ES" sz="2400" spc="-1" strike="noStrike">
                <a:solidFill>
                  <a:srgbClr val="7030a0"/>
                </a:solidFill>
                <a:latin typeface="Lucida Sans Unicode"/>
              </a:rPr>
              <a:t>ababba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. 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Un lenguaje sobre este alfabeto, que incluyera esta cadena, tendría como, sintaxis: el conjunto de todas las cadenas que contienen el mismo número de símbolos </a:t>
            </a:r>
            <a:r>
              <a:rPr b="1" i="1" lang="es-ES" sz="2400" spc="-1" strike="noStrike">
                <a:solidFill>
                  <a:srgbClr val="7030a0"/>
                </a:solidFill>
                <a:latin typeface="Lucida Sans Unicode"/>
              </a:rPr>
              <a:t>a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 que </a:t>
            </a:r>
            <a:r>
              <a:rPr b="1" i="1" lang="es-ES" sz="2400" spc="-1" strike="noStrike">
                <a:solidFill>
                  <a:srgbClr val="7030a0"/>
                </a:solidFill>
                <a:latin typeface="Lucida Sans Unicode"/>
              </a:rPr>
              <a:t>b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 , por ejemplo.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Ej.L</a:t>
            </a:r>
            <a:r>
              <a:rPr b="0" lang="es-ES" sz="2400" spc="-1" strike="noStrike" baseline="-25000">
                <a:solidFill>
                  <a:schemeClr val="dk1"/>
                </a:solidFill>
                <a:latin typeface="Lucida Sans Unicode"/>
              </a:rPr>
              <a:t>1</a:t>
            </a: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= aabb – abab – bbaa –aabbba –bbaabbaa 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200" spc="-1" strike="noStrike">
                <a:solidFill>
                  <a:schemeClr val="dk1"/>
                </a:solidFill>
                <a:latin typeface="Lucida Sans Unicode"/>
              </a:rPr>
              <a:t>L</a:t>
            </a:r>
            <a:r>
              <a:rPr b="0" lang="es-ES" sz="2200" spc="-1" strike="noStrike" baseline="-25000">
                <a:solidFill>
                  <a:schemeClr val="dk1"/>
                </a:solidFill>
                <a:latin typeface="Lucida Sans Unicode"/>
              </a:rPr>
              <a:t>2</a:t>
            </a:r>
            <a:r>
              <a:rPr b="0" lang="es-ES" sz="2200" spc="-1" strike="noStrike">
                <a:solidFill>
                  <a:schemeClr val="dk1"/>
                </a:solidFill>
                <a:latin typeface="Lucida Sans Unicode"/>
              </a:rPr>
              <a:t>={a</a:t>
            </a:r>
            <a:r>
              <a:rPr b="0" lang="es-ES" sz="2200" spc="-1" strike="noStrike" baseline="30000">
                <a:solidFill>
                  <a:schemeClr val="dk1"/>
                </a:solidFill>
                <a:latin typeface="Lucida Sans Unicode"/>
              </a:rPr>
              <a:t>i</a:t>
            </a:r>
            <a:r>
              <a:rPr b="0" lang="es-ES" sz="2200" spc="-1" strike="noStrike">
                <a:solidFill>
                  <a:schemeClr val="dk1"/>
                </a:solidFill>
                <a:latin typeface="Lucida Sans Unicode"/>
              </a:rPr>
              <a:t> b</a:t>
            </a:r>
            <a:r>
              <a:rPr b="0" lang="es-ES" sz="2200" spc="-1" strike="noStrike" baseline="30000">
                <a:solidFill>
                  <a:schemeClr val="dk1"/>
                </a:solidFill>
                <a:latin typeface="Lucida Sans Unicode"/>
              </a:rPr>
              <a:t>i</a:t>
            </a:r>
            <a:r>
              <a:rPr b="0" lang="es-ES" sz="2200" spc="-1" strike="noStrike">
                <a:solidFill>
                  <a:schemeClr val="dk1"/>
                </a:solidFill>
                <a:latin typeface="Lucida Sans Unicode"/>
              </a:rPr>
              <a:t> | i&gt;=1; i&lt;=5}  </a:t>
            </a:r>
            <a:r>
              <a:rPr b="0" i="1" lang="es-ES" sz="2200" spc="-1" strike="noStrike">
                <a:solidFill>
                  <a:schemeClr val="accent5">
                    <a:lumMod val="50000"/>
                  </a:schemeClr>
                </a:solidFill>
                <a:latin typeface="Lucida Sans Unicode"/>
              </a:rPr>
              <a:t>Por comprensión</a:t>
            </a:r>
            <a:endParaRPr b="0" lang="es-ES" sz="22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200" spc="-1" strike="noStrike">
                <a:solidFill>
                  <a:schemeClr val="dk1"/>
                </a:solidFill>
                <a:latin typeface="Lucida Sans Unicode"/>
              </a:rPr>
              <a:t>L</a:t>
            </a:r>
            <a:r>
              <a:rPr b="0" lang="es-ES" sz="2200" spc="-1" strike="noStrike" baseline="-25000">
                <a:solidFill>
                  <a:schemeClr val="dk1"/>
                </a:solidFill>
                <a:latin typeface="Lucida Sans Unicode"/>
              </a:rPr>
              <a:t>2</a:t>
            </a:r>
            <a:r>
              <a:rPr b="0" lang="es-ES" sz="2200" spc="-1" strike="noStrike">
                <a:solidFill>
                  <a:schemeClr val="dk1"/>
                </a:solidFill>
                <a:latin typeface="Lucida Sans Unicode"/>
              </a:rPr>
              <a:t>= {ab, aabb,aaabbb,aaaabbbb,aaaaabbbbb} Por extensión</a:t>
            </a:r>
            <a:endParaRPr b="0" lang="es-ES" sz="22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2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4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582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s-ES" sz="3200" spc="-1" strike="noStrike">
                <a:solidFill>
                  <a:schemeClr val="dk2"/>
                </a:solidFill>
                <a:latin typeface="Lucida Sans Unicode"/>
              </a:rPr>
              <a:t>Ejemplo de alfabeto, palabra y lenguaje</a:t>
            </a:r>
            <a:endParaRPr b="0" lang="es-ES" sz="32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0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s-AR" sz="300" spc="-1" strike="noStrike">
                <a:solidFill>
                  <a:schemeClr val="dk2"/>
                </a:solidFill>
                <a:latin typeface="Lucida Sans Unicode"/>
              </a:rPr>
              <a:t>.</a:t>
            </a:r>
            <a:endParaRPr b="0" lang="es-ES" sz="3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87" name="CuadroTexto 1"/>
          <p:cNvSpPr/>
          <p:nvPr/>
        </p:nvSpPr>
        <p:spPr>
          <a:xfrm>
            <a:off x="1115640" y="764640"/>
            <a:ext cx="7200360" cy="48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MX" sz="2600" spc="-1" strike="noStrike">
                <a:solidFill>
                  <a:srgbClr val="002060"/>
                </a:solidFill>
                <a:latin typeface="Lucida Sans Unicode"/>
              </a:rPr>
              <a:t>Longitud de una cadena</a:t>
            </a:r>
            <a:r>
              <a:rPr b="0" lang="es-MX" sz="2600" spc="-1" strike="noStrike">
                <a:solidFill>
                  <a:srgbClr val="002060"/>
                </a:solidFill>
                <a:latin typeface="Lucida Sans Unicode"/>
              </a:rPr>
              <a:t>: </a:t>
            </a:r>
            <a:r>
              <a:rPr b="0" lang="es-MX" sz="2600" spc="-1" strike="noStrike">
                <a:solidFill>
                  <a:schemeClr val="dk1"/>
                </a:solidFill>
                <a:latin typeface="Lucida Sans Unicode"/>
              </a:rPr>
              <a:t>números de símbolos que contiene. Notación: |x|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2600" spc="-1" strike="noStrike">
                <a:solidFill>
                  <a:schemeClr val="dk1"/>
                </a:solidFill>
                <a:latin typeface="Lucida Sans Unicode"/>
              </a:rPr>
              <a:t>Ej.: ∑={ 0,1}  w=01010  |w|=5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MX" sz="2600" spc="-1" strike="noStrike">
                <a:solidFill>
                  <a:srgbClr val="002060"/>
                </a:solidFill>
                <a:latin typeface="Lucida Sans Unicode"/>
              </a:rPr>
              <a:t>Cadena Vacía</a:t>
            </a:r>
            <a:r>
              <a:rPr b="0" lang="es-MX" sz="2600" spc="-1" strike="noStrike">
                <a:solidFill>
                  <a:schemeClr val="dk1"/>
                </a:solidFill>
                <a:latin typeface="Lucida Sans Unicode"/>
              </a:rPr>
              <a:t>: contiene 0 símbolos, se representa mediante </a:t>
            </a:r>
            <a:r>
              <a:rPr b="0" lang="es-MX" sz="3200" spc="-1" strike="noStrike">
                <a:solidFill>
                  <a:schemeClr val="dk1"/>
                </a:solidFill>
                <a:latin typeface="Symbol"/>
              </a:rPr>
              <a:t></a:t>
            </a:r>
            <a:r>
              <a:rPr b="0" lang="es-MX" sz="3200" spc="-1" strike="noStrike">
                <a:solidFill>
                  <a:schemeClr val="dk1"/>
                </a:solidFill>
                <a:latin typeface="Lucida Sans Unicode"/>
              </a:rPr>
              <a:t> , </a:t>
            </a:r>
            <a:r>
              <a:rPr b="0" lang="es-MX" sz="3200" spc="-1" strike="noStrike">
                <a:solidFill>
                  <a:schemeClr val="dk1"/>
                </a:solidFill>
                <a:latin typeface="Symbol"/>
              </a:rPr>
              <a:t>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MX" sz="2800" spc="-1" strike="noStrike">
                <a:solidFill>
                  <a:schemeClr val="dk1"/>
                </a:solidFill>
                <a:latin typeface="Lucida Sans Unicode"/>
              </a:rPr>
              <a:t>                  </a:t>
            </a:r>
            <a:r>
              <a:rPr b="0" lang="es-MX" sz="2800" spc="-1" strike="noStrike">
                <a:solidFill>
                  <a:schemeClr val="dk1"/>
                </a:solidFill>
                <a:latin typeface="Lucida Sans Unicode"/>
              </a:rPr>
              <a:t>|</a:t>
            </a:r>
            <a:r>
              <a:rPr b="0" lang="es-MX" sz="3200" spc="-1" strike="noStrike">
                <a:solidFill>
                  <a:schemeClr val="dk1"/>
                </a:solidFill>
                <a:latin typeface="Symbol"/>
              </a:rPr>
              <a:t></a:t>
            </a:r>
            <a:r>
              <a:rPr b="0" lang="es-MX" sz="2800" spc="-1" strike="noStrike">
                <a:solidFill>
                  <a:schemeClr val="dk1"/>
                </a:solidFill>
                <a:latin typeface="Lucida Sans Unicode"/>
              </a:rPr>
              <a:t>|= </a:t>
            </a:r>
            <a:r>
              <a:rPr b="0" lang="es-MX" sz="2600" spc="-1" strike="noStrike">
                <a:solidFill>
                  <a:schemeClr val="dk1"/>
                </a:solidFill>
                <a:latin typeface="Lucida Sans Unicode"/>
              </a:rPr>
              <a:t>0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MX" sz="2600" spc="-1" strike="noStrike">
                <a:solidFill>
                  <a:srgbClr val="002060"/>
                </a:solidFill>
                <a:latin typeface="Lucida Sans Unicode"/>
              </a:rPr>
              <a:t>Subcadena:</a:t>
            </a:r>
            <a:r>
              <a:rPr b="0" lang="es-MX" sz="2600" spc="-1" strike="noStrike">
                <a:solidFill>
                  <a:schemeClr val="dk1"/>
                </a:solidFill>
                <a:latin typeface="Lucida Sans Unicode"/>
              </a:rPr>
              <a:t> es una parte de una cadena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MX" sz="2600" spc="-1" strike="noStrike">
                <a:solidFill>
                  <a:schemeClr val="dk1"/>
                </a:solidFill>
                <a:latin typeface="Lucida Sans Unicode"/>
              </a:rPr>
              <a:t>w= abcd         ab, abc, bc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8" name="Conector recto de flecha 6"/>
          <p:cNvCxnSpPr/>
          <p:nvPr/>
        </p:nvCxnSpPr>
        <p:spPr>
          <a:xfrm>
            <a:off x="2771640" y="4869000"/>
            <a:ext cx="576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/>
          </p:nvPr>
        </p:nvSpPr>
        <p:spPr>
          <a:xfrm>
            <a:off x="457200" y="1000080"/>
            <a:ext cx="8229240" cy="512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Es decir para realizar un lenguaje formal se debe tener en cuenta: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5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5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" charset="2"/>
              <a:buChar char="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Los símbolos a utilizar. 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5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" charset="2"/>
              <a:buChar char="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Las reglas que lo vincularan.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5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" charset="2"/>
              <a:buChar char="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Las combinaciones que se podrán hacer con ellas.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5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" charset="2"/>
              <a:buChar char="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Lucida Sans Unicode"/>
              </a:rPr>
              <a:t>Y las interpretaciones que conllevarán dichas combinaciones.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s-ES" sz="800" spc="-1" strike="noStrike">
                <a:solidFill>
                  <a:schemeClr val="dk2"/>
                </a:solidFill>
                <a:latin typeface="Lucida Sans Unicode"/>
              </a:rPr>
              <a:t>.</a:t>
            </a:r>
            <a:endParaRPr b="0" lang="es-ES" sz="8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654" lnSpcReduction="10000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Se desarrolla de una teoría preestablecida.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Componente semántico mínimo.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La sintaxis produce oraciones no ambiguas es decir se precisa el significado de cada concepto dado.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Se precisa las proposiciones válidas o correctas y las inválidas.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Cada símbolo de un alfabeto es una palabra sobre dicho alfabeto.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Los lenguajes pueden ser muy grandes aunque cada cadena tenga longitud finita.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 fontScale="96611"/>
          </a:bodyPr>
          <a:p>
            <a:pPr indent="0">
              <a:lnSpc>
                <a:spcPct val="100000"/>
              </a:lnSpc>
              <a:buNone/>
            </a:pPr>
            <a:r>
              <a:rPr b="1" lang="es-ES" sz="3600" spc="-1" strike="noStrike">
                <a:solidFill>
                  <a:schemeClr val="dk2"/>
                </a:solidFill>
                <a:latin typeface="Lucida Sans Unicode"/>
              </a:rPr>
              <a:t>Propiedades de los lenguajes formales</a:t>
            </a: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/>
          </p:nvPr>
        </p:nvSpPr>
        <p:spPr>
          <a:xfrm>
            <a:off x="457200" y="2000160"/>
            <a:ext cx="8229240" cy="412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2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Cadena producida por una expresión regular.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2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Cadenas aceptadas por un autómata, tal como una máquina de Turing.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10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Cadenas producidas por una gramática formal.(jerarquía de chomsky).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1098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title"/>
          </p:nvPr>
        </p:nvSpPr>
        <p:spPr>
          <a:xfrm>
            <a:off x="428760" y="285840"/>
            <a:ext cx="8229240" cy="1356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 fontScale="57088" lnSpcReduction="10000"/>
          </a:bodyPr>
          <a:p>
            <a:pPr indent="0">
              <a:lnSpc>
                <a:spcPct val="100000"/>
              </a:lnSpc>
              <a:buNone/>
            </a:pPr>
            <a:br>
              <a:rPr sz="4100"/>
            </a:br>
            <a:br>
              <a:rPr sz="800"/>
            </a:br>
            <a:r>
              <a:rPr b="1" lang="es-ES" sz="3600" spc="-1" strike="noStrike">
                <a:solidFill>
                  <a:schemeClr val="dk2"/>
                </a:solidFill>
                <a:latin typeface="Lucida Sans Unicode"/>
              </a:rPr>
              <a:t>Los lenguajes formales se pueden especificar de varias formas:</a:t>
            </a:r>
            <a:br>
              <a:rPr sz="3600"/>
            </a:b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ES" sz="2800" spc="-1" strike="noStrike">
                <a:solidFill>
                  <a:schemeClr val="dk2"/>
                </a:solidFill>
                <a:latin typeface="Lucida Sans Unicode"/>
              </a:rPr>
              <a:t>Operaciones con cadenas (palabras) de un lenguaje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196" name="2 CuadroTexto"/>
          <p:cNvSpPr/>
          <p:nvPr/>
        </p:nvSpPr>
        <p:spPr>
          <a:xfrm>
            <a:off x="1571760" y="1928880"/>
            <a:ext cx="2571480" cy="394560"/>
          </a:xfrm>
          <a:prstGeom prst="rect">
            <a:avLst/>
          </a:prstGeom>
          <a:solidFill>
            <a:srgbClr val="ffffff"/>
          </a:solidFill>
          <a:ln>
            <a:solidFill>
              <a:srgbClr val="da1f28"/>
            </a:solidFill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Lenguajes 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3 CuadroTexto"/>
          <p:cNvSpPr/>
          <p:nvPr/>
        </p:nvSpPr>
        <p:spPr>
          <a:xfrm>
            <a:off x="928800" y="3071880"/>
            <a:ext cx="1785600" cy="394560"/>
          </a:xfrm>
          <a:prstGeom prst="rect">
            <a:avLst/>
          </a:prstGeom>
          <a:solidFill>
            <a:srgbClr val="ffffff"/>
          </a:solidFill>
          <a:ln>
            <a:solidFill>
              <a:srgbClr val="da1f28"/>
            </a:solidFill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Alfabeto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4 CuadroTexto"/>
          <p:cNvSpPr/>
          <p:nvPr/>
        </p:nvSpPr>
        <p:spPr>
          <a:xfrm>
            <a:off x="3214800" y="3071880"/>
            <a:ext cx="1571400" cy="394560"/>
          </a:xfrm>
          <a:prstGeom prst="rect">
            <a:avLst/>
          </a:prstGeom>
          <a:solidFill>
            <a:srgbClr val="ffffff"/>
          </a:solidFill>
          <a:ln>
            <a:solidFill>
              <a:srgbClr val="da1f28"/>
            </a:solidFill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Palabra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6 CuadroTexto"/>
          <p:cNvSpPr/>
          <p:nvPr/>
        </p:nvSpPr>
        <p:spPr>
          <a:xfrm>
            <a:off x="1357200" y="4143240"/>
            <a:ext cx="2071440" cy="394560"/>
          </a:xfrm>
          <a:prstGeom prst="rect">
            <a:avLst/>
          </a:prstGeom>
          <a:solidFill>
            <a:srgbClr val="ffffff"/>
          </a:solidFill>
          <a:ln>
            <a:solidFill>
              <a:srgbClr val="da1f28"/>
            </a:solidFill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Concatenación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7 CuadroTexto"/>
          <p:cNvSpPr/>
          <p:nvPr/>
        </p:nvSpPr>
        <p:spPr>
          <a:xfrm>
            <a:off x="1857240" y="4786200"/>
            <a:ext cx="1571400" cy="394560"/>
          </a:xfrm>
          <a:prstGeom prst="rect">
            <a:avLst/>
          </a:prstGeom>
          <a:solidFill>
            <a:srgbClr val="ffffff"/>
          </a:solidFill>
          <a:ln>
            <a:solidFill>
              <a:srgbClr val="da1f28"/>
            </a:solidFill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Potencia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8 CuadroTexto"/>
          <p:cNvSpPr/>
          <p:nvPr/>
        </p:nvSpPr>
        <p:spPr>
          <a:xfrm>
            <a:off x="1143000" y="5429160"/>
            <a:ext cx="2285640" cy="394560"/>
          </a:xfrm>
          <a:prstGeom prst="rect">
            <a:avLst/>
          </a:prstGeom>
          <a:solidFill>
            <a:srgbClr val="ffffff"/>
          </a:solidFill>
          <a:ln>
            <a:solidFill>
              <a:srgbClr val="da1f28"/>
            </a:solidFill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" sz="2000" spc="-1" strike="noStrike">
                <a:solidFill>
                  <a:schemeClr val="dk1"/>
                </a:solidFill>
                <a:latin typeface="Lucida Sans Unicode"/>
              </a:rPr>
              <a:t>Palabra Inversa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2" name="10 Conector recto de flecha"/>
          <p:cNvCxnSpPr/>
          <p:nvPr/>
        </p:nvCxnSpPr>
        <p:spPr>
          <a:xfrm flipH="1">
            <a:off x="4142520" y="3501000"/>
            <a:ext cx="1800" cy="221508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203" name="12 Conector recto de flecha"/>
          <p:cNvCxnSpPr/>
          <p:nvPr/>
        </p:nvCxnSpPr>
        <p:spPr>
          <a:xfrm flipH="1" flipV="1">
            <a:off x="3500280" y="4357440"/>
            <a:ext cx="643320" cy="216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204" name="14 Conector recto de flecha"/>
          <p:cNvCxnSpPr/>
          <p:nvPr/>
        </p:nvCxnSpPr>
        <p:spPr>
          <a:xfrm flipH="1" flipV="1">
            <a:off x="3500280" y="4929120"/>
            <a:ext cx="643320" cy="180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205" name="16 Conector recto de flecha"/>
          <p:cNvCxnSpPr/>
          <p:nvPr/>
        </p:nvCxnSpPr>
        <p:spPr>
          <a:xfrm flipH="1" flipV="1">
            <a:off x="3500280" y="5715000"/>
            <a:ext cx="643320" cy="180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206" name="18 Conector recto de flecha"/>
          <p:cNvCxnSpPr/>
          <p:nvPr/>
        </p:nvCxnSpPr>
        <p:spPr>
          <a:xfrm flipH="1">
            <a:off x="3071520" y="2358000"/>
            <a:ext cx="2160" cy="21456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207" name="20 Conector recto"/>
          <p:cNvCxnSpPr/>
          <p:nvPr/>
        </p:nvCxnSpPr>
        <p:spPr>
          <a:xfrm>
            <a:off x="2071440" y="2571480"/>
            <a:ext cx="2072160" cy="360"/>
          </a:xfrm>
          <a:prstGeom prst="straightConnector1">
            <a:avLst/>
          </a:prstGeom>
          <a:ln>
            <a:solidFill>
              <a:srgbClr val="2da2bf"/>
            </a:solidFill>
            <a:round/>
          </a:ln>
        </p:spPr>
      </p:cxnSp>
      <p:cxnSp>
        <p:nvCxnSpPr>
          <p:cNvPr id="208" name="22 Conector recto de flecha"/>
          <p:cNvCxnSpPr/>
          <p:nvPr/>
        </p:nvCxnSpPr>
        <p:spPr>
          <a:xfrm flipH="1">
            <a:off x="2070720" y="2572200"/>
            <a:ext cx="1800" cy="50076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209" name="24 Conector recto de flecha"/>
          <p:cNvCxnSpPr/>
          <p:nvPr/>
        </p:nvCxnSpPr>
        <p:spPr>
          <a:xfrm flipH="1">
            <a:off x="4070880" y="2572200"/>
            <a:ext cx="2160" cy="42912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  <p:cxnSp>
        <p:nvCxnSpPr>
          <p:cNvPr id="210" name="12 Conector recto de flecha"/>
          <p:cNvCxnSpPr/>
          <p:nvPr/>
        </p:nvCxnSpPr>
        <p:spPr>
          <a:xfrm>
            <a:off x="2774520" y="3271680"/>
            <a:ext cx="357480" cy="360"/>
          </a:xfrm>
          <a:prstGeom prst="straightConnector1">
            <a:avLst/>
          </a:prstGeom>
          <a:ln>
            <a:solidFill>
              <a:srgbClr val="2da2bf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 fontScale="87096"/>
          </a:bodyPr>
          <a:p>
            <a:pPr indent="0" algn="ctr">
              <a:lnSpc>
                <a:spcPct val="100000"/>
              </a:lnSpc>
              <a:buNone/>
            </a:pPr>
            <a:r>
              <a:rPr b="1" lang="es-AR" sz="4100" spc="-1" strike="noStrike">
                <a:solidFill>
                  <a:schemeClr val="dk2"/>
                </a:solidFill>
                <a:latin typeface="Lucida Sans Unicode"/>
              </a:rPr>
              <a:t>concatenación</a:t>
            </a:r>
            <a:endParaRPr b="0" lang="es-ES" sz="41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12" name="2 Rectángulo"/>
          <p:cNvSpPr/>
          <p:nvPr/>
        </p:nvSpPr>
        <p:spPr>
          <a:xfrm>
            <a:off x="476640" y="1052640"/>
            <a:ext cx="8064360" cy="52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Es la operación por la cual dos caracteres se unen para formar una </a:t>
            </a:r>
            <a:r>
              <a:rPr b="0" lang="es-ES" sz="2800" spc="-1" strike="noStrike" u="sng">
                <a:solidFill>
                  <a:schemeClr val="dk1"/>
                </a:solidFill>
                <a:uFillTx/>
                <a:latin typeface="Lucida Sans Unicode"/>
                <a:hlinkClick r:id="rId1"/>
              </a:rPr>
              <a:t>cadena de caracteres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 (o </a:t>
            </a:r>
            <a:r>
              <a:rPr b="0" i="1" lang="es-ES" sz="2800" spc="-1" strike="noStrike">
                <a:solidFill>
                  <a:schemeClr val="dk1"/>
                </a:solidFill>
                <a:latin typeface="Lucida Sans Unicode"/>
              </a:rPr>
              <a:t>string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). También se pueden concatenar dos cadenas de caracteres o un carácter con una cadena para formar una cadena de mayor tamaño.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Los símbolos que se puede usar dependiendo del lenguaje son: </a:t>
            </a:r>
            <a:r>
              <a:rPr b="1" lang="es-ES" sz="2800" spc="-1" strike="noStrike">
                <a:solidFill>
                  <a:srgbClr val="ff0000"/>
                </a:solidFill>
                <a:latin typeface="Lucida Sans Unicode"/>
              </a:rPr>
              <a:t>+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, </a:t>
            </a:r>
            <a:r>
              <a:rPr b="1" lang="es-ES" sz="2800" spc="-1" strike="noStrike">
                <a:solidFill>
                  <a:srgbClr val="ff0000"/>
                </a:solidFill>
                <a:latin typeface="Lucida Sans Unicode"/>
              </a:rPr>
              <a:t>^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, </a:t>
            </a:r>
            <a:r>
              <a:rPr b="1" lang="es-ES" sz="2800" spc="-1" strike="noStrike">
                <a:solidFill>
                  <a:srgbClr val="ff0000"/>
                </a:solidFill>
                <a:latin typeface="Lucida Sans Unicode"/>
              </a:rPr>
              <a:t>.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 , </a:t>
            </a:r>
            <a:r>
              <a:rPr b="1" lang="es-ES" sz="2800" spc="-1" strike="noStrike">
                <a:solidFill>
                  <a:srgbClr val="ff0000"/>
                </a:solidFill>
                <a:latin typeface="Lucida Sans Unicode"/>
              </a:rPr>
              <a:t>&amp;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/>
          </p:nvPr>
        </p:nvSpPr>
        <p:spPr>
          <a:xfrm>
            <a:off x="457200" y="1357200"/>
            <a:ext cx="8229240" cy="476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1068" lnSpcReduction="10000"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De x e y, denominada “x.y”, es una palabra que contiene todos los símbolos (de izquierda a derecha) de x  seguidos de los símbolos de y</a:t>
            </a: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Sean </a:t>
            </a:r>
            <a:r>
              <a:rPr b="1" lang="es-ES" sz="3600" spc="-1" strike="noStrike">
                <a:solidFill>
                  <a:srgbClr val="ff0000"/>
                </a:solidFill>
                <a:latin typeface="Lucida Sans Unicode"/>
              </a:rPr>
              <a:t>x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=A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1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2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...A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n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 e </a:t>
            </a:r>
            <a:r>
              <a:rPr b="1" lang="es-ES" sz="3600" spc="-1" strike="noStrike">
                <a:solidFill>
                  <a:srgbClr val="ff0000"/>
                </a:solidFill>
                <a:latin typeface="Lucida Sans Unicode"/>
              </a:rPr>
              <a:t>y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=B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1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B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2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...B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m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 con 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i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, B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i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∈ Σ: ⇒ </a:t>
            </a:r>
            <a:r>
              <a:rPr b="1" lang="es-ES" sz="3600" spc="-1" strike="noStrike">
                <a:solidFill>
                  <a:srgbClr val="ff0000"/>
                </a:solidFill>
                <a:latin typeface="Lucida Sans Unicode"/>
              </a:rPr>
              <a:t>xy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= 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1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2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...A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n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B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1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B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2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...B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m</a:t>
            </a: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3300" spc="-1" strike="noStrike">
                <a:solidFill>
                  <a:srgbClr val="ff0066"/>
                </a:solidFill>
                <a:latin typeface="Lucida Sans Unicode"/>
              </a:rPr>
              <a:t>Ejemplos: </a:t>
            </a:r>
            <a:endParaRPr b="0" lang="es-ES" sz="33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3000" spc="-1" strike="noStrike">
                <a:solidFill>
                  <a:schemeClr val="dk1"/>
                </a:solidFill>
                <a:latin typeface="Lucida Sans Unicode"/>
              </a:rPr>
              <a:t>x =abc, y =da, definidos sobre Σ ={a,b,c,d}</a:t>
            </a:r>
            <a:endParaRPr b="0" lang="es-ES" sz="30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xy=abcda ; </a:t>
            </a: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Elemento neutro: w</a:t>
            </a:r>
            <a:r>
              <a:rPr b="0" lang="es-ES" sz="4300" spc="-1" strike="noStrike">
                <a:solidFill>
                  <a:schemeClr val="dk1"/>
                </a:solidFill>
                <a:latin typeface="Symbol"/>
              </a:rPr>
              <a:t></a:t>
            </a:r>
            <a:r>
              <a:rPr b="0" lang="es-ES" sz="4300" spc="-1" strike="noStrike">
                <a:solidFill>
                  <a:schemeClr val="dk1"/>
                </a:solidFill>
                <a:latin typeface="Lucida Sans Unicode"/>
              </a:rPr>
              <a:t>= 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w</a:t>
            </a: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ES" sz="3600" spc="-1" strike="noStrike">
                <a:solidFill>
                  <a:schemeClr val="dk2"/>
                </a:solidFill>
                <a:latin typeface="Lucida Sans Unicode"/>
              </a:rPr>
              <a:t>Concatenación</a:t>
            </a:r>
            <a:br>
              <a:rPr sz="3600"/>
            </a:br>
            <a:r>
              <a:rPr b="1" lang="es-ES" sz="2200" spc="-1" strike="noStrike">
                <a:solidFill>
                  <a:schemeClr val="dk2"/>
                </a:solidFill>
                <a:latin typeface="Lucida Sans Unicode"/>
              </a:rPr>
              <a:t>(Unir dos o mas cadenas)</a:t>
            </a:r>
            <a:endParaRPr b="0" lang="es-ES" sz="22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/>
          </p:nvPr>
        </p:nvSpPr>
        <p:spPr>
          <a:xfrm>
            <a:off x="457200" y="1210680"/>
            <a:ext cx="8229240" cy="495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4775"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AR" sz="2700" spc="-1" strike="noStrike">
                <a:solidFill>
                  <a:schemeClr val="dk1"/>
                </a:solidFill>
                <a:latin typeface="Lucida Sans Unicode"/>
              </a:rPr>
              <a:t>'a' </a:t>
            </a:r>
            <a:r>
              <a:rPr b="0" i="1" lang="es-AR" sz="2700" spc="-1" strike="noStrike">
                <a:solidFill>
                  <a:schemeClr val="dk1"/>
                </a:solidFill>
                <a:latin typeface="Lucida Sans Unicode"/>
              </a:rPr>
              <a:t>concatenado 'b' → "ab"</a:t>
            </a:r>
            <a:r>
              <a:rPr b="0" lang="es-AR" sz="2700" spc="-1" strike="noStrike">
                <a:solidFill>
                  <a:schemeClr val="dk1"/>
                </a:solidFill>
                <a:latin typeface="Lucida Sans Unicode"/>
              </a:rPr>
              <a:t>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AR" sz="2700" spc="-1" strike="noStrike">
                <a:solidFill>
                  <a:schemeClr val="dk1"/>
                </a:solidFill>
                <a:latin typeface="Lucida Sans Unicode"/>
              </a:rPr>
              <a:t>"ABCD" </a:t>
            </a:r>
            <a:r>
              <a:rPr b="0" i="1" lang="es-AR" sz="2700" spc="-1" strike="noStrike">
                <a:solidFill>
                  <a:schemeClr val="dk1"/>
                </a:solidFill>
                <a:latin typeface="Lucida Sans Unicode"/>
              </a:rPr>
              <a:t>concatenado 'b' → "ABCDb"</a:t>
            </a:r>
            <a:r>
              <a:rPr b="0" lang="es-AR" sz="2700" spc="-1" strike="noStrike">
                <a:solidFill>
                  <a:schemeClr val="dk1"/>
                </a:solidFill>
                <a:latin typeface="Lucida Sans Unicode"/>
              </a:rPr>
              <a:t>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AR" sz="2700" spc="-1" strike="noStrike">
                <a:solidFill>
                  <a:schemeClr val="dk1"/>
                </a:solidFill>
                <a:latin typeface="Lucida Sans Unicode"/>
              </a:rPr>
              <a:t>'a' </a:t>
            </a:r>
            <a:r>
              <a:rPr b="0" i="1" lang="es-AR" sz="2700" spc="-1" strike="noStrike">
                <a:solidFill>
                  <a:schemeClr val="dk1"/>
                </a:solidFill>
                <a:latin typeface="Lucida Sans Unicode"/>
              </a:rPr>
              <a:t>concatenado "XYZ" → "aXYZ"</a:t>
            </a:r>
            <a:r>
              <a:rPr b="0" lang="es-AR" sz="2700" spc="-1" strike="noStrike">
                <a:solidFill>
                  <a:schemeClr val="dk1"/>
                </a:solidFill>
                <a:latin typeface="Lucida Sans Unicode"/>
              </a:rPr>
              <a:t>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AR" sz="2700" spc="-1" strike="noStrike">
                <a:solidFill>
                  <a:schemeClr val="dk1"/>
                </a:solidFill>
                <a:latin typeface="Lucida Sans Unicode"/>
              </a:rPr>
              <a:t>"ABCD" </a:t>
            </a:r>
            <a:r>
              <a:rPr b="0" i="1" lang="es-AR" sz="2700" spc="-1" strike="noStrike">
                <a:solidFill>
                  <a:schemeClr val="dk1"/>
                </a:solidFill>
                <a:latin typeface="Lucida Sans Unicode"/>
              </a:rPr>
              <a:t>concatenado "XYZ" → "ABCDXYZ“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En </a:t>
            </a:r>
            <a:r>
              <a:rPr b="0" lang="es-ES" sz="2700" spc="-1" strike="noStrike" u="sng">
                <a:solidFill>
                  <a:schemeClr val="dk1"/>
                </a:solidFill>
                <a:uFillTx/>
                <a:latin typeface="Lucida Sans Unicode"/>
                <a:hlinkClick r:id="rId1"/>
              </a:rPr>
              <a:t>PHP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 y </a:t>
            </a:r>
            <a:r>
              <a:rPr b="0" lang="es-ES" sz="2700" spc="-1" strike="noStrike" u="sng">
                <a:solidFill>
                  <a:schemeClr val="dk1"/>
                </a:solidFill>
                <a:uFillTx/>
                <a:latin typeface="Lucida Sans Unicode"/>
                <a:hlinkClick r:id="rId2"/>
              </a:rPr>
              <a:t>perl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 se </a:t>
            </a:r>
            <a:r>
              <a:rPr b="1" lang="es-ES" sz="2700" spc="-1" strike="noStrike">
                <a:solidFill>
                  <a:schemeClr val="dk1"/>
                </a:solidFill>
                <a:latin typeface="Lucida Sans Unicode"/>
              </a:rPr>
              <a:t>concatena con un punto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 (</a:t>
            </a:r>
            <a:r>
              <a:rPr b="1" lang="es-ES" sz="2700" spc="-1" strike="noStrike">
                <a:solidFill>
                  <a:schemeClr val="dk1"/>
                </a:solidFill>
                <a:latin typeface="Lucida Sans Unicode"/>
              </a:rPr>
              <a:t>.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)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br>
              <a:rPr sz="2700"/>
            </a:b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Por ejemplo, en PHP: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$_H1 = "Ignacio";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$_H2 = "Álex";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 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echo $_H1. " y ". $_H2. " son hermanos.";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br>
              <a:rPr sz="2700"/>
            </a:b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Dará como resultado la cadena: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Ignacio y Álex son hermanos.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AR" sz="3200" spc="-1" strike="noStrike">
                <a:solidFill>
                  <a:schemeClr val="dk2"/>
                </a:solidFill>
                <a:latin typeface="Lucida Sans Unicode"/>
              </a:rPr>
              <a:t>Ejemplos de concatenación</a:t>
            </a:r>
            <a:endParaRPr b="0" lang="es-ES" sz="32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/>
          </p:nvPr>
        </p:nvSpPr>
        <p:spPr>
          <a:xfrm>
            <a:off x="457200" y="1357200"/>
            <a:ext cx="8229240" cy="476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Sea i un número natural, y x una palabra. 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La potencia i-ésima de x, denominada x</a:t>
            </a:r>
            <a:r>
              <a:rPr b="0" lang="es-ES" sz="2800" spc="-1" strike="noStrike" baseline="30000">
                <a:solidFill>
                  <a:schemeClr val="dk1"/>
                </a:solidFill>
                <a:latin typeface="Lucida Sans Unicode"/>
              </a:rPr>
              <a:t>i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 , es la operación que consiste en concatenarla consigo misma i veces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    </a:t>
            </a:r>
            <a:r>
              <a:rPr b="1" lang="es-ES" sz="2800" spc="-1" strike="noStrike">
                <a:solidFill>
                  <a:srgbClr val="ff0066"/>
                </a:solidFill>
                <a:latin typeface="Lucida Sans Unicode"/>
              </a:rPr>
              <a:t>Ejemplos: 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x =abc ⇒ x</a:t>
            </a:r>
            <a:r>
              <a:rPr b="0" lang="es-ES" sz="2800" spc="-1" strike="noStrike" baseline="30000">
                <a:solidFill>
                  <a:schemeClr val="dk1"/>
                </a:solidFill>
                <a:latin typeface="Lucida Sans Unicode"/>
              </a:rPr>
              <a:t>1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 =abc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x</a:t>
            </a:r>
            <a:r>
              <a:rPr b="0" lang="es-ES" sz="2800" spc="-1" strike="noStrike" baseline="30000">
                <a:solidFill>
                  <a:schemeClr val="dk1"/>
                </a:solidFill>
                <a:latin typeface="Lucida Sans Unicode"/>
              </a:rPr>
              <a:t>2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=abcabc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0"/>
              </a:tabLst>
            </a:pP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x</a:t>
            </a:r>
            <a:r>
              <a:rPr b="0" lang="es-ES" sz="2800" spc="-1" strike="noStrike" baseline="30000">
                <a:solidFill>
                  <a:schemeClr val="dk1"/>
                </a:solidFill>
                <a:latin typeface="Lucida Sans Unicode"/>
              </a:rPr>
              <a:t>3</a:t>
            </a:r>
            <a:r>
              <a:rPr b="0" lang="es-ES" sz="2800" spc="-1" strike="noStrike">
                <a:solidFill>
                  <a:schemeClr val="dk1"/>
                </a:solidFill>
                <a:latin typeface="Lucida Sans Unicode"/>
              </a:rPr>
              <a:t>=abcabcabc</a:t>
            </a: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8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867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ES" sz="4000" spc="-1" strike="noStrike">
                <a:solidFill>
                  <a:schemeClr val="dk2"/>
                </a:solidFill>
                <a:latin typeface="Lucida Sans Unicode"/>
              </a:rPr>
              <a:t>potencia</a:t>
            </a:r>
            <a:endParaRPr b="0" lang="es-ES" sz="40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Sea x=A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1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2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...A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n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 con 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i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 ∈Σ una palabra sobre el alfabeto  Σ. Se llama palabra refleja o inversa de x, y se representa por x</a:t>
            </a:r>
            <a:r>
              <a:rPr b="0" lang="es-ES" sz="3600" spc="-1" strike="noStrike" baseline="30000">
                <a:solidFill>
                  <a:schemeClr val="dk1"/>
                </a:solidFill>
                <a:latin typeface="Lucida Sans Unicode"/>
              </a:rPr>
              <a:t>-1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 , a la palabra 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n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n-1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...A</a:t>
            </a:r>
            <a:r>
              <a:rPr b="0" lang="es-ES" sz="3600" spc="-1" strike="noStrike" baseline="-25000">
                <a:solidFill>
                  <a:schemeClr val="dk1"/>
                </a:solidFill>
                <a:latin typeface="Lucida Sans Unicode"/>
              </a:rPr>
              <a:t>1</a:t>
            </a:r>
            <a:r>
              <a:rPr b="0" lang="es-ES" sz="3600" spc="-1" strike="noStrike">
                <a:solidFill>
                  <a:schemeClr val="dk1"/>
                </a:solidFill>
                <a:latin typeface="Lucida Sans Unicode"/>
              </a:rPr>
              <a:t>.</a:t>
            </a: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700" spc="-1" strike="noStrike">
                <a:solidFill>
                  <a:srgbClr val="ff0066"/>
                </a:solidFill>
                <a:latin typeface="Lucida Sans Unicode"/>
              </a:rPr>
              <a:t>Ejemplos: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x= abc ⇒ x</a:t>
            </a:r>
            <a:r>
              <a:rPr b="0" lang="es-ES" sz="2700" spc="-1" strike="noStrike" baseline="30000">
                <a:solidFill>
                  <a:schemeClr val="dk1"/>
                </a:solidFill>
                <a:latin typeface="Lucida Sans Unicode"/>
              </a:rPr>
              <a:t>-1</a:t>
            </a: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 =cba</a:t>
            </a:r>
            <a:r>
              <a:rPr b="0" lang="es-ES" sz="2700" spc="-1" strike="noStrike" baseline="30000">
                <a:solidFill>
                  <a:schemeClr val="dk1"/>
                </a:solidFill>
                <a:latin typeface="Lucida Sans Unicode"/>
              </a:rPr>
              <a:t> 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ES" sz="3600" spc="-1" strike="noStrike">
                <a:solidFill>
                  <a:schemeClr val="dk2"/>
                </a:solidFill>
                <a:latin typeface="Lucida Sans Unicode"/>
              </a:rPr>
              <a:t>Palabra inversa</a:t>
            </a:r>
            <a:endParaRPr b="0" lang="es-ES" sz="36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Obtener unas palabras para el lenguaje L1en el alfabeto {a, b, c} en que las palabras contienen exactamente una vez dos b contiguas. 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es-ES" sz="2700" spc="-1" strike="noStrike">
                <a:solidFill>
                  <a:schemeClr val="dk1"/>
                </a:solidFill>
                <a:latin typeface="Lucida Sans Unicode"/>
              </a:rPr>
              <a:t>cabba – bbaaccaa- aaaabba -bb</a:t>
            </a:r>
            <a:endParaRPr b="0" lang="es-ES" sz="27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2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s-ES" sz="500" spc="-1" strike="noStrike">
                <a:solidFill>
                  <a:schemeClr val="dk2"/>
                </a:solidFill>
                <a:latin typeface="Lucida Sans Unicode"/>
              </a:rPr>
              <a:t>.</a:t>
            </a:r>
            <a:endParaRPr b="0" lang="es-ES" sz="500" spc="-1" strike="noStrike">
              <a:solidFill>
                <a:schemeClr val="dk1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/>
          </p:nvPr>
        </p:nvSpPr>
        <p:spPr>
          <a:xfrm>
            <a:off x="457200" y="1357200"/>
            <a:ext cx="8229240" cy="30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" sz="200" spc="-1" strike="noStrike">
                <a:solidFill>
                  <a:schemeClr val="dk1"/>
                </a:solidFill>
                <a:latin typeface="Lucida Sans Unicode"/>
              </a:rPr>
              <a:t>.</a:t>
            </a:r>
            <a:endParaRPr b="0" lang="es-ES" sz="200" spc="-1" strike="noStrike">
              <a:solidFill>
                <a:schemeClr val="dk1"/>
              </a:solidFill>
              <a:latin typeface="Lucida Sans Unicode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chemeClr val="dk2"/>
                </a:solidFill>
                <a:latin typeface="Lucida Sans Unicode"/>
              </a:rPr>
              <a:t>Ejercicio</a:t>
            </a:r>
            <a:endParaRPr b="0" lang="es-ES" sz="2400" spc="-1" strike="noStrike">
              <a:solidFill>
                <a:schemeClr val="dk1"/>
              </a:solidFill>
              <a:latin typeface="Lucida Sans Unicode"/>
            </a:endParaRPr>
          </a:p>
        </p:txBody>
      </p:sp>
      <p:pic>
        <p:nvPicPr>
          <p:cNvPr id="225" name="Imagen 3" descr=""/>
          <p:cNvPicPr/>
          <p:nvPr/>
        </p:nvPicPr>
        <p:blipFill>
          <a:blip r:embed="rId1"/>
          <a:srcRect l="9872" t="30591" r="42856" b="40802"/>
          <a:stretch/>
        </p:blipFill>
        <p:spPr>
          <a:xfrm>
            <a:off x="755640" y="1628640"/>
            <a:ext cx="7776360" cy="2744640"/>
          </a:xfrm>
          <a:prstGeom prst="rect">
            <a:avLst/>
          </a:prstGeom>
          <a:ln w="0">
            <a:noFill/>
          </a:ln>
        </p:spPr>
      </p:pic>
      <p:sp>
        <p:nvSpPr>
          <p:cNvPr id="226" name="CuadroTexto 4"/>
          <p:cNvSpPr/>
          <p:nvPr/>
        </p:nvSpPr>
        <p:spPr>
          <a:xfrm>
            <a:off x="3852000" y="4373640"/>
            <a:ext cx="2664000" cy="20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MX" sz="3200" spc="-1" strike="noStrike">
                <a:solidFill>
                  <a:schemeClr val="dk1"/>
                </a:solidFill>
                <a:latin typeface="Lucida Sans Unicode"/>
              </a:rPr>
              <a:t>001001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MX" sz="3200" spc="-1" strike="noStrike">
                <a:solidFill>
                  <a:srgbClr val="ff0000"/>
                </a:solidFill>
                <a:latin typeface="Lucida Sans Unicode"/>
              </a:rPr>
              <a:t>1010101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MX" sz="3200" spc="-1" strike="noStrike">
                <a:solidFill>
                  <a:srgbClr val="ff0000"/>
                </a:solidFill>
                <a:latin typeface="Lucida Sans Unicode"/>
              </a:rPr>
              <a:t>1000001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MX" sz="3200" spc="-1" strike="noStrike">
                <a:solidFill>
                  <a:schemeClr val="dk1"/>
                </a:solidFill>
                <a:latin typeface="Lucida Sans Unicode"/>
              </a:rPr>
              <a:t>111000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oncurrencia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 pitchFamily="0" charset="1"/>
        <a:ea typeface=""/>
        <a:cs typeface=""/>
      </a:majorFont>
      <a:minorFont>
        <a:latin typeface="Lucida Sans Unicod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2000"/>
              </a:schemeClr>
            </a:gs>
            <a:gs pos="65000">
              <a:schemeClr val="phClr">
                <a:tint val="32000"/>
              </a:schemeClr>
            </a:gs>
            <a:gs pos="100000">
              <a:schemeClr val="phClr">
                <a:tint val="23000"/>
              </a:schemeClr>
            </a:gs>
          </a:gsLst>
          <a:lin ang="16200000" scaled="0"/>
          <a:tileRect l="0" t="0" r="0" b="0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955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55000" cap="flat" cmpd="thickThin" algn="ctr">
          <a:prstDash val="solid"/>
        </a:ln>
        <a:ln w="63500" cap="flat" cmpd="thickThin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5000"/>
              </a:schemeClr>
            </a:gs>
            <a:gs pos="40000">
              <a:schemeClr val="phClr">
                <a:tint val="65000"/>
              </a:schemeClr>
            </a:gs>
            <a:gs pos="100000">
              <a:schemeClr val="phClr">
                <a:shade val="65000"/>
              </a:schemeClr>
            </a:gs>
          </a:gsLst>
          <a:path path="circle">
            <a:fillToRect l="65000" t="0" r="0" b="98000"/>
          </a:path>
          <a:tileRect l="0" t="0" r="0" b="0"/>
        </a:gradFill>
        <a:blipFill rotWithShape="0">
          <a:blip r:embed="rId1"/>
          <a:srcRect l="0" t="0" r="0" b="0"/>
          <a:tile tx="0" ty="0" sx="50000" sy="5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4402</TotalTime>
  <Application>LibreOffice/24.2.7.2$Linux_X86_64 LibreOffice_project/420$Build-2</Application>
  <AppVersion>15.0000</AppVersion>
  <Words>1554</Words>
  <Paragraphs>214</Paragraphs>
  <Company>eXPerienciaUE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2014-03-26T01:51:34Z</dcterms:created>
  <dc:creator>Alejandra</dc:creator>
  <dc:description/>
  <dc:language>es-ES</dc:language>
  <cp:lastModifiedBy/>
  <cp:lastPrinted>2022-03-30T22:23:02Z</cp:lastPrinted>
  <dcterms:modified xsi:type="dcterms:W3CDTF">2025-05-03T20:57:35Z</dcterms:modified>
  <cp:revision>318</cp:revision>
  <dc:subject/>
  <dc:title>Universidad Nacional de La Rioja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i4>27</vt:i4>
  </property>
</Properties>
</file>