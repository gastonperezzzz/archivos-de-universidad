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0"/>
  </p:handoutMasterIdLst>
  <p:sldIdLst>
    <p:sldId id="256" r:id="rId2"/>
    <p:sldId id="277" r:id="rId3"/>
    <p:sldId id="267" r:id="rId4"/>
    <p:sldId id="273" r:id="rId5"/>
    <p:sldId id="268" r:id="rId6"/>
    <p:sldId id="269" r:id="rId7"/>
    <p:sldId id="259" r:id="rId8"/>
    <p:sldId id="271" r:id="rId9"/>
    <p:sldId id="275" r:id="rId10"/>
    <p:sldId id="260" r:id="rId11"/>
    <p:sldId id="261" r:id="rId12"/>
    <p:sldId id="262" r:id="rId13"/>
    <p:sldId id="263" r:id="rId14"/>
    <p:sldId id="264" r:id="rId15"/>
    <p:sldId id="265" r:id="rId16"/>
    <p:sldId id="276" r:id="rId17"/>
    <p:sldId id="278" r:id="rId18"/>
    <p:sldId id="266" r:id="rId1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816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DAC8CD-098E-4E1F-9B31-AE3350169218}" type="datetimeFigureOut">
              <a:rPr lang="es-AR" smtClean="0"/>
              <a:t>25/3/2025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73D42-4423-41F2-A5ED-CE5622642C2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508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7" name="6 Cheurón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7 Cheurón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10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12 Cheurón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Forma libre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E6AEB90-42D8-4DBF-883D-CF6DA984D64D}" type="datetimeFigureOut">
              <a:rPr lang="es-ES" smtClean="0"/>
              <a:pPr/>
              <a:t>25/03/2025</a:t>
            </a:fld>
            <a:endParaRPr lang="es-ES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5E2704A0-D4E1-442E-B174-78FA08D392FD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962019"/>
          </a:xfrm>
        </p:spPr>
        <p:txBody>
          <a:bodyPr>
            <a:normAutofit/>
          </a:bodyPr>
          <a:lstStyle/>
          <a:p>
            <a:r>
              <a:rPr lang="es-ES" sz="3600" dirty="0" smtClean="0"/>
              <a:t>Universidad Nacional de La Rioja</a:t>
            </a:r>
            <a:endParaRPr lang="es-ES" sz="3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685800" y="2928934"/>
            <a:ext cx="7772400" cy="1882377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s-ES" dirty="0" smtClean="0"/>
              <a:t>Carrera: </a:t>
            </a:r>
            <a:r>
              <a:rPr lang="es-ES" sz="2400" dirty="0" smtClean="0"/>
              <a:t>Licenciatura en Sistemas de Información</a:t>
            </a:r>
          </a:p>
          <a:p>
            <a:pPr algn="l">
              <a:lnSpc>
                <a:spcPct val="150000"/>
              </a:lnSpc>
            </a:pPr>
            <a:r>
              <a:rPr lang="es-ES" sz="2400" dirty="0" smtClean="0"/>
              <a:t>               Ingeniería en Sistemas de Información</a:t>
            </a:r>
          </a:p>
          <a:p>
            <a:pPr algn="ctr">
              <a:lnSpc>
                <a:spcPct val="150000"/>
              </a:lnSpc>
            </a:pPr>
            <a:r>
              <a:rPr lang="es-ES" sz="2400" dirty="0" smtClean="0"/>
              <a:t>COMPUTACIÓN  -  COMPUTACIÓN I</a:t>
            </a:r>
            <a:endParaRPr lang="es-ES" sz="2400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1025" name="Object 1"/>
          <p:cNvGraphicFramePr>
            <a:graphicFrameLocks noChangeAspect="1"/>
          </p:cNvGraphicFramePr>
          <p:nvPr/>
        </p:nvGraphicFramePr>
        <p:xfrm>
          <a:off x="3786183" y="571481"/>
          <a:ext cx="1143008" cy="1143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Picture" r:id="rId3" imgW="1295940" imgH="1505428" progId="Word.Picture.8">
                  <p:embed/>
                </p:oleObj>
              </mc:Choice>
              <mc:Fallback>
                <p:oleObj name="Picture" r:id="rId3" imgW="1295940" imgH="1505428" progId="Word.Picture.8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3" y="571481"/>
                        <a:ext cx="1143008" cy="11430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1"/>
          </p:nvPr>
        </p:nvSpPr>
        <p:spPr>
          <a:xfrm>
            <a:off x="251520" y="1481328"/>
            <a:ext cx="8712968" cy="4755984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sz="2800" b="1" dirty="0"/>
              <a:t>Es una ciencia que estudia los modelos de computación, </a:t>
            </a:r>
            <a:r>
              <a:rPr lang="es-ES" sz="2800" dirty="0"/>
              <a:t>esta ciencia se basa en otros campos científicos, los principales eslabones son</a:t>
            </a:r>
            <a:r>
              <a:rPr lang="es-ES" sz="2800" dirty="0" smtClean="0"/>
              <a:t>:</a:t>
            </a:r>
          </a:p>
          <a:p>
            <a:pPr>
              <a:buNone/>
            </a:pPr>
            <a:endParaRPr lang="es-ES" sz="2200" dirty="0"/>
          </a:p>
          <a:p>
            <a:r>
              <a:rPr lang="es-ES" sz="2800" b="1" i="1" dirty="0"/>
              <a:t>La matemática </a:t>
            </a:r>
            <a:r>
              <a:rPr lang="es-ES" sz="2800" dirty="0"/>
              <a:t>(Lógica matemática</a:t>
            </a:r>
            <a:r>
              <a:rPr lang="es-ES" sz="2800" dirty="0">
                <a:solidFill>
                  <a:srgbClr val="FF0000"/>
                </a:solidFill>
              </a:rPr>
              <a:t>, teoría de grafos</a:t>
            </a:r>
            <a:r>
              <a:rPr lang="es-ES" sz="2800" dirty="0"/>
              <a:t>, Algebra matricial, algebra relacional, Teoría de conjunto</a:t>
            </a:r>
            <a:r>
              <a:rPr lang="es-ES" sz="2800" dirty="0" smtClean="0"/>
              <a:t>).</a:t>
            </a:r>
          </a:p>
          <a:p>
            <a:endParaRPr lang="es-ES" sz="2200" dirty="0"/>
          </a:p>
          <a:p>
            <a:r>
              <a:rPr lang="es-ES" sz="2800" b="1" i="1" dirty="0"/>
              <a:t>Electrónica</a:t>
            </a:r>
            <a:r>
              <a:rPr lang="es-ES" sz="2800" dirty="0"/>
              <a:t> (Máquinas Secuenciales y autómatas</a:t>
            </a:r>
            <a:r>
              <a:rPr lang="es-ES" sz="2800" dirty="0" smtClean="0"/>
              <a:t>)</a:t>
            </a:r>
          </a:p>
          <a:p>
            <a:endParaRPr lang="es-ES" sz="2200" dirty="0"/>
          </a:p>
          <a:p>
            <a:r>
              <a:rPr lang="es-ES" sz="2800" b="1" i="1" dirty="0"/>
              <a:t>Lingüística </a:t>
            </a:r>
            <a:r>
              <a:rPr lang="es-ES" sz="2800" dirty="0" smtClean="0"/>
              <a:t>(Lenguajes Formales, Expresiones </a:t>
            </a:r>
            <a:r>
              <a:rPr lang="es-ES" sz="2800" dirty="0"/>
              <a:t>Regulares)</a:t>
            </a:r>
          </a:p>
          <a:p>
            <a:pPr>
              <a:buNone/>
            </a:pPr>
            <a:endParaRPr lang="es-ES" dirty="0"/>
          </a:p>
          <a:p>
            <a:pPr marL="109728" indent="0">
              <a:buNone/>
            </a:pPr>
            <a:endParaRPr lang="es-A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1143000"/>
          </a:xfrm>
        </p:spPr>
        <p:txBody>
          <a:bodyPr>
            <a:normAutofit/>
          </a:bodyPr>
          <a:lstStyle/>
          <a:p>
            <a:r>
              <a:rPr lang="es-ES" sz="2800" dirty="0">
                <a:solidFill>
                  <a:srgbClr val="C00000"/>
                </a:solidFill>
              </a:rPr>
              <a:t>CIENCIA de la computación o Informática Teórica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93935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s-ES" sz="2400" dirty="0" smtClean="0"/>
              <a:t>El origen de la palabra grafo es griego y su significado etimológico es "trazar". Aparece con gran frecuencia como respuesta a problemas de la vida cotidiana. </a:t>
            </a:r>
          </a:p>
          <a:p>
            <a:pPr algn="just">
              <a:buNone/>
            </a:pPr>
            <a:endParaRPr lang="es-ES" sz="2400" dirty="0" smtClean="0"/>
          </a:p>
          <a:p>
            <a:pPr algn="just">
              <a:buNone/>
            </a:pPr>
            <a:r>
              <a:rPr lang="es-ES" sz="2400" dirty="0" smtClean="0"/>
              <a:t>Es básicamente un objeto geométrico nosotros lo veremos como un objeto combinatorio, es decir, un conjunto de puntos y un conjunto de líneas</a:t>
            </a:r>
          </a:p>
          <a:p>
            <a:pPr algn="just">
              <a:buNone/>
            </a:pPr>
            <a:r>
              <a:rPr lang="es-ES" sz="2400" dirty="0" smtClean="0"/>
              <a:t>Teoría de Grafos: forma de representar y modelar relaciones entre conjuntos de datos</a:t>
            </a:r>
            <a:endParaRPr lang="es-ES" sz="24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11222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s-ES" dirty="0" smtClean="0"/>
              <a:t>Grafos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/>
          </a:bodyPr>
          <a:lstStyle/>
          <a:p>
            <a:r>
              <a:rPr lang="es-ES" sz="800" dirty="0" smtClean="0"/>
              <a:t>.</a:t>
            </a:r>
            <a:endParaRPr lang="es-ES" sz="800" dirty="0"/>
          </a:p>
        </p:txBody>
      </p:sp>
      <p:pic>
        <p:nvPicPr>
          <p:cNvPr id="4" name="3 Marcador de contenido"/>
          <p:cNvPicPr>
            <a:picLocks noGrp="1"/>
          </p:cNvPicPr>
          <p:nvPr>
            <p:ph idx="1"/>
          </p:nvPr>
        </p:nvPicPr>
        <p:blipFill>
          <a:blip r:embed="rId2" cstate="print"/>
          <a:srcRect l="9965" t="47368" r="56858" b="21429"/>
          <a:stretch>
            <a:fillRect/>
          </a:stretch>
        </p:blipFill>
        <p:spPr bwMode="auto">
          <a:xfrm>
            <a:off x="642910" y="980728"/>
            <a:ext cx="8043890" cy="4377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>
            <a:normAutofit lnSpcReduction="10000"/>
          </a:bodyPr>
          <a:lstStyle/>
          <a:p>
            <a:r>
              <a:rPr lang="es-ES" sz="2400" dirty="0" smtClean="0"/>
              <a:t>gráfico de una serie de tareas a realizar indicando su secuenciación (Algoritmo).</a:t>
            </a:r>
          </a:p>
          <a:p>
            <a:r>
              <a:rPr lang="es-ES" sz="2400" dirty="0" smtClean="0"/>
              <a:t>grafos matemáticos que representan las relaciones binarias.</a:t>
            </a:r>
          </a:p>
          <a:p>
            <a:r>
              <a:rPr lang="es-ES" sz="2400" dirty="0" smtClean="0"/>
              <a:t>Una red de carreteras.</a:t>
            </a:r>
          </a:p>
          <a:p>
            <a:r>
              <a:rPr lang="es-ES" sz="2400" dirty="0" smtClean="0"/>
              <a:t>La red de enlaces ferroviarios o aéreos.</a:t>
            </a:r>
          </a:p>
          <a:p>
            <a:r>
              <a:rPr lang="es-ES" sz="2400" dirty="0" smtClean="0"/>
              <a:t>La red eléctrica de una ciudad. </a:t>
            </a:r>
          </a:p>
          <a:p>
            <a:r>
              <a:rPr lang="es-ES" sz="2400" dirty="0" smtClean="0"/>
              <a:t>La red en un laboratorio informático</a:t>
            </a:r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sz="2200" dirty="0" smtClean="0"/>
              <a:t>En cada caso, es conveniente representar gráficamente el problema dibujando un grafo como un conjunto de puntos(vértices)con líneas conectándolos (arcos).</a:t>
            </a:r>
            <a:endParaRPr lang="es-ES" sz="22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s-ES" sz="3600" dirty="0" smtClean="0">
                <a:solidFill>
                  <a:schemeClr val="tx1"/>
                </a:solidFill>
              </a:rPr>
              <a:t>Ejemplo de Grafos</a:t>
            </a:r>
            <a:endParaRPr lang="es-ES" sz="3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026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2400" dirty="0" smtClean="0"/>
              <a:t>Nosotros realizaremos un estudio de la </a:t>
            </a:r>
            <a:r>
              <a:rPr lang="es-ES" sz="2400" b="1" dirty="0" smtClean="0"/>
              <a:t>teoría de grafos </a:t>
            </a:r>
            <a:r>
              <a:rPr lang="es-ES" sz="2400" dirty="0" smtClean="0"/>
              <a:t>desde el punto de vista de las ciencias de la computación.</a:t>
            </a:r>
          </a:p>
          <a:p>
            <a:pPr>
              <a:buNone/>
            </a:pPr>
            <a:endParaRPr lang="es-ES" sz="2400" dirty="0"/>
          </a:p>
          <a:p>
            <a:pPr>
              <a:buNone/>
            </a:pPr>
            <a:r>
              <a:rPr lang="es-ES" sz="2400" dirty="0" smtClean="0">
                <a:solidFill>
                  <a:srgbClr val="FF0000"/>
                </a:solidFill>
              </a:rPr>
              <a:t>Los grafos </a:t>
            </a:r>
            <a:r>
              <a:rPr lang="es-ES" sz="2400" dirty="0" smtClean="0"/>
              <a:t>son estructuras de datos </a:t>
            </a:r>
            <a:r>
              <a:rPr lang="es-ES" sz="2400" dirty="0" smtClean="0">
                <a:solidFill>
                  <a:srgbClr val="FF0000"/>
                </a:solidFill>
              </a:rPr>
              <a:t>no lineales </a:t>
            </a:r>
            <a:r>
              <a:rPr lang="es-ES" sz="2400" dirty="0" smtClean="0"/>
              <a:t>que tienen una naturaleza generalmente </a:t>
            </a:r>
            <a:r>
              <a:rPr lang="es-ES" sz="2400" dirty="0" smtClean="0">
                <a:solidFill>
                  <a:srgbClr val="FF0000"/>
                </a:solidFill>
              </a:rPr>
              <a:t>dinámica</a:t>
            </a:r>
            <a:r>
              <a:rPr lang="es-ES" sz="2400" dirty="0" smtClean="0"/>
              <a:t>. Su estudio podría dividirse en dos grandes bloques: </a:t>
            </a:r>
          </a:p>
          <a:p>
            <a:r>
              <a:rPr lang="es-ES" sz="2400" dirty="0" smtClean="0"/>
              <a:t>Grafos Dirigidos.</a:t>
            </a:r>
          </a:p>
          <a:p>
            <a:r>
              <a:rPr lang="es-ES" sz="2400" dirty="0" smtClean="0"/>
              <a:t>Grafos no Dirigidos</a:t>
            </a:r>
            <a:r>
              <a:rPr lang="es-ES" dirty="0" smtClean="0"/>
              <a:t>(</a:t>
            </a:r>
            <a:r>
              <a:rPr lang="es-ES" sz="2000" dirty="0" smtClean="0"/>
              <a:t>pueden ser considerados un caso particular de los anteriores</a:t>
            </a:r>
            <a:r>
              <a:rPr lang="es-ES" dirty="0" smtClean="0"/>
              <a:t>).</a:t>
            </a:r>
          </a:p>
          <a:p>
            <a:pPr>
              <a:buNone/>
            </a:pP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s-ES" sz="800" dirty="0" smtClean="0"/>
              <a:t>.</a:t>
            </a:r>
            <a:endParaRPr lang="es-E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ES" u="sng" dirty="0" smtClean="0"/>
          </a:p>
          <a:p>
            <a:pPr>
              <a:buNone/>
            </a:pPr>
            <a:r>
              <a:rPr lang="es-ES" b="1" dirty="0" smtClean="0">
                <a:solidFill>
                  <a:srgbClr val="FF0000"/>
                </a:solidFill>
              </a:rPr>
              <a:t>Definición</a:t>
            </a:r>
            <a:r>
              <a:rPr lang="es-ES" dirty="0" smtClean="0"/>
              <a:t>: es un par de conjuntos </a:t>
            </a:r>
            <a:r>
              <a:rPr lang="es-ES" b="1" dirty="0" smtClean="0">
                <a:solidFill>
                  <a:srgbClr val="FF0000"/>
                </a:solidFill>
              </a:rPr>
              <a:t>G=(V,R)</a:t>
            </a:r>
            <a:r>
              <a:rPr lang="es-ES" dirty="0" smtClean="0"/>
              <a:t> tal que: </a:t>
            </a:r>
          </a:p>
          <a:p>
            <a:pPr>
              <a:buFontTx/>
              <a:buChar char="-"/>
            </a:pPr>
            <a:r>
              <a:rPr lang="es-ES" dirty="0" smtClean="0"/>
              <a:t>V = {v</a:t>
            </a:r>
            <a:r>
              <a:rPr lang="es-ES" baseline="-25000" dirty="0" smtClean="0"/>
              <a:t>1</a:t>
            </a:r>
            <a:r>
              <a:rPr lang="es-ES" dirty="0" smtClean="0"/>
              <a:t>,v</a:t>
            </a:r>
            <a:r>
              <a:rPr lang="es-ES" baseline="-25000" dirty="0" smtClean="0"/>
              <a:t>2</a:t>
            </a:r>
            <a:r>
              <a:rPr lang="es-ES" dirty="0" smtClean="0"/>
              <a:t>,…..</a:t>
            </a:r>
            <a:r>
              <a:rPr lang="es-ES" dirty="0" err="1" smtClean="0"/>
              <a:t>v</a:t>
            </a:r>
            <a:r>
              <a:rPr lang="es-ES" baseline="-25000" dirty="0" err="1" smtClean="0"/>
              <a:t>n</a:t>
            </a:r>
            <a:r>
              <a:rPr lang="es-ES" dirty="0" smtClean="0"/>
              <a:t>} ≠ </a:t>
            </a:r>
            <a:r>
              <a:rPr lang="el-GR" dirty="0" smtClean="0"/>
              <a:t>Φ</a:t>
            </a:r>
            <a:r>
              <a:rPr lang="es-ES" dirty="0" smtClean="0"/>
              <a:t> es un conjunto finito sus elementos se denominan vértices o nodos.</a:t>
            </a:r>
          </a:p>
          <a:p>
            <a:pPr>
              <a:buFontTx/>
              <a:buChar char="-"/>
            </a:pPr>
            <a:r>
              <a:rPr lang="es-ES" dirty="0" smtClean="0"/>
              <a:t>R </a:t>
            </a:r>
            <a:r>
              <a:rPr lang="es-AR" dirty="0" smtClean="0">
                <a:sym typeface="Symbol" panose="05050102010706020507" pitchFamily="18" charset="2"/>
              </a:rPr>
              <a:t> </a:t>
            </a:r>
            <a:r>
              <a:rPr lang="es-ES" dirty="0" smtClean="0"/>
              <a:t> </a:t>
            </a:r>
            <a:r>
              <a:rPr lang="es-ES" dirty="0" err="1" smtClean="0"/>
              <a:t>VxV</a:t>
            </a:r>
            <a:r>
              <a:rPr lang="es-ES" dirty="0" smtClean="0"/>
              <a:t> es una relación binaria definida en V y sus elementos se denominan relaciones, aristas </a:t>
            </a:r>
            <a:r>
              <a:rPr lang="es-ES" dirty="0" err="1" smtClean="0"/>
              <a:t>ó</a:t>
            </a:r>
            <a:r>
              <a:rPr lang="es-ES" dirty="0" smtClean="0"/>
              <a:t> arcos.</a:t>
            </a:r>
          </a:p>
          <a:p>
            <a:pPr>
              <a:buNone/>
            </a:pPr>
            <a:r>
              <a:rPr lang="es-ES" dirty="0" smtClean="0"/>
              <a:t>  </a:t>
            </a:r>
          </a:p>
          <a:p>
            <a:pPr>
              <a:buFontTx/>
              <a:buChar char="-"/>
            </a:pPr>
            <a:endParaRPr lang="es-ES" dirty="0" smtClean="0"/>
          </a:p>
          <a:p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s-ES" sz="3200" dirty="0" smtClean="0">
                <a:solidFill>
                  <a:schemeClr val="tx1"/>
                </a:solidFill>
              </a:rPr>
              <a:t/>
            </a:r>
            <a:br>
              <a:rPr lang="es-ES" sz="3200" dirty="0" smtClean="0">
                <a:solidFill>
                  <a:schemeClr val="tx1"/>
                </a:solidFill>
              </a:rPr>
            </a:br>
            <a:r>
              <a:rPr lang="es-ES" sz="3200" dirty="0" smtClean="0">
                <a:solidFill>
                  <a:schemeClr val="tx1"/>
                </a:solidFill>
              </a:rPr>
              <a:t>Introducción a la Teoría de Grafos</a:t>
            </a:r>
            <a:br>
              <a:rPr lang="es-ES" sz="3200" dirty="0" smtClean="0">
                <a:solidFill>
                  <a:schemeClr val="tx1"/>
                </a:solidFill>
              </a:rPr>
            </a:br>
            <a:r>
              <a:rPr lang="es-ES" sz="2700" dirty="0" smtClean="0"/>
              <a:t>Grafos  Dirigido – </a:t>
            </a:r>
            <a:r>
              <a:rPr lang="es-ES" sz="2700" dirty="0" err="1" smtClean="0"/>
              <a:t>Digrafo</a:t>
            </a:r>
            <a:r>
              <a:rPr lang="es-ES" sz="2700" dirty="0" smtClean="0"/>
              <a:t> – grafos orientados</a:t>
            </a:r>
            <a:r>
              <a:rPr lang="es-ES" sz="3200" u="sng" dirty="0" smtClean="0"/>
              <a:t/>
            </a:r>
            <a:br>
              <a:rPr lang="es-ES" sz="3200" u="sng" dirty="0" smtClean="0"/>
            </a:br>
            <a:endParaRPr lang="es-E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142984"/>
            <a:ext cx="8229600" cy="4983179"/>
          </a:xfrm>
        </p:spPr>
        <p:txBody>
          <a:bodyPr/>
          <a:lstStyle/>
          <a:p>
            <a:pPr>
              <a:buNone/>
            </a:pPr>
            <a:r>
              <a:rPr lang="es-ES" sz="2800" dirty="0" smtClean="0"/>
              <a:t>Si las relaciones tienen asociada una dirección(las relaciones (</a:t>
            </a:r>
            <a:r>
              <a:rPr lang="es-ES" sz="2800" dirty="0" err="1" smtClean="0"/>
              <a:t>x,y</a:t>
            </a:r>
            <a:r>
              <a:rPr lang="es-ES" sz="2800" dirty="0" smtClean="0"/>
              <a:t>) </a:t>
            </a:r>
            <a:r>
              <a:rPr lang="es-ES" sz="2800" dirty="0"/>
              <a:t>e</a:t>
            </a:r>
            <a:r>
              <a:rPr lang="es-ES" sz="2800" dirty="0" smtClean="0"/>
              <a:t> (</a:t>
            </a:r>
            <a:r>
              <a:rPr lang="es-ES" sz="2800" dirty="0" err="1" smtClean="0"/>
              <a:t>y,x</a:t>
            </a:r>
            <a:r>
              <a:rPr lang="es-ES" sz="2800" dirty="0" smtClean="0"/>
              <a:t>) no son equivalentes) diremos que el grafo es </a:t>
            </a:r>
            <a:r>
              <a:rPr lang="es-ES" sz="2800" b="1" dirty="0" smtClean="0"/>
              <a:t>dirigido</a:t>
            </a:r>
            <a:r>
              <a:rPr lang="es-ES" sz="2800" dirty="0" smtClean="0"/>
              <a:t>, en otro caso ((</a:t>
            </a:r>
            <a:r>
              <a:rPr lang="es-ES" sz="2800" dirty="0" err="1" smtClean="0"/>
              <a:t>x,y</a:t>
            </a:r>
            <a:r>
              <a:rPr lang="es-ES" sz="2800" dirty="0" smtClean="0"/>
              <a:t>)=(</a:t>
            </a:r>
            <a:r>
              <a:rPr lang="es-ES" sz="2800" dirty="0" err="1" smtClean="0"/>
              <a:t>y,x</a:t>
            </a:r>
            <a:r>
              <a:rPr lang="es-ES" sz="2800" dirty="0" smtClean="0"/>
              <a:t>)) diremos que el grafo es </a:t>
            </a:r>
            <a:r>
              <a:rPr lang="es-ES" sz="2800" b="1" dirty="0" smtClean="0"/>
              <a:t>no dirigido</a:t>
            </a:r>
            <a:r>
              <a:rPr lang="es-ES" sz="2800" dirty="0" smtClean="0"/>
              <a:t>. </a:t>
            </a:r>
          </a:p>
          <a:p>
            <a:pPr>
              <a:buNone/>
            </a:pP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endParaRPr lang="es-ES" dirty="0" smtClean="0"/>
          </a:p>
          <a:p>
            <a:pPr>
              <a:buNone/>
            </a:pP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11156"/>
          </a:xfrm>
        </p:spPr>
        <p:txBody>
          <a:bodyPr>
            <a:normAutofit/>
          </a:bodyPr>
          <a:lstStyle/>
          <a:p>
            <a:r>
              <a:rPr lang="es-ES" sz="800" dirty="0" smtClean="0"/>
              <a:t>.</a:t>
            </a:r>
            <a:endParaRPr lang="es-ES" sz="800" dirty="0"/>
          </a:p>
        </p:txBody>
      </p:sp>
      <p:pic>
        <p:nvPicPr>
          <p:cNvPr id="4" name="3 Imagen"/>
          <p:cNvPicPr/>
          <p:nvPr/>
        </p:nvPicPr>
        <p:blipFill>
          <a:blip r:embed="rId2" cstate="print"/>
          <a:srcRect l="28908" t="38346" r="29660" b="30451"/>
          <a:stretch>
            <a:fillRect/>
          </a:stretch>
        </p:blipFill>
        <p:spPr bwMode="auto">
          <a:xfrm>
            <a:off x="1214414" y="3429000"/>
            <a:ext cx="6000792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s-AR" sz="600" dirty="0" smtClean="0"/>
              <a:t>.</a:t>
            </a:r>
            <a:endParaRPr lang="es-AR" sz="600" dirty="0"/>
          </a:p>
        </p:txBody>
      </p:sp>
      <p:pic>
        <p:nvPicPr>
          <p:cNvPr id="4" name="3 Marcador de contenido"/>
          <p:cNvPicPr>
            <a:picLocks noGrp="1"/>
          </p:cNvPicPr>
          <p:nvPr>
            <p:ph idx="1"/>
          </p:nvPr>
        </p:nvPicPr>
        <p:blipFill rotWithShape="1">
          <a:blip r:embed="rId2"/>
          <a:srcRect l="6568" t="38644" r="59108" b="20000"/>
          <a:stretch/>
        </p:blipFill>
        <p:spPr bwMode="auto">
          <a:xfrm>
            <a:off x="251520" y="548680"/>
            <a:ext cx="8280920" cy="54005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2528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Cada vértice o Nodo del grafo G=(V,R) se representa con un circulo y cada arco (V</a:t>
            </a:r>
            <a:r>
              <a:rPr lang="es-ES" baseline="-25000" dirty="0" smtClean="0"/>
              <a:t>i ,</a:t>
            </a:r>
            <a:r>
              <a:rPr lang="es-ES" dirty="0" smtClean="0"/>
              <a:t> V</a:t>
            </a:r>
            <a:r>
              <a:rPr lang="es-ES" baseline="-25000" dirty="0" smtClean="0"/>
              <a:t>j </a:t>
            </a:r>
            <a:r>
              <a:rPr lang="es-ES" dirty="0" smtClean="0"/>
              <a:t>) con una flecha que va desde el vértice inicial al vértice final.</a:t>
            </a:r>
          </a:p>
          <a:p>
            <a:endParaRPr lang="es-ES" dirty="0"/>
          </a:p>
          <a:p>
            <a:pPr>
              <a:buNone/>
            </a:pPr>
            <a:r>
              <a:rPr lang="es-ES" dirty="0" smtClean="0"/>
              <a:t>                                        ó    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dirty="0" smtClean="0"/>
              <a:t>                       </a:t>
            </a:r>
            <a:r>
              <a:rPr lang="es-ES" dirty="0" err="1" smtClean="0"/>
              <a:t>loop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800" dirty="0" smtClean="0"/>
              <a:t>.</a:t>
            </a:r>
            <a:endParaRPr lang="es-ES" sz="800" dirty="0"/>
          </a:p>
        </p:txBody>
      </p:sp>
      <p:sp>
        <p:nvSpPr>
          <p:cNvPr id="4" name="3 Conector"/>
          <p:cNvSpPr/>
          <p:nvPr/>
        </p:nvSpPr>
        <p:spPr>
          <a:xfrm>
            <a:off x="928662" y="3571876"/>
            <a:ext cx="785818" cy="6429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V</a:t>
            </a:r>
            <a:r>
              <a:rPr lang="es-ES" baseline="-25000" dirty="0" smtClean="0"/>
              <a:t>i</a:t>
            </a:r>
            <a:endParaRPr lang="es-ES" dirty="0"/>
          </a:p>
        </p:txBody>
      </p:sp>
      <p:sp>
        <p:nvSpPr>
          <p:cNvPr id="5" name="4 Conector"/>
          <p:cNvSpPr/>
          <p:nvPr/>
        </p:nvSpPr>
        <p:spPr>
          <a:xfrm>
            <a:off x="2928926" y="3571876"/>
            <a:ext cx="785818" cy="6429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V</a:t>
            </a:r>
            <a:r>
              <a:rPr lang="es-ES" baseline="-25000" dirty="0" smtClean="0"/>
              <a:t>j </a:t>
            </a:r>
            <a:endParaRPr lang="es-ES" dirty="0"/>
          </a:p>
        </p:txBody>
      </p:sp>
      <p:sp>
        <p:nvSpPr>
          <p:cNvPr id="6" name="5 Conector"/>
          <p:cNvSpPr/>
          <p:nvPr/>
        </p:nvSpPr>
        <p:spPr>
          <a:xfrm>
            <a:off x="5000628" y="3571876"/>
            <a:ext cx="785818" cy="6429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6 Conector"/>
          <p:cNvSpPr/>
          <p:nvPr/>
        </p:nvSpPr>
        <p:spPr>
          <a:xfrm>
            <a:off x="7143768" y="3571876"/>
            <a:ext cx="785818" cy="6429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1714480" y="3929066"/>
            <a:ext cx="1143008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 de flecha"/>
          <p:cNvCxnSpPr/>
          <p:nvPr/>
        </p:nvCxnSpPr>
        <p:spPr>
          <a:xfrm rot="10800000">
            <a:off x="5857884" y="3929066"/>
            <a:ext cx="1285884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onector"/>
          <p:cNvSpPr/>
          <p:nvPr/>
        </p:nvSpPr>
        <p:spPr>
          <a:xfrm>
            <a:off x="1142976" y="5286388"/>
            <a:ext cx="785818" cy="6429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16 Conector recto de flecha"/>
          <p:cNvCxnSpPr/>
          <p:nvPr/>
        </p:nvCxnSpPr>
        <p:spPr>
          <a:xfrm rot="16200000" flipV="1">
            <a:off x="1750199" y="5893611"/>
            <a:ext cx="142876" cy="7143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Forma libre"/>
          <p:cNvSpPr/>
          <p:nvPr/>
        </p:nvSpPr>
        <p:spPr>
          <a:xfrm>
            <a:off x="1821554" y="5236097"/>
            <a:ext cx="490572" cy="796429"/>
          </a:xfrm>
          <a:custGeom>
            <a:avLst/>
            <a:gdLst>
              <a:gd name="connsiteX0" fmla="*/ 46435 w 490572"/>
              <a:gd name="connsiteY0" fmla="*/ 759754 h 796429"/>
              <a:gd name="connsiteX1" fmla="*/ 333817 w 490572"/>
              <a:gd name="connsiteY1" fmla="*/ 759754 h 796429"/>
              <a:gd name="connsiteX2" fmla="*/ 373006 w 490572"/>
              <a:gd name="connsiteY2" fmla="*/ 733629 h 796429"/>
              <a:gd name="connsiteX3" fmla="*/ 399132 w 490572"/>
              <a:gd name="connsiteY3" fmla="*/ 694440 h 796429"/>
              <a:gd name="connsiteX4" fmla="*/ 438320 w 490572"/>
              <a:gd name="connsiteY4" fmla="*/ 668314 h 796429"/>
              <a:gd name="connsiteX5" fmla="*/ 464446 w 490572"/>
              <a:gd name="connsiteY5" fmla="*/ 589937 h 796429"/>
              <a:gd name="connsiteX6" fmla="*/ 490572 w 490572"/>
              <a:gd name="connsiteY6" fmla="*/ 550749 h 796429"/>
              <a:gd name="connsiteX7" fmla="*/ 477509 w 490572"/>
              <a:gd name="connsiteY7" fmla="*/ 119674 h 796429"/>
              <a:gd name="connsiteX8" fmla="*/ 451383 w 490572"/>
              <a:gd name="connsiteY8" fmla="*/ 80486 h 796429"/>
              <a:gd name="connsiteX9" fmla="*/ 412195 w 490572"/>
              <a:gd name="connsiteY9" fmla="*/ 54360 h 796429"/>
              <a:gd name="connsiteX10" fmla="*/ 333817 w 490572"/>
              <a:gd name="connsiteY10" fmla="*/ 2109 h 796429"/>
              <a:gd name="connsiteX11" fmla="*/ 124812 w 490572"/>
              <a:gd name="connsiteY11" fmla="*/ 28234 h 796429"/>
              <a:gd name="connsiteX12" fmla="*/ 46435 w 490572"/>
              <a:gd name="connsiteY12" fmla="*/ 80486 h 796429"/>
              <a:gd name="connsiteX13" fmla="*/ 7246 w 490572"/>
              <a:gd name="connsiteY13" fmla="*/ 132737 h 79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72" h="796429">
                <a:moveTo>
                  <a:pt x="46435" y="759754"/>
                </a:moveTo>
                <a:cubicBezTo>
                  <a:pt x="156457" y="796429"/>
                  <a:pt x="118567" y="789106"/>
                  <a:pt x="333817" y="759754"/>
                </a:cubicBezTo>
                <a:cubicBezTo>
                  <a:pt x="349373" y="757633"/>
                  <a:pt x="359943" y="742337"/>
                  <a:pt x="373006" y="733629"/>
                </a:cubicBezTo>
                <a:cubicBezTo>
                  <a:pt x="381715" y="720566"/>
                  <a:pt x="388031" y="705542"/>
                  <a:pt x="399132" y="694440"/>
                </a:cubicBezTo>
                <a:cubicBezTo>
                  <a:pt x="410233" y="683339"/>
                  <a:pt x="429999" y="681627"/>
                  <a:pt x="438320" y="668314"/>
                </a:cubicBezTo>
                <a:cubicBezTo>
                  <a:pt x="452916" y="644961"/>
                  <a:pt x="449170" y="612851"/>
                  <a:pt x="464446" y="589937"/>
                </a:cubicBezTo>
                <a:lnTo>
                  <a:pt x="490572" y="550749"/>
                </a:lnTo>
                <a:cubicBezTo>
                  <a:pt x="486218" y="407057"/>
                  <a:pt x="489448" y="262935"/>
                  <a:pt x="477509" y="119674"/>
                </a:cubicBezTo>
                <a:cubicBezTo>
                  <a:pt x="476205" y="104029"/>
                  <a:pt x="462484" y="91587"/>
                  <a:pt x="451383" y="80486"/>
                </a:cubicBezTo>
                <a:cubicBezTo>
                  <a:pt x="440282" y="69385"/>
                  <a:pt x="424256" y="64411"/>
                  <a:pt x="412195" y="54360"/>
                </a:cubicBezTo>
                <a:cubicBezTo>
                  <a:pt x="346963" y="0"/>
                  <a:pt x="402686" y="25065"/>
                  <a:pt x="333817" y="2109"/>
                </a:cubicBezTo>
                <a:cubicBezTo>
                  <a:pt x="328410" y="2525"/>
                  <a:pt x="174656" y="543"/>
                  <a:pt x="124812" y="28234"/>
                </a:cubicBezTo>
                <a:cubicBezTo>
                  <a:pt x="97364" y="43483"/>
                  <a:pt x="72561" y="63069"/>
                  <a:pt x="46435" y="80486"/>
                </a:cubicBezTo>
                <a:cubicBezTo>
                  <a:pt x="0" y="111443"/>
                  <a:pt x="7246" y="90912"/>
                  <a:pt x="7246" y="132737"/>
                </a:cubicBezTo>
              </a:path>
            </a:pathLst>
          </a:cu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Si dos grafos </a:t>
            </a:r>
            <a:r>
              <a:rPr lang="es-ES" dirty="0"/>
              <a:t>G</a:t>
            </a:r>
            <a:r>
              <a:rPr lang="es-ES" baseline="-25000" dirty="0"/>
              <a:t>1 </a:t>
            </a:r>
            <a:r>
              <a:rPr lang="es-ES" dirty="0"/>
              <a:t>y </a:t>
            </a:r>
            <a:r>
              <a:rPr lang="es-ES" dirty="0" smtClean="0"/>
              <a:t>G</a:t>
            </a:r>
            <a:r>
              <a:rPr lang="es-ES" baseline="-25000" dirty="0" smtClean="0"/>
              <a:t>2 </a:t>
            </a:r>
            <a:r>
              <a:rPr lang="es-ES" dirty="0" smtClean="0"/>
              <a:t>representan el mismo grafo G(V,R), se dice que son </a:t>
            </a:r>
            <a:r>
              <a:rPr lang="es-ES" b="1" dirty="0" smtClean="0"/>
              <a:t>isomorfos.</a:t>
            </a:r>
          </a:p>
          <a:p>
            <a:endParaRPr lang="es-ES" dirty="0"/>
          </a:p>
          <a:p>
            <a:r>
              <a:rPr lang="es-ES" b="1" dirty="0" smtClean="0">
                <a:solidFill>
                  <a:srgbClr val="0033CC"/>
                </a:solidFill>
              </a:rPr>
              <a:t>Grado de Emisión </a:t>
            </a:r>
            <a:r>
              <a:rPr lang="es-ES" dirty="0" smtClean="0"/>
              <a:t>de un vértice es el número de salidas de ese vértice. </a:t>
            </a:r>
            <a:r>
              <a:rPr lang="es-ES" dirty="0" err="1" smtClean="0"/>
              <a:t>g</a:t>
            </a:r>
            <a:r>
              <a:rPr lang="es-ES" baseline="-25000" dirty="0" err="1" smtClean="0"/>
              <a:t>E</a:t>
            </a:r>
            <a:r>
              <a:rPr lang="es-ES" baseline="-25000" dirty="0" smtClean="0"/>
              <a:t> </a:t>
            </a:r>
            <a:r>
              <a:rPr lang="es-ES" dirty="0" smtClean="0"/>
              <a:t>(V</a:t>
            </a:r>
            <a:r>
              <a:rPr lang="es-ES" baseline="-25000" dirty="0" smtClean="0"/>
              <a:t>i </a:t>
            </a:r>
            <a:r>
              <a:rPr lang="es-ES" dirty="0" smtClean="0"/>
              <a:t>).</a:t>
            </a:r>
          </a:p>
          <a:p>
            <a:r>
              <a:rPr lang="es-ES" b="1" dirty="0" smtClean="0">
                <a:solidFill>
                  <a:srgbClr val="0033CC"/>
                </a:solidFill>
              </a:rPr>
              <a:t>Grado de Recepción </a:t>
            </a:r>
            <a:r>
              <a:rPr lang="es-ES" dirty="0" smtClean="0"/>
              <a:t>de un vértice es el número de entradas de ese vértice. </a:t>
            </a:r>
            <a:r>
              <a:rPr lang="es-ES" dirty="0" err="1" smtClean="0"/>
              <a:t>g</a:t>
            </a:r>
            <a:r>
              <a:rPr lang="es-ES" baseline="-25000" dirty="0" err="1" smtClean="0"/>
              <a:t>R</a:t>
            </a:r>
            <a:r>
              <a:rPr lang="es-ES" baseline="-25000" dirty="0" smtClean="0"/>
              <a:t> </a:t>
            </a:r>
            <a:r>
              <a:rPr lang="es-ES" dirty="0" smtClean="0"/>
              <a:t>(V</a:t>
            </a:r>
            <a:r>
              <a:rPr lang="es-ES" baseline="-25000" dirty="0" smtClean="0"/>
              <a:t>i </a:t>
            </a:r>
            <a:r>
              <a:rPr lang="es-ES" dirty="0" smtClean="0"/>
              <a:t>).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800" dirty="0" smtClean="0"/>
              <a:t>.</a:t>
            </a:r>
            <a:endParaRPr lang="es-E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26 Conector"/>
          <p:cNvSpPr/>
          <p:nvPr/>
        </p:nvSpPr>
        <p:spPr>
          <a:xfrm>
            <a:off x="3428992" y="5429264"/>
            <a:ext cx="642942" cy="57150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25 Conector"/>
          <p:cNvSpPr/>
          <p:nvPr/>
        </p:nvSpPr>
        <p:spPr>
          <a:xfrm>
            <a:off x="2357422" y="5357826"/>
            <a:ext cx="642942" cy="6429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24 Conector"/>
          <p:cNvSpPr/>
          <p:nvPr/>
        </p:nvSpPr>
        <p:spPr>
          <a:xfrm>
            <a:off x="1285852" y="5429264"/>
            <a:ext cx="571504" cy="57150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19 Conector"/>
          <p:cNvSpPr/>
          <p:nvPr/>
        </p:nvSpPr>
        <p:spPr>
          <a:xfrm>
            <a:off x="7215206" y="2714620"/>
            <a:ext cx="642942" cy="57150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18 Conector"/>
          <p:cNvSpPr/>
          <p:nvPr/>
        </p:nvSpPr>
        <p:spPr>
          <a:xfrm>
            <a:off x="6215074" y="2714620"/>
            <a:ext cx="642942" cy="57150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Conector"/>
          <p:cNvSpPr/>
          <p:nvPr/>
        </p:nvSpPr>
        <p:spPr>
          <a:xfrm>
            <a:off x="5143504" y="2714620"/>
            <a:ext cx="714380" cy="57150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3 Conector"/>
          <p:cNvSpPr/>
          <p:nvPr/>
        </p:nvSpPr>
        <p:spPr>
          <a:xfrm>
            <a:off x="857224" y="2643182"/>
            <a:ext cx="642942" cy="6429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4 Conector"/>
          <p:cNvSpPr/>
          <p:nvPr/>
        </p:nvSpPr>
        <p:spPr>
          <a:xfrm>
            <a:off x="2071670" y="2571744"/>
            <a:ext cx="642942" cy="7143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Conector"/>
          <p:cNvSpPr/>
          <p:nvPr/>
        </p:nvSpPr>
        <p:spPr>
          <a:xfrm>
            <a:off x="3143240" y="2643182"/>
            <a:ext cx="571504" cy="642942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Dos Arcos son adyacentes si tienen un nodo común.</a:t>
            </a:r>
          </a:p>
          <a:p>
            <a:pPr>
              <a:buNone/>
            </a:pPr>
            <a:r>
              <a:rPr lang="es-ES" dirty="0"/>
              <a:t> </a:t>
            </a:r>
            <a:r>
              <a:rPr lang="es-ES" dirty="0" smtClean="0"/>
              <a:t> </a:t>
            </a:r>
          </a:p>
          <a:p>
            <a:pPr>
              <a:buNone/>
            </a:pPr>
            <a:r>
              <a:rPr lang="es-ES" dirty="0" smtClean="0"/>
              <a:t>   V</a:t>
            </a:r>
            <a:r>
              <a:rPr lang="es-ES" baseline="-25000" dirty="0" smtClean="0"/>
              <a:t>i             </a:t>
            </a:r>
            <a:r>
              <a:rPr lang="es-ES" dirty="0" err="1" smtClean="0"/>
              <a:t>V</a:t>
            </a:r>
            <a:r>
              <a:rPr lang="es-ES" baseline="-25000" dirty="0" err="1"/>
              <a:t>h</a:t>
            </a:r>
            <a:r>
              <a:rPr lang="es-ES" baseline="-25000" dirty="0" smtClean="0"/>
              <a:t>         </a:t>
            </a:r>
            <a:r>
              <a:rPr lang="es-ES" dirty="0" smtClean="0"/>
              <a:t>V</a:t>
            </a:r>
            <a:r>
              <a:rPr lang="es-ES" baseline="-25000" dirty="0"/>
              <a:t>j</a:t>
            </a:r>
            <a:r>
              <a:rPr lang="es-ES" baseline="-25000" dirty="0" smtClean="0"/>
              <a:t>                      </a:t>
            </a:r>
            <a:r>
              <a:rPr lang="es-ES" dirty="0" smtClean="0"/>
              <a:t> V</a:t>
            </a:r>
            <a:r>
              <a:rPr lang="es-ES" baseline="-25000" dirty="0" smtClean="0"/>
              <a:t>i            </a:t>
            </a:r>
            <a:r>
              <a:rPr lang="es-ES" dirty="0" smtClean="0"/>
              <a:t>V</a:t>
            </a:r>
            <a:r>
              <a:rPr lang="es-ES" baseline="-25000" dirty="0"/>
              <a:t>j</a:t>
            </a:r>
            <a:r>
              <a:rPr lang="es-ES" baseline="-25000" dirty="0" smtClean="0"/>
              <a:t>          </a:t>
            </a:r>
            <a:r>
              <a:rPr lang="es-ES" dirty="0" smtClean="0"/>
              <a:t>V</a:t>
            </a:r>
            <a:r>
              <a:rPr lang="es-ES" baseline="-25000" dirty="0" smtClean="0"/>
              <a:t>k</a:t>
            </a:r>
            <a:endParaRPr lang="es-ES" dirty="0"/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dirty="0" smtClean="0"/>
              <a:t>Dos Arcos son consecutivos o sucesivos si el extremo final de uno coincide con el inicial del otro.</a:t>
            </a:r>
            <a:endParaRPr lang="es-ES" dirty="0"/>
          </a:p>
          <a:p>
            <a:pPr>
              <a:buNone/>
            </a:pPr>
            <a:r>
              <a:rPr lang="es-ES" baseline="-25000" dirty="0" smtClean="0"/>
              <a:t>                                                               (todo arco consecutivo es  </a:t>
            </a:r>
          </a:p>
          <a:p>
            <a:pPr>
              <a:buNone/>
            </a:pPr>
            <a:r>
              <a:rPr lang="es-ES" baseline="-25000" dirty="0" smtClean="0"/>
              <a:t>           </a:t>
            </a:r>
            <a:r>
              <a:rPr lang="es-ES" dirty="0" smtClean="0"/>
              <a:t>V</a:t>
            </a:r>
            <a:r>
              <a:rPr lang="es-ES" baseline="-25000" dirty="0" smtClean="0"/>
              <a:t>i            </a:t>
            </a:r>
            <a:r>
              <a:rPr lang="es-ES" dirty="0" smtClean="0"/>
              <a:t>V</a:t>
            </a:r>
            <a:r>
              <a:rPr lang="es-ES" baseline="-25000" dirty="0" smtClean="0"/>
              <a:t>j         </a:t>
            </a:r>
            <a:r>
              <a:rPr lang="es-ES" dirty="0" smtClean="0"/>
              <a:t>V</a:t>
            </a:r>
            <a:r>
              <a:rPr lang="es-ES" baseline="-25000" dirty="0" smtClean="0"/>
              <a:t>k                                         adyacente)</a:t>
            </a:r>
            <a:endParaRPr lang="es-ES" dirty="0"/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s-ES" sz="800" dirty="0" smtClean="0"/>
              <a:t>.</a:t>
            </a:r>
            <a:endParaRPr lang="es-ES" sz="800" dirty="0"/>
          </a:p>
        </p:txBody>
      </p:sp>
      <p:cxnSp>
        <p:nvCxnSpPr>
          <p:cNvPr id="13" name="12 Conector recto de flecha"/>
          <p:cNvCxnSpPr>
            <a:stCxn id="4" idx="6"/>
          </p:cNvCxnSpPr>
          <p:nvPr/>
        </p:nvCxnSpPr>
        <p:spPr>
          <a:xfrm flipV="1">
            <a:off x="1500166" y="2928934"/>
            <a:ext cx="571504" cy="3571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>
            <a:stCxn id="6" idx="2"/>
            <a:endCxn id="5" idx="6"/>
          </p:cNvCxnSpPr>
          <p:nvPr/>
        </p:nvCxnSpPr>
        <p:spPr>
          <a:xfrm rot="10800000">
            <a:off x="2714612" y="2928935"/>
            <a:ext cx="428628" cy="3571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>
            <a:stCxn id="18" idx="6"/>
            <a:endCxn id="19" idx="2"/>
          </p:cNvCxnSpPr>
          <p:nvPr/>
        </p:nvCxnSpPr>
        <p:spPr>
          <a:xfrm>
            <a:off x="5857884" y="3000372"/>
            <a:ext cx="357190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>
            <a:stCxn id="19" idx="6"/>
            <a:endCxn id="20" idx="2"/>
          </p:cNvCxnSpPr>
          <p:nvPr/>
        </p:nvCxnSpPr>
        <p:spPr>
          <a:xfrm>
            <a:off x="6858016" y="3000372"/>
            <a:ext cx="357190" cy="158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28 Conector recto de flecha"/>
          <p:cNvCxnSpPr>
            <a:stCxn id="25" idx="6"/>
            <a:endCxn id="26" idx="2"/>
          </p:cNvCxnSpPr>
          <p:nvPr/>
        </p:nvCxnSpPr>
        <p:spPr>
          <a:xfrm flipV="1">
            <a:off x="1857356" y="5679297"/>
            <a:ext cx="500066" cy="3571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>
            <a:stCxn id="26" idx="6"/>
            <a:endCxn id="27" idx="2"/>
          </p:cNvCxnSpPr>
          <p:nvPr/>
        </p:nvCxnSpPr>
        <p:spPr>
          <a:xfrm>
            <a:off x="3000364" y="5679297"/>
            <a:ext cx="428628" cy="35719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Trayectoria de un grafo (es el camino o recorrido desde un nodo hasta otro nodo).</a:t>
            </a:r>
          </a:p>
          <a:p>
            <a:endParaRPr lang="es-ES" dirty="0"/>
          </a:p>
          <a:p>
            <a:r>
              <a:rPr lang="es-ES" dirty="0" smtClean="0"/>
              <a:t>Una trayectoria desde un vértice V</a:t>
            </a:r>
            <a:r>
              <a:rPr lang="es-ES" baseline="-25000" dirty="0" smtClean="0"/>
              <a:t>i  </a:t>
            </a:r>
            <a:r>
              <a:rPr lang="es-ES" dirty="0" smtClean="0"/>
              <a:t>  a un vértice  V</a:t>
            </a:r>
            <a:r>
              <a:rPr lang="es-ES" baseline="-25000" dirty="0"/>
              <a:t>J</a:t>
            </a:r>
            <a:r>
              <a:rPr lang="es-ES" baseline="-25000" dirty="0" smtClean="0"/>
              <a:t> ,   </a:t>
            </a:r>
            <a:r>
              <a:rPr lang="es-ES" dirty="0" smtClean="0"/>
              <a:t>es una sucesión de arcos consecutivos desde V</a:t>
            </a:r>
            <a:r>
              <a:rPr lang="es-ES" baseline="-25000" dirty="0" smtClean="0"/>
              <a:t>i  </a:t>
            </a:r>
            <a:r>
              <a:rPr lang="es-ES" dirty="0" smtClean="0"/>
              <a:t> hasta un vértice  V</a:t>
            </a:r>
            <a:r>
              <a:rPr lang="es-ES" baseline="-25000" dirty="0" smtClean="0"/>
              <a:t>J  </a:t>
            </a:r>
            <a:r>
              <a:rPr lang="es-ES" dirty="0" smtClean="0"/>
              <a:t> y se simboliza con </a:t>
            </a:r>
            <a:r>
              <a:rPr lang="es-ES" dirty="0" err="1" smtClean="0"/>
              <a:t>T</a:t>
            </a:r>
            <a:r>
              <a:rPr lang="es-ES" baseline="-25000" dirty="0" err="1" smtClean="0"/>
              <a:t>Vi,Vj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800" dirty="0" smtClean="0"/>
              <a:t>.</a:t>
            </a:r>
            <a:endParaRPr lang="es-E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La longitud de una trayectoria T</a:t>
            </a:r>
            <a:r>
              <a:rPr lang="es-ES" baseline="-25000" dirty="0" smtClean="0"/>
              <a:t>Vi,Vj , </a:t>
            </a:r>
            <a:r>
              <a:rPr lang="es-ES" dirty="0" smtClean="0"/>
              <a:t>  es el número de arcos que la componen ó bien el número de sus vértices menos 1.</a:t>
            </a:r>
            <a:endParaRPr lang="es-ES" baseline="-25000" dirty="0" smtClean="0"/>
          </a:p>
          <a:p>
            <a:endParaRPr lang="es-ES" baseline="-25000" dirty="0" smtClean="0"/>
          </a:p>
          <a:p>
            <a:pPr>
              <a:buNone/>
            </a:pPr>
            <a:endParaRPr lang="es-ES" baseline="-25000" dirty="0"/>
          </a:p>
          <a:p>
            <a:pPr>
              <a:buNone/>
            </a:pPr>
            <a:endParaRPr lang="es-ES" baseline="-25000" dirty="0"/>
          </a:p>
          <a:p>
            <a:pPr>
              <a:buNone/>
            </a:pPr>
            <a:endParaRPr lang="es-ES" baseline="-25000" dirty="0" smtClean="0"/>
          </a:p>
          <a:p>
            <a:pPr>
              <a:buNone/>
            </a:pPr>
            <a:endParaRPr lang="es-ES" baseline="-25000" dirty="0"/>
          </a:p>
          <a:p>
            <a:pPr>
              <a:buNone/>
            </a:pPr>
            <a:endParaRPr lang="es-ES" baseline="-25000" dirty="0" smtClean="0"/>
          </a:p>
          <a:p>
            <a:pPr>
              <a:buNone/>
            </a:pPr>
            <a:r>
              <a:rPr lang="es-ES" baseline="-25000" dirty="0"/>
              <a:t> </a:t>
            </a:r>
            <a:r>
              <a:rPr lang="es-ES" baseline="-25000" dirty="0" smtClean="0"/>
              <a:t>     </a:t>
            </a:r>
            <a:r>
              <a:rPr lang="es-ES" dirty="0" smtClean="0"/>
              <a:t> </a:t>
            </a:r>
          </a:p>
          <a:p>
            <a:pPr>
              <a:buNone/>
            </a:pP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800" dirty="0" smtClean="0"/>
              <a:t>.</a:t>
            </a:r>
            <a:endParaRPr lang="es-E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dirty="0" smtClean="0"/>
              <a:t>                 </a:t>
            </a:r>
            <a:r>
              <a:rPr lang="es-ES" u="sng" dirty="0" smtClean="0"/>
              <a:t>Tipos de trayectorias.</a:t>
            </a:r>
          </a:p>
          <a:p>
            <a:r>
              <a:rPr lang="es-ES" b="1" dirty="0" smtClean="0">
                <a:solidFill>
                  <a:srgbClr val="0033CC"/>
                </a:solidFill>
              </a:rPr>
              <a:t>Elemental</a:t>
            </a:r>
            <a:r>
              <a:rPr lang="es-ES" dirty="0" smtClean="0"/>
              <a:t> (ó simple): no se repite vértices.</a:t>
            </a:r>
          </a:p>
          <a:p>
            <a:r>
              <a:rPr lang="es-ES" b="1" dirty="0" smtClean="0">
                <a:solidFill>
                  <a:srgbClr val="0033CC"/>
                </a:solidFill>
              </a:rPr>
              <a:t>Cerrada:</a:t>
            </a:r>
            <a:r>
              <a:rPr lang="es-ES" dirty="0" smtClean="0"/>
              <a:t> comienza y finaliza en el mismo vértice.</a:t>
            </a:r>
          </a:p>
          <a:p>
            <a:r>
              <a:rPr lang="es-ES" b="1" dirty="0" smtClean="0">
                <a:solidFill>
                  <a:srgbClr val="0033CC"/>
                </a:solidFill>
              </a:rPr>
              <a:t>Hamiltoniana:</a:t>
            </a:r>
            <a:r>
              <a:rPr lang="es-ES" dirty="0" smtClean="0"/>
              <a:t> es una trayectoria elemental con todos los vértices del grafo.</a:t>
            </a:r>
            <a:endParaRPr lang="es-E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800" dirty="0" smtClean="0"/>
              <a:t>.</a:t>
            </a:r>
            <a:endParaRPr lang="es-E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/>
          </a:bodyPr>
          <a:lstStyle/>
          <a:p>
            <a:r>
              <a:rPr lang="es-AR" sz="600" dirty="0" smtClean="0"/>
              <a:t>.</a:t>
            </a:r>
            <a:endParaRPr lang="es-AR" sz="600" dirty="0"/>
          </a:p>
        </p:txBody>
      </p:sp>
      <p:pic>
        <p:nvPicPr>
          <p:cNvPr id="4" name="3 Marcador de contenido"/>
          <p:cNvPicPr>
            <a:picLocks noGrp="1"/>
          </p:cNvPicPr>
          <p:nvPr>
            <p:ph idx="1"/>
          </p:nvPr>
        </p:nvPicPr>
        <p:blipFill rotWithShape="1">
          <a:blip r:embed="rId2"/>
          <a:srcRect l="6356" t="58300" r="59320" b="20422"/>
          <a:stretch/>
        </p:blipFill>
        <p:spPr bwMode="auto">
          <a:xfrm>
            <a:off x="539552" y="1332411"/>
            <a:ext cx="7848872" cy="38043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7602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490066"/>
          </a:xfrm>
        </p:spPr>
        <p:txBody>
          <a:bodyPr>
            <a:noAutofit/>
          </a:bodyPr>
          <a:lstStyle/>
          <a:p>
            <a:r>
              <a:rPr lang="es-AR" sz="2200" dirty="0" smtClean="0">
                <a:effectLst/>
              </a:rPr>
              <a:t/>
            </a:r>
            <a:br>
              <a:rPr lang="es-AR" sz="2200" dirty="0" smtClean="0">
                <a:effectLst/>
              </a:rPr>
            </a:br>
            <a:r>
              <a:rPr lang="es-AR" sz="2200" dirty="0" smtClean="0">
                <a:effectLst/>
              </a:rPr>
              <a:t>Ejercicio </a:t>
            </a:r>
            <a:r>
              <a:rPr lang="es-AR" sz="2200" dirty="0">
                <a:effectLst/>
              </a:rPr>
              <a:t>para aplicar los conceptos vistos sobre el tema grafos</a:t>
            </a:r>
            <a:br>
              <a:rPr lang="es-AR" sz="2200" dirty="0">
                <a:effectLst/>
              </a:rPr>
            </a:br>
            <a:endParaRPr lang="es-AR" sz="2200" dirty="0"/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 rotWithShape="1">
          <a:blip r:embed="rId2"/>
          <a:srcRect l="27782" t="18279" r="27596" b="10749"/>
          <a:stretch/>
        </p:blipFill>
        <p:spPr bwMode="auto">
          <a:xfrm>
            <a:off x="611560" y="784951"/>
            <a:ext cx="8208912" cy="59766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0893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dirty="0" smtClean="0"/>
              <a:t>  </a:t>
            </a:r>
            <a:r>
              <a:rPr lang="es-ES" dirty="0" smtClean="0">
                <a:solidFill>
                  <a:srgbClr val="0033CC"/>
                </a:solidFill>
              </a:rPr>
              <a:t>Axiomas: </a:t>
            </a:r>
            <a:r>
              <a:rPr lang="es-ES" dirty="0" smtClean="0"/>
              <a:t>proposición tan clara y evidente que no necesita demostraciones.</a:t>
            </a:r>
          </a:p>
          <a:p>
            <a:pPr>
              <a:buNone/>
            </a:pPr>
            <a:r>
              <a:rPr lang="es-ES" dirty="0" smtClean="0">
                <a:solidFill>
                  <a:srgbClr val="0033CC"/>
                </a:solidFill>
              </a:rPr>
              <a:t>Algoritmos:</a:t>
            </a:r>
            <a:r>
              <a:rPr lang="es-ES" dirty="0" smtClean="0"/>
              <a:t> conjunto ordenado y finito de operaciones (pasos) que permiten la solución de un problema.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s-ES" dirty="0" smtClean="0"/>
              <a:t>Conceptos 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2341</TotalTime>
  <Words>690</Words>
  <Application>Microsoft Office PowerPoint</Application>
  <PresentationFormat>Presentación en pantalla (4:3)</PresentationFormat>
  <Paragraphs>88</Paragraphs>
  <Slides>18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Calibri</vt:lpstr>
      <vt:lpstr>Lucida Sans Unicode</vt:lpstr>
      <vt:lpstr>Symbol</vt:lpstr>
      <vt:lpstr>Verdana</vt:lpstr>
      <vt:lpstr>Wingdings 2</vt:lpstr>
      <vt:lpstr>Wingdings 3</vt:lpstr>
      <vt:lpstr>Concurrencia</vt:lpstr>
      <vt:lpstr>Picture</vt:lpstr>
      <vt:lpstr>Universidad Nacional de La Rioja</vt:lpstr>
      <vt:lpstr>CIENCIA de la computación o Informática Teórica</vt:lpstr>
      <vt:lpstr>Grafos</vt:lpstr>
      <vt:lpstr>.</vt:lpstr>
      <vt:lpstr>Ejemplo de Grafos</vt:lpstr>
      <vt:lpstr>.</vt:lpstr>
      <vt:lpstr> Introducción a la Teoría de Grafos Grafos  Dirigido – Digrafo – grafos orientados </vt:lpstr>
      <vt:lpstr>.</vt:lpstr>
      <vt:lpstr>.</vt:lpstr>
      <vt:lpstr>.</vt:lpstr>
      <vt:lpstr>.</vt:lpstr>
      <vt:lpstr>.</vt:lpstr>
      <vt:lpstr>.</vt:lpstr>
      <vt:lpstr>.</vt:lpstr>
      <vt:lpstr>.</vt:lpstr>
      <vt:lpstr>.</vt:lpstr>
      <vt:lpstr> Ejercicio para aplicar los conceptos vistos sobre el tema grafos </vt:lpstr>
      <vt:lpstr>Conceptos </vt:lpstr>
    </vt:vector>
  </TitlesOfParts>
  <Company>eXPerienciaUE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Nacional de La Rioja</dc:title>
  <dc:creator>Alejandra</dc:creator>
  <cp:lastModifiedBy>Bangho</cp:lastModifiedBy>
  <cp:revision>239</cp:revision>
  <cp:lastPrinted>2023-03-29T20:06:14Z</cp:lastPrinted>
  <dcterms:created xsi:type="dcterms:W3CDTF">2014-03-26T01:51:34Z</dcterms:created>
  <dcterms:modified xsi:type="dcterms:W3CDTF">2025-03-25T15:35:52Z</dcterms:modified>
</cp:coreProperties>
</file>