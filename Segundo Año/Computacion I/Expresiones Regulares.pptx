
<file path=[Content_Types].xml><?xml version="1.0" encoding="utf-8"?>
<Types xmlns="http://schemas.openxmlformats.org/package/2006/content-types">
  <Default Extension="png" ContentType="image/png"/>
  <Default Extension="bin" ContentType="audio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75" r:id="rId4"/>
    <p:sldId id="276" r:id="rId5"/>
    <p:sldId id="267" r:id="rId6"/>
    <p:sldId id="259" r:id="rId7"/>
    <p:sldId id="277" r:id="rId8"/>
    <p:sldId id="264" r:id="rId9"/>
    <p:sldId id="266" r:id="rId10"/>
    <p:sldId id="268" r:id="rId11"/>
    <p:sldId id="261" r:id="rId12"/>
    <p:sldId id="262" r:id="rId13"/>
    <p:sldId id="269" r:id="rId14"/>
    <p:sldId id="263" r:id="rId15"/>
    <p:sldId id="270" r:id="rId16"/>
    <p:sldId id="271" r:id="rId17"/>
    <p:sldId id="272" r:id="rId18"/>
    <p:sldId id="274" r:id="rId19"/>
    <p:sldId id="273" r:id="rId20"/>
    <p:sldId id="265" r:id="rId21"/>
  </p:sldIdLst>
  <p:sldSz cx="9144000" cy="6858000" type="screen4x3"/>
  <p:notesSz cx="6888163" cy="100203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2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246" y="-6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2357E2DA-3AC6-4A36-855B-BE0E0BE7D7E1}" type="datetimeFigureOut">
              <a:rPr lang="es-AR" smtClean="0"/>
              <a:t>5/6/2024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E94D7183-9C89-4B39-8D14-BE297344D7C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310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3AA374AC-BF3D-4E65-8D46-CAAC83D6FB8E}" type="datetimeFigureOut">
              <a:rPr lang="es-AR" smtClean="0"/>
              <a:t>5/6/2024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80AAB64D-BE1F-4222-B679-D5FFFF6FE1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990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AB64D-BE1F-4222-B679-D5FFFF6FE18C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99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5" name="24 Subtítulo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1" name="30 Marcador de fecha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0" name="9 Marcador de posición de imagen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1" name="30 Marcador de texto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7" name="26 Marcador de fecha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F54FF14-77A7-40FE-9781-54D4276B10EC}" type="datetimeFigureOut">
              <a:rPr lang="es-ES" smtClean="0"/>
              <a:pPr/>
              <a:t>05/06/2024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46842C4-2DED-4EB9-BD85-25B91C526D2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bin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08630"/>
          </a:xfrm>
        </p:spPr>
        <p:txBody>
          <a:bodyPr>
            <a:normAutofit/>
          </a:bodyPr>
          <a:lstStyle/>
          <a:p>
            <a:r>
              <a:rPr lang="es-ES" sz="500" dirty="0" smtClean="0"/>
              <a:t>.</a:t>
            </a:r>
            <a:endParaRPr lang="es-ES" sz="500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969456"/>
            <a:ext cx="7239000" cy="4195848"/>
          </a:xfrm>
        </p:spPr>
        <p:txBody>
          <a:bodyPr/>
          <a:lstStyle/>
          <a:p>
            <a:pPr algn="ctr">
              <a:buNone/>
            </a:pPr>
            <a:r>
              <a:rPr lang="es-ES" sz="3600" dirty="0" smtClean="0"/>
              <a:t>Universidad Nacional de La Rioja</a:t>
            </a:r>
          </a:p>
          <a:p>
            <a:pPr algn="ctr"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sz="2000" dirty="0" smtClean="0"/>
              <a:t>Dpto. Académico de </a:t>
            </a:r>
            <a:r>
              <a:rPr lang="es-ES" sz="2000" dirty="0" err="1" smtClean="0"/>
              <a:t>Cs.</a:t>
            </a:r>
            <a:r>
              <a:rPr lang="es-ES" sz="2000" dirty="0" smtClean="0"/>
              <a:t> Exactas, Físicas y Naturales</a:t>
            </a:r>
          </a:p>
          <a:p>
            <a:pPr algn="ctr"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Carreras</a:t>
            </a:r>
          </a:p>
          <a:p>
            <a:pPr algn="ctr">
              <a:buNone/>
            </a:pPr>
            <a:r>
              <a:rPr lang="es-ES" sz="3200" dirty="0" smtClean="0"/>
              <a:t/>
            </a:r>
            <a:br>
              <a:rPr lang="es-ES" sz="3200" dirty="0" smtClean="0"/>
            </a:br>
            <a:r>
              <a:rPr lang="es-ES" sz="3200" dirty="0" smtClean="0"/>
              <a:t> </a:t>
            </a:r>
            <a:r>
              <a:rPr lang="es-ES" sz="2800" dirty="0" smtClean="0"/>
              <a:t>Licenciatura en Sistemas de Información</a:t>
            </a:r>
            <a:br>
              <a:rPr lang="es-ES" sz="2800" dirty="0" smtClean="0"/>
            </a:br>
            <a:r>
              <a:rPr lang="es-ES" sz="2800" dirty="0" smtClean="0"/>
              <a:t>Ingeniería en Sistemas de Información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9" t="35304" r="57282" b="17044"/>
          <a:stretch/>
        </p:blipFill>
        <p:spPr bwMode="auto">
          <a:xfrm>
            <a:off x="3491880" y="548680"/>
            <a:ext cx="1094994" cy="1170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s-ES" sz="4000" dirty="0" smtClean="0"/>
              <a:t/>
            </a:r>
            <a:br>
              <a:rPr lang="es-ES" sz="4000" dirty="0" smtClean="0"/>
            </a:br>
            <a:r>
              <a:rPr lang="es-ES" sz="4000" b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Expresiones Regulares</a:t>
            </a:r>
            <a:endParaRPr lang="es-ES" sz="4000" dirty="0"/>
          </a:p>
        </p:txBody>
      </p:sp>
      <p:pic>
        <p:nvPicPr>
          <p:cNvPr id="4" name="Imagen 3"/>
          <p:cNvPicPr/>
          <p:nvPr/>
        </p:nvPicPr>
        <p:blipFill rotWithShape="1">
          <a:blip r:embed="rId2"/>
          <a:srcRect l="60682" t="27874" r="10954" b="36801"/>
          <a:stretch/>
        </p:blipFill>
        <p:spPr bwMode="auto">
          <a:xfrm>
            <a:off x="2555776" y="3717032"/>
            <a:ext cx="3456384" cy="19442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16672"/>
          </a:xfrm>
        </p:spPr>
        <p:txBody>
          <a:bodyPr>
            <a:normAutofit/>
          </a:bodyPr>
          <a:lstStyle/>
          <a:p>
            <a:r>
              <a:rPr lang="es-AR" sz="300" dirty="0" smtClean="0"/>
              <a:t>.</a:t>
            </a:r>
            <a:endParaRPr lang="es-AR" sz="3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7560840" cy="5114968"/>
          </a:xfrm>
        </p:spPr>
        <p:txBody>
          <a:bodyPr/>
          <a:lstStyle/>
          <a:p>
            <a:pPr marL="0" indent="0">
              <a:buNone/>
            </a:pPr>
            <a:r>
              <a:rPr lang="es-AR" dirty="0" smtClean="0"/>
              <a:t>En las páginas web , usualmente los usuarios o clientes introducen información a través de formularios web, por ejemplo introducirán nombre y apellido, DNI, E-mail, teléfono, etc. Entonces el diseñador  tendrán la </a:t>
            </a:r>
            <a:r>
              <a:rPr lang="es-AR" dirty="0"/>
              <a:t>necesidad de validar </a:t>
            </a:r>
            <a:r>
              <a:rPr lang="es-AR" dirty="0" smtClean="0"/>
              <a:t>la </a:t>
            </a:r>
            <a:r>
              <a:rPr lang="es-AR" dirty="0"/>
              <a:t>información que </a:t>
            </a:r>
            <a:r>
              <a:rPr lang="es-AR" dirty="0" smtClean="0"/>
              <a:t>introduzcan, a lo mejor si buscan en internet obtendrán una respuesta como esta:</a:t>
            </a:r>
          </a:p>
        </p:txBody>
      </p:sp>
      <p:pic>
        <p:nvPicPr>
          <p:cNvPr id="4" name="3 Imagen"/>
          <p:cNvPicPr/>
          <p:nvPr/>
        </p:nvPicPr>
        <p:blipFill rotWithShape="1">
          <a:blip r:embed="rId2"/>
          <a:srcRect l="9364" t="40960" r="42933" b="49712"/>
          <a:stretch/>
        </p:blipFill>
        <p:spPr bwMode="auto">
          <a:xfrm>
            <a:off x="634744" y="5157192"/>
            <a:ext cx="6457535" cy="8183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837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60688"/>
          </a:xfrm>
        </p:spPr>
        <p:txBody>
          <a:bodyPr>
            <a:normAutofit/>
          </a:bodyPr>
          <a:lstStyle/>
          <a:p>
            <a:pPr algn="ctr"/>
            <a:r>
              <a:rPr lang="es-AR" sz="2800" dirty="0" err="1" smtClean="0"/>
              <a:t>eeeeehhh</a:t>
            </a:r>
            <a:r>
              <a:rPr lang="es-AR" sz="2800" dirty="0" smtClean="0"/>
              <a:t>!!!! ¿Qué es esto?</a:t>
            </a:r>
            <a:endParaRPr lang="es-AR" sz="2800" dirty="0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 rotWithShape="1">
          <a:blip r:embed="rId3"/>
          <a:srcRect l="36749" t="34181" r="19258" b="8154"/>
          <a:stretch/>
        </p:blipFill>
        <p:spPr bwMode="auto">
          <a:xfrm>
            <a:off x="2384511" y="1508185"/>
            <a:ext cx="3384377" cy="2520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457200" y="4496245"/>
            <a:ext cx="70949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/>
              <a:t>El Patrón para validar una dirección de correo es</a:t>
            </a:r>
            <a:r>
              <a:rPr lang="es-AR" sz="2400" dirty="0" smtClean="0"/>
              <a:t>: </a:t>
            </a:r>
            <a:endParaRPr lang="es-AR" sz="2400" dirty="0"/>
          </a:p>
          <a:p>
            <a:endParaRPr lang="es-AR" sz="2400" dirty="0"/>
          </a:p>
        </p:txBody>
      </p:sp>
      <p:pic>
        <p:nvPicPr>
          <p:cNvPr id="5" name="3 Imagen"/>
          <p:cNvPicPr/>
          <p:nvPr/>
        </p:nvPicPr>
        <p:blipFill rotWithShape="1">
          <a:blip r:embed="rId4"/>
          <a:srcRect l="9364" t="40960" r="42933" b="49712"/>
          <a:stretch/>
        </p:blipFill>
        <p:spPr bwMode="auto">
          <a:xfrm>
            <a:off x="775924" y="5085184"/>
            <a:ext cx="6457535" cy="8183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376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explode.wav"/>
          </p:stSnd>
        </p:sndAc>
      </p:transition>
    </mc:Choice>
    <mc:Fallback xmlns="">
      <p:transition spd="slow">
        <p:blinds dir="vert"/>
        <p:sndAc>
          <p:stSnd>
            <p:snd r:embed="rId5" name="explod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8006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dirty="0" smtClean="0"/>
              <a:t>Las expresiones regulares surgen por necesidad </a:t>
            </a:r>
            <a:endParaRPr lang="es-E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42984"/>
            <a:ext cx="7239000" cy="5312752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s-ES" sz="3600" dirty="0" smtClean="0"/>
              <a:t>A veces necesitamos encontrar algo concreto en un texto  o cadena, o reemplazar algo por otra cosa; ya sea en una aplicación, o en un lenguaje de programación</a:t>
            </a:r>
          </a:p>
          <a:p>
            <a:pPr marL="0" indent="0" algn="just">
              <a:buNone/>
            </a:pPr>
            <a:endParaRPr lang="es-ES" sz="3600" dirty="0" smtClean="0"/>
          </a:p>
          <a:p>
            <a:pPr algn="just"/>
            <a:r>
              <a:rPr lang="es-ES" sz="3600" dirty="0" smtClean="0"/>
              <a:t>Pero a veces lo que queremos hacer es más complejo, porque puede que en vez de ser una palabra o parte de palabra simple, necesitemos hacer algo como "búscame todas las palabras que terminen en ‘l' </a:t>
            </a:r>
            <a:r>
              <a:rPr lang="es-ES" sz="3600" dirty="0" err="1" smtClean="0"/>
              <a:t>ó</a:t>
            </a:r>
            <a:r>
              <a:rPr lang="es-ES" sz="3600" dirty="0" smtClean="0"/>
              <a:t> que empiecen por un número del 2 al 71" (por ejemplo) o "reemplaza las palabras que contengan este grupo  de letras por este otro grupo".</a:t>
            </a:r>
          </a:p>
          <a:p>
            <a:pPr marL="0" indent="0" algn="just">
              <a:buNone/>
            </a:pPr>
            <a:endParaRPr lang="es-ES" sz="3600" dirty="0" smtClean="0"/>
          </a:p>
          <a:p>
            <a:pPr marL="0" indent="0" algn="just">
              <a:buNone/>
            </a:pPr>
            <a:r>
              <a:rPr lang="es-ES" sz="3600" dirty="0" smtClean="0"/>
              <a:t>En estos casos podemos utilizar las </a:t>
            </a:r>
            <a:r>
              <a:rPr lang="es-ES" sz="3600" b="1" dirty="0" smtClean="0"/>
              <a:t>expresiones regulares</a:t>
            </a:r>
            <a:r>
              <a:rPr lang="es-ES" sz="3600" dirty="0" smtClean="0"/>
              <a:t> (que se pueden llamar </a:t>
            </a:r>
            <a:r>
              <a:rPr lang="es-ES" sz="3600" i="1" dirty="0" err="1" smtClean="0"/>
              <a:t>regex</a:t>
            </a:r>
            <a:r>
              <a:rPr lang="es-ES" sz="3600" dirty="0" smtClean="0"/>
              <a:t> o </a:t>
            </a:r>
            <a:r>
              <a:rPr lang="es-ES" sz="3600" i="1" dirty="0" err="1" smtClean="0"/>
              <a:t>regexp</a:t>
            </a:r>
            <a:r>
              <a:rPr lang="es-ES" sz="3600" dirty="0" smtClean="0"/>
              <a:t> de forma abreviada), son reglas que usan los lenguaje para poder  definir exactamente qué es lo que queremos </a:t>
            </a:r>
            <a:r>
              <a:rPr lang="es-ES" sz="3600" b="1" dirty="0" smtClean="0">
                <a:solidFill>
                  <a:srgbClr val="0033CC"/>
                </a:solidFill>
              </a:rPr>
              <a:t>buscar, comparar, extraer</a:t>
            </a:r>
            <a:r>
              <a:rPr lang="es-ES" sz="3600" b="1" dirty="0">
                <a:solidFill>
                  <a:srgbClr val="0033CC"/>
                </a:solidFill>
              </a:rPr>
              <a:t> </a:t>
            </a:r>
            <a:r>
              <a:rPr lang="es-ES" sz="3600" b="1" dirty="0" smtClean="0">
                <a:solidFill>
                  <a:srgbClr val="0033CC"/>
                </a:solidFill>
              </a:rPr>
              <a:t>ó reemplazar </a:t>
            </a:r>
          </a:p>
          <a:p>
            <a:pPr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endParaRPr lang="es-ES" dirty="0" smtClean="0"/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948720"/>
          </a:xfrm>
        </p:spPr>
        <p:txBody>
          <a:bodyPr/>
          <a:lstStyle/>
          <a:p>
            <a:pPr algn="ctr"/>
            <a:r>
              <a:rPr lang="es-ES" dirty="0" smtClean="0"/>
              <a:t>Expresiones regulares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s-ES" b="1" u="sng" dirty="0" smtClean="0"/>
              <a:t>Definición:</a:t>
            </a:r>
            <a:r>
              <a:rPr lang="es-ES" dirty="0" smtClean="0"/>
              <a:t> </a:t>
            </a:r>
            <a:r>
              <a:rPr lang="es-ES" b="1" dirty="0" smtClean="0">
                <a:solidFill>
                  <a:srgbClr val="0070C0"/>
                </a:solidFill>
              </a:rPr>
              <a:t>es una secuencia de caracteres  y metacaracteres que forma un patrón de búsqueda. Es una expresión que define un conjunto de cadenas sin enumerar sus elementos.</a:t>
            </a:r>
          </a:p>
          <a:p>
            <a:pPr>
              <a:buNone/>
            </a:pPr>
            <a:endParaRPr lang="es-ES" dirty="0" smtClean="0"/>
          </a:p>
          <a:p>
            <a:pPr algn="just">
              <a:buNone/>
            </a:pPr>
            <a:r>
              <a:rPr lang="es-ES" dirty="0" smtClean="0"/>
              <a:t>Una expresión regular se construye utilizando caracteres del alfabeto de un lenguaje.</a:t>
            </a:r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Las expresiones regulares están disponibles en varios lenguaje de programación, pero aunque su sintaxis es relativamente uniforme, cada lenguaje usa su propio dialecto.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88680"/>
          </a:xfrm>
        </p:spPr>
        <p:txBody>
          <a:bodyPr>
            <a:normAutofit/>
          </a:bodyPr>
          <a:lstStyle/>
          <a:p>
            <a:pPr algn="ctr"/>
            <a:r>
              <a:rPr lang="es-ES" sz="2400" dirty="0"/>
              <a:t>Construcción de expresiones regulares</a:t>
            </a:r>
            <a:endParaRPr lang="es-AR" sz="24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4360" y="1196752"/>
            <a:ext cx="7444680" cy="584190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 smtClean="0"/>
              <a:t>Las expresiones regulares se construyen utilizando:</a:t>
            </a:r>
          </a:p>
          <a:p>
            <a:pPr marL="0" indent="0">
              <a:buNone/>
            </a:pPr>
            <a:endParaRPr lang="es-AR" sz="24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187624" y="2751311"/>
            <a:ext cx="201622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2400" dirty="0" smtClean="0"/>
              <a:t>Caracteres </a:t>
            </a:r>
            <a:endParaRPr lang="es-AR" sz="24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300836" y="2679303"/>
            <a:ext cx="22955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2400" dirty="0" smtClean="0"/>
              <a:t>Metacaracteres</a:t>
            </a:r>
            <a:endParaRPr lang="es-AR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07504" y="3903439"/>
            <a:ext cx="191338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2400" dirty="0" smtClean="0"/>
              <a:t>Comodines</a:t>
            </a:r>
            <a:endParaRPr lang="es-AR" sz="2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2339752" y="3903439"/>
            <a:ext cx="208823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2400" dirty="0" smtClean="0"/>
              <a:t>Modificadores</a:t>
            </a:r>
            <a:endParaRPr lang="es-AR" sz="2400" dirty="0"/>
          </a:p>
        </p:txBody>
      </p:sp>
      <p:sp>
        <p:nvSpPr>
          <p:cNvPr id="8" name="CuadroTexto 7"/>
          <p:cNvSpPr txBox="1"/>
          <p:nvPr/>
        </p:nvSpPr>
        <p:spPr>
          <a:xfrm>
            <a:off x="251520" y="5446385"/>
            <a:ext cx="3374032" cy="4308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200" dirty="0"/>
              <a:t>letras, números o signos</a:t>
            </a:r>
            <a:endParaRPr lang="es-AR" sz="2200" dirty="0"/>
          </a:p>
        </p:txBody>
      </p:sp>
      <p:sp>
        <p:nvSpPr>
          <p:cNvPr id="9" name="CuadroTexto 8"/>
          <p:cNvSpPr txBox="1"/>
          <p:nvPr/>
        </p:nvSpPr>
        <p:spPr>
          <a:xfrm>
            <a:off x="5089376" y="3970799"/>
            <a:ext cx="2867000" cy="25545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2000" dirty="0" smtClean="0"/>
              <a:t>Son combinaciones de caracteres que no </a:t>
            </a:r>
            <a:r>
              <a:rPr lang="es-ES" sz="2000" dirty="0"/>
              <a:t>se representan a ellos mismos, sino que son interpretados de una manera especial, permiten una búsqueda contextual.</a:t>
            </a:r>
            <a:endParaRPr lang="es-AR" sz="2000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2339752" y="1916832"/>
            <a:ext cx="1440160" cy="648072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4211960" y="1916832"/>
            <a:ext cx="1368152" cy="648072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1064196" y="3255367"/>
            <a:ext cx="874340" cy="601986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2792388" y="3255367"/>
            <a:ext cx="555476" cy="612373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echa abajo 20"/>
          <p:cNvSpPr/>
          <p:nvPr/>
        </p:nvSpPr>
        <p:spPr>
          <a:xfrm>
            <a:off x="1691680" y="4634265"/>
            <a:ext cx="504056" cy="7389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Flecha abajo 21"/>
          <p:cNvSpPr/>
          <p:nvPr/>
        </p:nvSpPr>
        <p:spPr>
          <a:xfrm>
            <a:off x="6196558" y="3231848"/>
            <a:ext cx="504056" cy="7389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198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7239000" cy="660688"/>
          </a:xfrm>
        </p:spPr>
        <p:txBody>
          <a:bodyPr>
            <a:normAutofit fontScale="90000"/>
          </a:bodyPr>
          <a:lstStyle/>
          <a:p>
            <a:pPr algn="ctr"/>
            <a:r>
              <a:rPr lang="es-ES" sz="600" dirty="0" smtClean="0"/>
              <a:t>.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AR" sz="2700" dirty="0" smtClean="0"/>
              <a:t>Sintaxis </a:t>
            </a:r>
            <a:r>
              <a:rPr lang="es-AR" sz="2700" dirty="0"/>
              <a:t>básica de una Expresión Regular</a:t>
            </a:r>
            <a:br>
              <a:rPr lang="es-AR" sz="2700" dirty="0"/>
            </a:br>
            <a:endParaRPr lang="es-ES" sz="27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El patrón se construye </a:t>
            </a:r>
            <a:r>
              <a:rPr lang="es-ES" b="1" dirty="0" smtClean="0"/>
              <a:t>encerrando entre dos barras inclinadas / </a:t>
            </a:r>
            <a:r>
              <a:rPr lang="es-ES" dirty="0" smtClean="0"/>
              <a:t>una serie de caracteres normales y símbolos especiales.</a:t>
            </a:r>
          </a:p>
          <a:p>
            <a:pPr algn="ctr">
              <a:buNone/>
            </a:pPr>
            <a:endParaRPr lang="es-AR" dirty="0" smtClean="0"/>
          </a:p>
          <a:p>
            <a:pPr algn="ctr">
              <a:buNone/>
            </a:pPr>
            <a:r>
              <a:rPr lang="es-AR" sz="36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/patrón/</a:t>
            </a:r>
            <a:endParaRPr lang="es-ES" sz="3600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465754"/>
          </a:xfrm>
        </p:spPr>
        <p:txBody>
          <a:bodyPr>
            <a:normAutofit/>
          </a:bodyPr>
          <a:lstStyle/>
          <a:p>
            <a:pPr algn="ctr"/>
            <a:r>
              <a:rPr lang="es-ES" sz="2400" dirty="0" smtClean="0"/>
              <a:t>CARACTERS COMODIN</a:t>
            </a:r>
            <a:endParaRPr lang="es-ES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036413"/>
              </p:ext>
            </p:extLst>
          </p:nvPr>
        </p:nvGraphicFramePr>
        <p:xfrm>
          <a:off x="457200" y="1143000"/>
          <a:ext cx="7571183" cy="500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SIGNIFICADO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RESULTADO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smtClean="0"/>
                        <a:t>.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Cualquier</a:t>
                      </a:r>
                      <a:r>
                        <a:rPr lang="es-ES" baseline="0" dirty="0" smtClean="0"/>
                        <a:t> caracter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/l.ca/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Coincidiría con laca</a:t>
                      </a:r>
                      <a:r>
                        <a:rPr lang="es-ES" baseline="0" dirty="0" smtClean="0"/>
                        <a:t> –</a:t>
                      </a:r>
                      <a:r>
                        <a:rPr lang="es-ES" baseline="0" dirty="0" err="1" smtClean="0"/>
                        <a:t>luca</a:t>
                      </a:r>
                      <a:r>
                        <a:rPr lang="es-ES" baseline="0" dirty="0" smtClean="0"/>
                        <a:t> – </a:t>
                      </a:r>
                      <a:r>
                        <a:rPr lang="es-ES" baseline="0" dirty="0" err="1" smtClean="0"/>
                        <a:t>llca-lxca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smtClean="0"/>
                        <a:t>^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Comienzo de linea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/^-/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Lineas</a:t>
                      </a:r>
                      <a:r>
                        <a:rPr lang="es-ES" baseline="0" dirty="0" smtClean="0"/>
                        <a:t> que comienzan con -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$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Final de una</a:t>
                      </a:r>
                      <a:r>
                        <a:rPr lang="es-ES" baseline="0" dirty="0" smtClean="0"/>
                        <a:t> linea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/s$/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Lineas que terminan con</a:t>
                      </a:r>
                      <a:r>
                        <a:rPr lang="es-ES" baseline="0" dirty="0" smtClean="0"/>
                        <a:t> 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( 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Agrupar</a:t>
                      </a:r>
                      <a:r>
                        <a:rPr lang="es-ES" baseline="0" dirty="0" smtClean="0"/>
                        <a:t> caracteres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/(vocal)/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Busca “vocal”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4240">
                <a:tc>
                  <a:txBody>
                    <a:bodyPr/>
                    <a:lstStyle/>
                    <a:p>
                      <a:r>
                        <a:rPr lang="es-ES" dirty="0" smtClean="0"/>
                        <a:t>[ ]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Conjunto</a:t>
                      </a:r>
                      <a:r>
                        <a:rPr lang="es-ES" baseline="0" dirty="0" smtClean="0"/>
                        <a:t> de caracteres opcionales (lista de símbolos)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escrib</a:t>
                      </a:r>
                      <a:r>
                        <a:rPr lang="es-ES" dirty="0" smtClean="0"/>
                        <a:t>[ </a:t>
                      </a:r>
                      <a:r>
                        <a:rPr lang="es-ES" dirty="0" err="1" smtClean="0"/>
                        <a:t>aoe</a:t>
                      </a:r>
                      <a:r>
                        <a:rPr lang="es-ES" dirty="0" smtClean="0"/>
                        <a:t>]/</a:t>
                      </a:r>
                    </a:p>
                    <a:p>
                      <a:endParaRPr lang="es-ES" sz="8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smtClean="0"/>
                        <a:t>/[a-u] [ 0-9]/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Escriba, escribo, escribe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b="1" dirty="0" smtClean="0"/>
                        <a:t>|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Indica</a:t>
                      </a:r>
                      <a:r>
                        <a:rPr lang="es-ES" baseline="0" dirty="0" smtClean="0"/>
                        <a:t> opciones (</a:t>
                      </a:r>
                      <a:r>
                        <a:rPr lang="es-ES" baseline="0" dirty="0" err="1" smtClean="0"/>
                        <a:t>ó</a:t>
                      </a:r>
                      <a:r>
                        <a:rPr lang="es-ES" baseline="0" dirty="0" smtClean="0"/>
                        <a:t>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/(</a:t>
                      </a:r>
                      <a:r>
                        <a:rPr lang="es-ES" dirty="0" err="1" smtClean="0"/>
                        <a:t>infor|auto</a:t>
                      </a:r>
                      <a:r>
                        <a:rPr lang="es-ES" dirty="0" smtClean="0"/>
                        <a:t>|)</a:t>
                      </a:r>
                      <a:r>
                        <a:rPr lang="es-ES" dirty="0" err="1" smtClean="0"/>
                        <a:t>mática</a:t>
                      </a:r>
                      <a:r>
                        <a:rPr lang="es-ES" dirty="0" smtClean="0"/>
                        <a:t>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Informática - automática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  </a:t>
                      </a:r>
                      <a:r>
                        <a:rPr lang="es-ES" b="1" dirty="0" smtClean="0"/>
                        <a:t>\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Marca carácter especial. Escape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2408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357166"/>
            <a:ext cx="7239000" cy="928694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/>
            </a:r>
            <a:br>
              <a:rPr lang="es-ES" sz="2700" dirty="0" smtClean="0"/>
            </a:br>
            <a:r>
              <a:rPr lang="es-ES" sz="2700" dirty="0" smtClean="0"/>
              <a:t>¿y si queremos representar el propio carácter en vez de su función?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9416"/>
            <a:ext cx="7239000" cy="431991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s-ES" sz="4500" dirty="0" smtClean="0"/>
              <a:t> </a:t>
            </a:r>
            <a:r>
              <a:rPr lang="es-ES" sz="9600" b="1" dirty="0" smtClean="0">
                <a:solidFill>
                  <a:srgbClr val="002060"/>
                </a:solidFill>
              </a:rPr>
              <a:t>A esto se le llama "escapar" y se hace con la barra invertida ( \ )</a:t>
            </a:r>
          </a:p>
          <a:p>
            <a:pPr>
              <a:buNone/>
            </a:pPr>
            <a:endParaRPr lang="es-ES" sz="2900" dirty="0" smtClean="0"/>
          </a:p>
          <a:p>
            <a:pPr>
              <a:buNone/>
            </a:pPr>
            <a:r>
              <a:rPr lang="es-ES" sz="8000" dirty="0" smtClean="0"/>
              <a:t>Por ejemplo el (punto) . Significa cualquier carácter, entonces si yo coloco la expresión</a:t>
            </a:r>
          </a:p>
          <a:p>
            <a:pPr>
              <a:buNone/>
            </a:pPr>
            <a:r>
              <a:rPr lang="es-ES" sz="8000" dirty="0" smtClean="0"/>
              <a:t>   /l.ca/</a:t>
            </a:r>
          </a:p>
          <a:p>
            <a:pPr>
              <a:buNone/>
            </a:pPr>
            <a:r>
              <a:rPr lang="es-ES" sz="8000" dirty="0" smtClean="0"/>
              <a:t>Esta expresión me va devolver palabras como laca, </a:t>
            </a:r>
            <a:r>
              <a:rPr lang="es-ES" sz="8000" dirty="0" err="1" smtClean="0"/>
              <a:t>leca,lica,loca,luca</a:t>
            </a:r>
            <a:r>
              <a:rPr lang="es-ES" sz="8000" dirty="0" smtClean="0"/>
              <a:t>, etc. pero si coloco </a:t>
            </a:r>
          </a:p>
          <a:p>
            <a:pPr>
              <a:buNone/>
            </a:pPr>
            <a:endParaRPr lang="es-ES" sz="8000" dirty="0" smtClean="0"/>
          </a:p>
          <a:p>
            <a:pPr>
              <a:buNone/>
            </a:pPr>
            <a:r>
              <a:rPr lang="es-ES" sz="9600" b="1" dirty="0" smtClean="0"/>
              <a:t>/l\.</a:t>
            </a:r>
            <a:r>
              <a:rPr lang="es-ES" sz="9600" b="1" dirty="0" err="1" smtClean="0"/>
              <a:t>ca</a:t>
            </a:r>
            <a:r>
              <a:rPr lang="es-ES" sz="9600" b="1" dirty="0" smtClean="0"/>
              <a:t>/ </a:t>
            </a:r>
          </a:p>
          <a:p>
            <a:pPr>
              <a:buNone/>
            </a:pPr>
            <a:r>
              <a:rPr lang="es-ES" sz="8000" dirty="0" smtClean="0"/>
              <a:t>va a devolver la expresión “l.ca”, solo va a coincidir con esta expresión por que </a:t>
            </a:r>
            <a:r>
              <a:rPr lang="es-ES" sz="8000" b="1" dirty="0" smtClean="0">
                <a:solidFill>
                  <a:srgbClr val="0033CC"/>
                </a:solidFill>
              </a:rPr>
              <a:t>la barra invertida significa que el carácter que le sigue vale por si mismo</a:t>
            </a:r>
            <a:r>
              <a:rPr lang="es-ES" sz="8000" dirty="0" smtClean="0"/>
              <a:t>, es decir no cumple ninguna función, en este caso el punto es punto. </a:t>
            </a:r>
          </a:p>
          <a:p>
            <a:pPr>
              <a:buNone/>
            </a:pPr>
            <a:r>
              <a:rPr lang="es-ES" sz="8000" dirty="0" smtClean="0"/>
              <a:t/>
            </a:r>
            <a:br>
              <a:rPr lang="es-ES" sz="8000" dirty="0" smtClean="0"/>
            </a:br>
            <a:r>
              <a:rPr lang="es-ES" sz="8000" b="1" dirty="0" smtClean="0">
                <a:solidFill>
                  <a:srgbClr val="002060"/>
                </a:solidFill>
              </a:rPr>
              <a:t/>
            </a:r>
            <a:br>
              <a:rPr lang="es-ES" sz="8000" b="1" dirty="0" smtClean="0">
                <a:solidFill>
                  <a:srgbClr val="002060"/>
                </a:solidFill>
              </a:rPr>
            </a:br>
            <a:r>
              <a:rPr lang="es-ES" dirty="0" smtClean="0"/>
              <a:t/>
            </a:r>
            <a:br>
              <a:rPr lang="es-ES" dirty="0" smtClean="0"/>
            </a:br>
            <a:endParaRPr lang="es-ES" dirty="0" smtClean="0"/>
          </a:p>
          <a:p>
            <a:pPr>
              <a:buNone/>
            </a:pPr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37192"/>
          </a:xfrm>
        </p:spPr>
        <p:txBody>
          <a:bodyPr>
            <a:normAutofit/>
          </a:bodyPr>
          <a:lstStyle/>
          <a:p>
            <a:pPr algn="ctr"/>
            <a:r>
              <a:rPr lang="es-ES" sz="2400" dirty="0" smtClean="0"/>
              <a:t>Caracteres modificadores  </a:t>
            </a:r>
            <a:r>
              <a:rPr lang="es-ES" sz="1800" dirty="0" smtClean="0"/>
              <a:t>(</a:t>
            </a:r>
            <a:r>
              <a:rPr lang="es-ES" sz="1800" dirty="0" err="1" smtClean="0"/>
              <a:t>Flags</a:t>
            </a:r>
            <a:r>
              <a:rPr lang="es-ES" sz="1800" dirty="0" smtClean="0"/>
              <a:t>)</a:t>
            </a:r>
            <a:endParaRPr lang="es-ES" sz="1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158" y="1571612"/>
            <a:ext cx="7239000" cy="4846320"/>
          </a:xfrm>
        </p:spPr>
        <p:txBody>
          <a:bodyPr/>
          <a:lstStyle/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 smtClean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87398"/>
              </p:ext>
            </p:extLst>
          </p:nvPr>
        </p:nvGraphicFramePr>
        <p:xfrm>
          <a:off x="179511" y="2143116"/>
          <a:ext cx="7920882" cy="4300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894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Descripción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Resultado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*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mtClean="0"/>
                    </a:p>
                    <a:p>
                      <a:r>
                        <a:rPr lang="es-ES" smtClean="0"/>
                        <a:t>Repetir </a:t>
                      </a:r>
                      <a:r>
                        <a:rPr lang="es-ES" dirty="0" smtClean="0"/>
                        <a:t>0 ó</a:t>
                      </a:r>
                      <a:r>
                        <a:rPr lang="es-ES" baseline="0" dirty="0" smtClean="0"/>
                        <a:t> mas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/1*234/</a:t>
                      </a:r>
                    </a:p>
                    <a:p>
                      <a:endParaRPr lang="es-ES" dirty="0" smtClean="0"/>
                    </a:p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bo</a:t>
                      </a:r>
                      <a:r>
                        <a:rPr lang="es-ES" dirty="0" smtClean="0"/>
                        <a:t>*/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dirty="0" smtClean="0"/>
                        <a:t>234-1234-11234</a:t>
                      </a:r>
                      <a:r>
                        <a:rPr lang="es-ES" sz="1800" baseline="0" dirty="0" smtClean="0"/>
                        <a:t> -111234</a:t>
                      </a:r>
                    </a:p>
                    <a:p>
                      <a:endParaRPr lang="es-ES" sz="1800" baseline="0" dirty="0" smtClean="0"/>
                    </a:p>
                    <a:p>
                      <a:r>
                        <a:rPr lang="es-ES" sz="1800" baseline="0" dirty="0" smtClean="0"/>
                        <a:t>“El fantasma hizo </a:t>
                      </a:r>
                      <a:r>
                        <a:rPr lang="es-ES" sz="1800" baseline="0" dirty="0" err="1" smtClean="0"/>
                        <a:t>boooo</a:t>
                      </a:r>
                      <a:r>
                        <a:rPr lang="es-ES" sz="1800" baseline="0" dirty="0" smtClean="0"/>
                        <a:t>”</a:t>
                      </a:r>
                    </a:p>
                    <a:p>
                      <a:r>
                        <a:rPr lang="es-ES" sz="1800" b="0" baseline="0" dirty="0" smtClean="0"/>
                        <a:t>Encontrará la </a:t>
                      </a:r>
                      <a:r>
                        <a:rPr lang="es-ES" sz="1800" b="0" baseline="0" dirty="0" err="1" smtClean="0"/>
                        <a:t>subcadena</a:t>
                      </a:r>
                      <a:r>
                        <a:rPr lang="es-ES" sz="1800" b="0" baseline="0" dirty="0" smtClean="0"/>
                        <a:t> </a:t>
                      </a:r>
                      <a:r>
                        <a:rPr lang="es-ES" sz="1800" b="0" baseline="0" dirty="0" err="1" smtClean="0"/>
                        <a:t>boooo</a:t>
                      </a:r>
                      <a:endParaRPr lang="es-E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s-ES" dirty="0" smtClean="0"/>
                        <a:t>+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Repetir </a:t>
                      </a:r>
                      <a:r>
                        <a:rPr lang="es-ES" baseline="0" dirty="0" smtClean="0"/>
                        <a:t> 1 ó mas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Go+gle</a:t>
                      </a:r>
                      <a:r>
                        <a:rPr lang="es-ES" dirty="0" smtClean="0"/>
                        <a:t>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Gogle</a:t>
                      </a:r>
                      <a:r>
                        <a:rPr lang="es-ES" dirty="0" smtClean="0"/>
                        <a:t> – Google - </a:t>
                      </a:r>
                      <a:r>
                        <a:rPr lang="es-ES" dirty="0" err="1" smtClean="0"/>
                        <a:t>Gooogle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s-ES" dirty="0" smtClean="0"/>
                        <a:t>?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1 ó 0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Go?gle</a:t>
                      </a:r>
                      <a:r>
                        <a:rPr lang="es-ES" dirty="0" smtClean="0"/>
                        <a:t>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 smtClean="0"/>
                        <a:t>Ggle</a:t>
                      </a:r>
                      <a:r>
                        <a:rPr lang="es-ES" dirty="0" smtClean="0"/>
                        <a:t> - </a:t>
                      </a:r>
                      <a:r>
                        <a:rPr lang="es-ES" dirty="0" err="1" smtClean="0"/>
                        <a:t>Gogle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s-ES" dirty="0" smtClean="0"/>
                        <a:t>{n}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Exactamente</a:t>
                      </a:r>
                      <a:r>
                        <a:rPr lang="es-ES" baseline="0" dirty="0" smtClean="0"/>
                        <a:t> n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co</a:t>
                      </a:r>
                      <a:r>
                        <a:rPr lang="es-ES" dirty="0" smtClean="0"/>
                        <a:t>{2}</a:t>
                      </a:r>
                      <a:r>
                        <a:rPr lang="es-ES" dirty="0" err="1" smtClean="0"/>
                        <a:t>rdinar</a:t>
                      </a:r>
                      <a:r>
                        <a:rPr lang="es-ES" dirty="0" smtClean="0"/>
                        <a:t>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coordinar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s-ES" dirty="0" smtClean="0"/>
                        <a:t>{n,}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Al</a:t>
                      </a:r>
                      <a:r>
                        <a:rPr lang="es-ES" baseline="0" dirty="0" smtClean="0"/>
                        <a:t> menos n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/1{2,}00/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1100-11100-111100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94">
                <a:tc>
                  <a:txBody>
                    <a:bodyPr/>
                    <a:lstStyle/>
                    <a:p>
                      <a:r>
                        <a:rPr lang="es-ES" dirty="0" smtClean="0"/>
                        <a:t>{</a:t>
                      </a:r>
                      <a:r>
                        <a:rPr lang="es-ES" dirty="0" err="1" smtClean="0"/>
                        <a:t>m,n</a:t>
                      </a:r>
                      <a:r>
                        <a:rPr lang="es-ES" dirty="0" smtClean="0"/>
                        <a:t>}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Entre</a:t>
                      </a:r>
                      <a:r>
                        <a:rPr lang="es-ES" baseline="0" dirty="0" smtClean="0"/>
                        <a:t> m y n veces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dirty="0" err="1" smtClean="0"/>
                        <a:t>ho</a:t>
                      </a:r>
                      <a:r>
                        <a:rPr lang="es-ES" dirty="0" smtClean="0"/>
                        <a:t>{1,3}la/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hola –</a:t>
                      </a:r>
                      <a:r>
                        <a:rPr lang="es-ES" dirty="0" err="1" smtClean="0"/>
                        <a:t>hoola</a:t>
                      </a:r>
                      <a:r>
                        <a:rPr lang="es-ES" baseline="0" dirty="0" smtClean="0"/>
                        <a:t> -</a:t>
                      </a:r>
                      <a:r>
                        <a:rPr lang="es-ES" baseline="0" dirty="0" err="1" smtClean="0"/>
                        <a:t>hooola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00034" y="1076910"/>
            <a:ext cx="68580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 smtClean="0"/>
              <a:t>Pueden usarse con los caracteres que forman el patrón, cada modificador actúa sobre el carácter o el paréntesis inmediatamente anterior.</a:t>
            </a:r>
          </a:p>
        </p:txBody>
      </p:sp>
      <p:sp>
        <p:nvSpPr>
          <p:cNvPr id="8" name="2 Marcador de contenido"/>
          <p:cNvSpPr txBox="1">
            <a:spLocks/>
          </p:cNvSpPr>
          <p:nvPr/>
        </p:nvSpPr>
        <p:spPr>
          <a:xfrm>
            <a:off x="344784" y="141277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/>
              <a:buChar char=""/>
              <a:defRPr kumimoji="0" sz="2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208" indent="-228600" algn="l" rtl="0" eaLnBrk="1" latinLnBrk="0" hangingPunct="1">
              <a:spcBef>
                <a:spcPts val="5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23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8952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70000"/>
              <a:buFont typeface="Wingdings"/>
              <a:buChar char="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Wingdings 2"/>
              <a:buNone/>
            </a:pPr>
            <a:endParaRPr lang="es-ES" smtClean="0"/>
          </a:p>
          <a:p>
            <a:pPr>
              <a:buFont typeface="Wingdings 2"/>
              <a:buNone/>
            </a:pPr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394316"/>
          </a:xfrm>
        </p:spPr>
        <p:txBody>
          <a:bodyPr>
            <a:normAutofit/>
          </a:bodyPr>
          <a:lstStyle/>
          <a:p>
            <a:pPr algn="ctr"/>
            <a:r>
              <a:rPr lang="es-ES" sz="2400" dirty="0" smtClean="0"/>
              <a:t>METACARACTERES </a:t>
            </a:r>
            <a:endParaRPr lang="es-ES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500034" y="1000109"/>
          <a:ext cx="7239000" cy="5518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532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Significado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Resultado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713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\b 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Principio o final</a:t>
                      </a:r>
                      <a:r>
                        <a:rPr lang="es-ES" sz="1400" baseline="0" dirty="0" smtClean="0"/>
                        <a:t> de palabra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smtClean="0"/>
                        <a:t>/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</a:t>
                      </a:r>
                      <a:r>
                        <a:rPr lang="es-ES" sz="1600" dirty="0" err="1" smtClean="0"/>
                        <a:t>bver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\b/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Encuentra en la frase “ver de lejos” la</a:t>
                      </a:r>
                      <a:r>
                        <a:rPr lang="es-ES" sz="1400" baseline="0" dirty="0" smtClean="0"/>
                        <a:t> palabra ver pero no encuentra  en verde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301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\B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</a:t>
                      </a:r>
                      <a:r>
                        <a:rPr lang="es-ES" sz="1400" baseline="0" dirty="0" smtClean="0"/>
                        <a:t> el medio de una palabra, indica frontera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 smtClean="0"/>
                    </a:p>
                    <a:p>
                      <a:r>
                        <a:rPr lang="es-ES" sz="1600" dirty="0" smtClean="0"/>
                        <a:t>/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</a:t>
                      </a:r>
                      <a:r>
                        <a:rPr lang="es-ES" sz="1600" dirty="0" err="1" smtClean="0"/>
                        <a:t>Bver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\B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 smtClean="0"/>
                    </a:p>
                    <a:p>
                      <a:r>
                        <a:rPr lang="es-ES" sz="1400" dirty="0" smtClean="0"/>
                        <a:t>Encuentra </a:t>
                      </a:r>
                      <a:r>
                        <a:rPr lang="es-ES" sz="1400" dirty="0" smtClean="0">
                          <a:solidFill>
                            <a:srgbClr val="00B050"/>
                          </a:solidFill>
                        </a:rPr>
                        <a:t>ver</a:t>
                      </a:r>
                      <a:r>
                        <a:rPr lang="es-ES" sz="1400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ES" sz="1400" baseline="0" dirty="0" smtClean="0"/>
                        <a:t>en </a:t>
                      </a:r>
                      <a:r>
                        <a:rPr lang="es-ES" sz="1400" baseline="0" dirty="0" err="1" smtClean="0"/>
                        <a:t>val</a:t>
                      </a:r>
                      <a:r>
                        <a:rPr lang="es-ES" sz="1400" baseline="0" dirty="0" err="1" smtClean="0">
                          <a:solidFill>
                            <a:srgbClr val="00B050"/>
                          </a:solidFill>
                        </a:rPr>
                        <a:t>ver</a:t>
                      </a:r>
                      <a:r>
                        <a:rPr lang="es-ES" sz="1400" baseline="0" dirty="0" err="1" smtClean="0"/>
                        <a:t>de</a:t>
                      </a:r>
                      <a:r>
                        <a:rPr lang="es-ES" sz="1400" baseline="0" dirty="0" smtClean="0"/>
                        <a:t> pero no en verde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49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Un dígito</a:t>
                      </a:r>
                      <a:r>
                        <a:rPr lang="es-ES" sz="1400" baseline="0" dirty="0" smtClean="0"/>
                        <a:t> (es igual a colocar como patrón   </a:t>
                      </a:r>
                      <a:r>
                        <a:rPr lang="es-ES" sz="1400" dirty="0" smtClean="0"/>
                        <a:t>[ 0-9]</a:t>
                      </a:r>
                      <a:r>
                        <a:rPr lang="es-ES" sz="1400" b="1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/[ A-Z]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\d/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No fallaría en “A4”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4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Alfanumérico (no dígito) es decir [ a-z </a:t>
                      </a:r>
                      <a:r>
                        <a:rPr lang="es-ES" sz="1400" dirty="0" err="1" smtClean="0"/>
                        <a:t>A-Z</a:t>
                      </a:r>
                      <a:r>
                        <a:rPr lang="es-ES" sz="1400" dirty="0" smtClean="0"/>
                        <a:t>]</a:t>
                      </a:r>
                      <a:r>
                        <a:rPr lang="es-ES" sz="1400" b="1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/[ A-Z]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\D/</a:t>
                      </a:r>
                      <a:endParaRPr lang="es-E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Si fallaría en “A4” y no fallaría en “AA”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791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\w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Cualquier alfanumérico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smtClean="0"/>
                        <a:t>[a-z </a:t>
                      </a:r>
                      <a:r>
                        <a:rPr lang="es-ES" sz="1400" dirty="0" err="1" smtClean="0"/>
                        <a:t>A-Z</a:t>
                      </a:r>
                      <a:r>
                        <a:rPr lang="es-ES" sz="1400" dirty="0" smtClean="0"/>
                        <a:t> 0-9 ]</a:t>
                      </a: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/\w+/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Encuentra la palabra </a:t>
                      </a:r>
                      <a:r>
                        <a:rPr lang="es-ES" sz="1400" i="1" dirty="0" smtClean="0"/>
                        <a:t>computación</a:t>
                      </a:r>
                      <a:r>
                        <a:rPr lang="es-ES" sz="1400" i="1" baseline="0" dirty="0" smtClean="0"/>
                        <a:t> </a:t>
                      </a:r>
                      <a:r>
                        <a:rPr lang="es-ES" sz="1400" baseline="0" dirty="0" smtClean="0"/>
                        <a:t>en “</a:t>
                      </a:r>
                      <a:r>
                        <a:rPr lang="es-ES" sz="1400" i="1" baseline="0" dirty="0" smtClean="0"/>
                        <a:t>computación .</a:t>
                      </a:r>
                      <a:r>
                        <a:rPr lang="es-ES" sz="1400" baseline="0" dirty="0" smtClean="0"/>
                        <a:t>” pero no encuentra el .  (punto) 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0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600" dirty="0" smtClean="0">
                        <a:latin typeface="+mj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 smtClean="0">
                          <a:latin typeface="+mj-lt"/>
                          <a:ea typeface="Calibri"/>
                          <a:cs typeface="Times New Roman"/>
                        </a:rPr>
                        <a:t>\</a:t>
                      </a:r>
                      <a:r>
                        <a:rPr lang="es-AR" sz="1600" dirty="0">
                          <a:latin typeface="+mj-lt"/>
                          <a:ea typeface="Calibri"/>
                          <a:cs typeface="Times New Roman"/>
                        </a:rPr>
                        <a:t>W</a:t>
                      </a:r>
                      <a:endParaRPr lang="es-ES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latin typeface="+mj-lt"/>
                          <a:ea typeface="Calibri"/>
                          <a:cs typeface="Times New Roman"/>
                        </a:rPr>
                        <a:t>Opuesto a \w </a:t>
                      </a:r>
                      <a:br>
                        <a:rPr lang="es-AR" sz="1400" dirty="0">
                          <a:latin typeface="+mj-lt"/>
                          <a:ea typeface="Calibri"/>
                          <a:cs typeface="Times New Roman"/>
                        </a:rPr>
                      </a:br>
                      <a:r>
                        <a:rPr lang="es-AR" sz="1400" dirty="0" smtClean="0">
                          <a:latin typeface="+mj-lt"/>
                          <a:ea typeface="Calibri"/>
                          <a:cs typeface="Times New Roman"/>
                        </a:rPr>
                        <a:t>([a-zA-Z0-9]) es decir es cualquier carácter excepto los comprendidos en </a:t>
                      </a:r>
                      <a:r>
                        <a:rPr kumimoji="0"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Times New Roman"/>
                        </a:rPr>
                        <a:t>\w </a:t>
                      </a:r>
                      <a:endParaRPr lang="es-ES" sz="14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</a:t>
                      </a:r>
                      <a:r>
                        <a:rPr kumimoji="0" lang="es-A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Times New Roman"/>
                        </a:rPr>
                        <a:t>\W/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 el ejemplo anterior hallaría</a:t>
                      </a:r>
                      <a:r>
                        <a:rPr lang="es-ES" sz="1400" baseline="0" dirty="0" smtClean="0"/>
                        <a:t> solo el  . (punto) 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024703"/>
              </p:ext>
            </p:extLst>
          </p:nvPr>
        </p:nvGraphicFramePr>
        <p:xfrm>
          <a:off x="251520" y="857231"/>
          <a:ext cx="7920880" cy="5822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771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Significado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Resultado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507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\b 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Principio o final</a:t>
                      </a:r>
                      <a:r>
                        <a:rPr lang="es-ES" sz="1400" baseline="0" dirty="0" smtClean="0"/>
                        <a:t> de palabra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 smtClean="0">
                          <a:solidFill>
                            <a:schemeClr val="tx1"/>
                          </a:solidFill>
                        </a:rPr>
                        <a:t>1°) / </a:t>
                      </a:r>
                      <a:r>
                        <a:rPr lang="es-ES" sz="1600" b="1" dirty="0" smtClean="0">
                          <a:solidFill>
                            <a:srgbClr val="002776"/>
                          </a:solidFill>
                        </a:rPr>
                        <a:t>\b(</a:t>
                      </a:r>
                      <a:r>
                        <a:rPr lang="es-ES" sz="1600" b="0" dirty="0" smtClean="0">
                          <a:solidFill>
                            <a:schemeClr val="tx1"/>
                          </a:solidFill>
                        </a:rPr>
                        <a:t>ver)</a:t>
                      </a:r>
                      <a:r>
                        <a:rPr lang="es-ES" sz="1600" b="1" dirty="0" smtClean="0">
                          <a:solidFill>
                            <a:srgbClr val="002776"/>
                          </a:solidFill>
                        </a:rPr>
                        <a:t>\</a:t>
                      </a:r>
                      <a:r>
                        <a:rPr lang="es-ES" sz="1600" b="1" dirty="0" err="1" smtClean="0">
                          <a:solidFill>
                            <a:srgbClr val="002776"/>
                          </a:solidFill>
                        </a:rPr>
                        <a:t>b</a:t>
                      </a:r>
                      <a:r>
                        <a:rPr lang="es-ES" sz="1600" b="0" dirty="0" err="1" smtClean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s-ES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s-ES" sz="1600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s-ES" sz="1600" b="0" dirty="0" smtClean="0">
                          <a:solidFill>
                            <a:schemeClr val="tx1"/>
                          </a:solidFill>
                        </a:rPr>
                        <a:t>2°) / </a:t>
                      </a:r>
                      <a:r>
                        <a:rPr lang="es-ES" sz="1600" b="1" dirty="0" smtClean="0">
                          <a:solidFill>
                            <a:srgbClr val="002776"/>
                          </a:solidFill>
                        </a:rPr>
                        <a:t>\b(</a:t>
                      </a:r>
                      <a:r>
                        <a:rPr lang="es-ES" sz="1600" b="0" dirty="0" smtClean="0">
                          <a:solidFill>
                            <a:schemeClr val="tx1"/>
                          </a:solidFill>
                        </a:rPr>
                        <a:t>ver)/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 la frase “ver de lejos el campo verde”, en la 1° devuelve la</a:t>
                      </a:r>
                      <a:r>
                        <a:rPr lang="es-ES" sz="1400" baseline="0" dirty="0" smtClean="0"/>
                        <a:t> palabra </a:t>
                      </a:r>
                      <a:r>
                        <a:rPr lang="es-ES" sz="1400" b="1" baseline="0" dirty="0" smtClean="0"/>
                        <a:t>ver</a:t>
                      </a:r>
                      <a:r>
                        <a:rPr lang="es-ES" sz="1400" baseline="0" dirty="0" smtClean="0"/>
                        <a:t> y en la 2° la palabra verde y ver</a:t>
                      </a:r>
                    </a:p>
                    <a:p>
                      <a:r>
                        <a:rPr lang="es-ES" sz="1400" baseline="0" dirty="0" smtClean="0"/>
                        <a:t> Ej. Va encontrar vertedero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942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\B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</a:t>
                      </a:r>
                      <a:r>
                        <a:rPr lang="es-ES" sz="1400" baseline="0" dirty="0" smtClean="0"/>
                        <a:t> el medio de una palabra, indica frontera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600" dirty="0" smtClean="0"/>
                    </a:p>
                    <a:p>
                      <a:r>
                        <a:rPr lang="es-ES" sz="1600" dirty="0" smtClean="0"/>
                        <a:t>/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</a:t>
                      </a:r>
                      <a:r>
                        <a:rPr lang="es-ES" sz="1600" b="1" dirty="0" err="1" smtClean="0">
                          <a:solidFill>
                            <a:srgbClr val="002060"/>
                          </a:solidFill>
                        </a:rPr>
                        <a:t>B</a:t>
                      </a:r>
                      <a:r>
                        <a:rPr lang="es-ES" sz="1600" dirty="0" err="1" smtClean="0"/>
                        <a:t>ver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\B</a:t>
                      </a:r>
                      <a:r>
                        <a:rPr lang="es-ES" sz="1600" b="1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s-E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 smtClean="0"/>
                    </a:p>
                    <a:p>
                      <a:r>
                        <a:rPr lang="es-ES" sz="1400" dirty="0" smtClean="0"/>
                        <a:t>Encuentra </a:t>
                      </a:r>
                      <a:r>
                        <a:rPr lang="es-ES" sz="1400" dirty="0" smtClean="0">
                          <a:solidFill>
                            <a:srgbClr val="00B050"/>
                          </a:solidFill>
                        </a:rPr>
                        <a:t>ver</a:t>
                      </a:r>
                      <a:r>
                        <a:rPr lang="es-ES" sz="1400" baseline="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ES" sz="1400" baseline="0" dirty="0" smtClean="0"/>
                        <a:t>en </a:t>
                      </a:r>
                      <a:r>
                        <a:rPr lang="es-ES" sz="1400" baseline="0" dirty="0" err="1" smtClean="0"/>
                        <a:t>val</a:t>
                      </a:r>
                      <a:r>
                        <a:rPr lang="es-ES" sz="1400" baseline="0" dirty="0" err="1" smtClean="0">
                          <a:solidFill>
                            <a:srgbClr val="00B050"/>
                          </a:solidFill>
                        </a:rPr>
                        <a:t>ver</a:t>
                      </a:r>
                      <a:r>
                        <a:rPr lang="es-ES" sz="1400" baseline="0" dirty="0" err="1" smtClean="0"/>
                        <a:t>de</a:t>
                      </a:r>
                      <a:r>
                        <a:rPr lang="es-ES" sz="1400" baseline="0" dirty="0" smtClean="0"/>
                        <a:t> pero no en verde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543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Un dígito numérico</a:t>
                      </a:r>
                      <a:r>
                        <a:rPr lang="es-ES" sz="1400" baseline="0" dirty="0" smtClean="0"/>
                        <a:t> (es igual a colocar como patrón   </a:t>
                      </a:r>
                      <a:r>
                        <a:rPr lang="es-ES" sz="1400" dirty="0" smtClean="0"/>
                        <a:t>[ 0-9]</a:t>
                      </a:r>
                      <a:r>
                        <a:rPr lang="es-ES" sz="1400" b="1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\d/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3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\D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Carácter Alfabético (no dígito) es decir [ a-z A-Z]</a:t>
                      </a:r>
                      <a:r>
                        <a:rPr lang="es-ES" sz="1400" b="1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</a:t>
                      </a:r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\D/</a:t>
                      </a:r>
                      <a:endParaRPr lang="es-E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3524"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\w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Cualquier alfanumérico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smtClean="0"/>
                        <a:t>[a-z </a:t>
                      </a:r>
                      <a:r>
                        <a:rPr lang="es-ES" sz="1400" dirty="0" err="1" smtClean="0"/>
                        <a:t>A-Z</a:t>
                      </a:r>
                      <a:r>
                        <a:rPr lang="es-ES" sz="1400" dirty="0" smtClean="0"/>
                        <a:t> 0-9 ]</a:t>
                      </a: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 smtClean="0">
                          <a:solidFill>
                            <a:srgbClr val="002060"/>
                          </a:solidFill>
                        </a:rPr>
                        <a:t> /\w+/</a:t>
                      </a:r>
                      <a:endParaRPr lang="es-ES" sz="1600" dirty="0" smtClean="0"/>
                    </a:p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Encuentra la palabra </a:t>
                      </a:r>
                      <a:r>
                        <a:rPr lang="es-ES" sz="1400" i="1" dirty="0" smtClean="0"/>
                        <a:t>computación</a:t>
                      </a:r>
                      <a:r>
                        <a:rPr lang="es-ES" sz="1400" i="1" baseline="0" dirty="0" smtClean="0"/>
                        <a:t> </a:t>
                      </a:r>
                      <a:r>
                        <a:rPr lang="es-ES" sz="1400" baseline="0" dirty="0" smtClean="0"/>
                        <a:t>en “</a:t>
                      </a:r>
                      <a:r>
                        <a:rPr lang="es-ES" sz="1400" i="1" baseline="0" dirty="0" smtClean="0"/>
                        <a:t>computación .</a:t>
                      </a:r>
                      <a:r>
                        <a:rPr lang="es-ES" sz="1400" baseline="0" dirty="0" smtClean="0"/>
                        <a:t>” pero no encuentra el .  (punto) 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93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AR" sz="1600" dirty="0" smtClean="0">
                        <a:latin typeface="+mj-lt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 smtClean="0">
                          <a:latin typeface="+mj-lt"/>
                          <a:ea typeface="Calibri"/>
                          <a:cs typeface="Times New Roman"/>
                        </a:rPr>
                        <a:t>\</a:t>
                      </a:r>
                      <a:r>
                        <a:rPr lang="es-AR" sz="1600" dirty="0">
                          <a:latin typeface="+mj-lt"/>
                          <a:ea typeface="Calibri"/>
                          <a:cs typeface="Times New Roman"/>
                        </a:rPr>
                        <a:t>W</a:t>
                      </a:r>
                      <a:endParaRPr lang="es-ES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latin typeface="+mj-lt"/>
                          <a:ea typeface="Calibri"/>
                          <a:cs typeface="Times New Roman"/>
                        </a:rPr>
                        <a:t>Opuesto a \w </a:t>
                      </a:r>
                      <a:br>
                        <a:rPr lang="es-AR" sz="1400" dirty="0">
                          <a:latin typeface="+mj-lt"/>
                          <a:ea typeface="Calibri"/>
                          <a:cs typeface="Times New Roman"/>
                        </a:rPr>
                      </a:br>
                      <a:r>
                        <a:rPr lang="es-AR" sz="1400" dirty="0" smtClean="0">
                          <a:latin typeface="+mj-lt"/>
                          <a:ea typeface="Calibri"/>
                          <a:cs typeface="Times New Roman"/>
                        </a:rPr>
                        <a:t>([a-zA-Z0-9]) es decir es cualquier carácter excepto los comprendidos en </a:t>
                      </a:r>
                      <a:r>
                        <a:rPr kumimoji="0"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Times New Roman"/>
                        </a:rPr>
                        <a:t>\w </a:t>
                      </a:r>
                      <a:endParaRPr lang="es-ES" sz="14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/>
                        <a:t>/</a:t>
                      </a:r>
                      <a:r>
                        <a:rPr kumimoji="0" lang="es-A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Calibri"/>
                          <a:cs typeface="Times New Roman"/>
                        </a:rPr>
                        <a:t>\W/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 smtClean="0"/>
                        <a:t>En el ejemplo anterior hallaría</a:t>
                      </a:r>
                      <a:r>
                        <a:rPr lang="es-ES" sz="1400" baseline="0" dirty="0" smtClean="0"/>
                        <a:t> solo el  . (punto) 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75150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/>
            </a:r>
            <a:br>
              <a:rPr lang="es-ES" sz="2800" dirty="0" smtClean="0"/>
            </a:br>
            <a:r>
              <a:rPr lang="es-ES" sz="2800" dirty="0" smtClean="0"/>
              <a:t>       METACARACTERES</a:t>
            </a:r>
            <a:endParaRPr lang="es-ES" sz="28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852987"/>
              </p:ext>
            </p:extLst>
          </p:nvPr>
        </p:nvGraphicFramePr>
        <p:xfrm>
          <a:off x="457200" y="1609725"/>
          <a:ext cx="7239000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Significado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Ejemplos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Resultado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 \t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Carácter ASCII 9 (tabulador)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 \f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Salto de página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 \n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Salto</a:t>
                      </a:r>
                      <a:r>
                        <a:rPr lang="es-ES" baseline="0" dirty="0" smtClean="0"/>
                        <a:t> de linea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 \s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Carácter tipo</a:t>
                      </a:r>
                      <a:r>
                        <a:rPr lang="es-ES" baseline="0" dirty="0" smtClean="0"/>
                        <a:t> espacio (como </a:t>
                      </a:r>
                      <a:r>
                        <a:rPr lang="es-ES" baseline="0" dirty="0" err="1" smtClean="0"/>
                        <a:t>tab</a:t>
                      </a:r>
                      <a:r>
                        <a:rPr lang="es-ES" baseline="0" dirty="0" smtClean="0"/>
                        <a:t>)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/</a:t>
                      </a:r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\</a:t>
                      </a:r>
                      <a:r>
                        <a:rPr lang="es-ES" sz="1800" b="1" dirty="0" err="1" smtClean="0">
                          <a:solidFill>
                            <a:srgbClr val="002060"/>
                          </a:solidFill>
                        </a:rPr>
                        <a:t>sSi</a:t>
                      </a:r>
                      <a:r>
                        <a:rPr lang="es-ES" sz="1800" b="1" dirty="0" smtClean="0">
                          <a:solidFill>
                            <a:srgbClr val="002060"/>
                          </a:solidFill>
                        </a:rPr>
                        <a:t>\s/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Encuentra Si en “Digo Si ”, pero no en “Digo Siéntate”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80068"/>
          </a:xfrm>
        </p:spPr>
        <p:txBody>
          <a:bodyPr>
            <a:normAutofit/>
          </a:bodyPr>
          <a:lstStyle/>
          <a:p>
            <a:r>
              <a:rPr lang="es-ES" sz="2800" dirty="0" smtClean="0"/>
              <a:t>ejemplos</a:t>
            </a:r>
            <a:endParaRPr lang="es-ES" sz="28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/^(http)/  </a:t>
            </a:r>
            <a:r>
              <a:rPr lang="es-ES" sz="2800" dirty="0" smtClean="0"/>
              <a:t>busca líneas que empiezan con </a:t>
            </a:r>
            <a:r>
              <a:rPr lang="es-ES" sz="2800" dirty="0" smtClean="0">
                <a:solidFill>
                  <a:srgbClr val="FF0000"/>
                </a:solidFill>
              </a:rPr>
              <a:t>http</a:t>
            </a:r>
            <a:endParaRPr lang="es-ES" sz="2800" dirty="0" smtClean="0">
              <a:solidFill>
                <a:srgbClr val="FF0000"/>
              </a:solidFill>
            </a:endParaRPr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/(com)$/ </a:t>
            </a:r>
            <a:r>
              <a:rPr lang="es-ES" sz="2800" dirty="0" smtClean="0"/>
              <a:t>busca líneas que terminen con </a:t>
            </a:r>
            <a:r>
              <a:rPr lang="es-ES" sz="2800" dirty="0" smtClean="0">
                <a:solidFill>
                  <a:srgbClr val="FF0000"/>
                </a:solidFill>
              </a:rPr>
              <a:t>com</a:t>
            </a:r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/(L|F|V)ocal/   </a:t>
            </a:r>
            <a:r>
              <a:rPr lang="es-ES" sz="2800" dirty="0" smtClean="0"/>
              <a:t>busca Local – Focal – Vocal</a:t>
            </a:r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/(hard|soft)</a:t>
            </a:r>
            <a:r>
              <a:rPr lang="es-ES" sz="2800" dirty="0" err="1" smtClean="0">
                <a:solidFill>
                  <a:schemeClr val="accent2">
                    <a:lumMod val="75000"/>
                  </a:schemeClr>
                </a:solidFill>
              </a:rPr>
              <a:t>ware</a:t>
            </a: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  </a:t>
            </a:r>
            <a:r>
              <a:rPr lang="es-ES" sz="2800" dirty="0" smtClean="0"/>
              <a:t>busca hardware software</a:t>
            </a:r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/a+mar/    </a:t>
            </a:r>
            <a:r>
              <a:rPr lang="es-ES" sz="2800" dirty="0" smtClean="0"/>
              <a:t>amar – </a:t>
            </a:r>
            <a:r>
              <a:rPr lang="es-ES" sz="2800" dirty="0" err="1" smtClean="0"/>
              <a:t>aamar</a:t>
            </a:r>
            <a:r>
              <a:rPr lang="es-ES" sz="2800" dirty="0" smtClean="0"/>
              <a:t> -  </a:t>
            </a:r>
            <a:r>
              <a:rPr lang="es-ES" sz="2800" dirty="0" err="1" smtClean="0"/>
              <a:t>aaamar</a:t>
            </a:r>
            <a:endParaRPr lang="es-ES" sz="2800" dirty="0" smtClean="0"/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/a?mar/ </a:t>
            </a:r>
            <a:r>
              <a:rPr lang="es-ES" sz="2800" dirty="0" smtClean="0"/>
              <a:t>amar – mar</a:t>
            </a:r>
          </a:p>
          <a:p>
            <a:pPr marL="457200" indent="-457200">
              <a:buAutoNum type="arabicParenR"/>
            </a:pPr>
            <a:r>
              <a:rPr lang="es-ES" sz="2800" dirty="0" smtClean="0">
                <a:solidFill>
                  <a:schemeClr val="accent2">
                    <a:lumMod val="75000"/>
                  </a:schemeClr>
                </a:solidFill>
              </a:rPr>
              <a:t>/tal{1,2}a/  </a:t>
            </a:r>
            <a:r>
              <a:rPr lang="es-ES" sz="2800" dirty="0" smtClean="0"/>
              <a:t>tala- talla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80068"/>
          </a:xfrm>
        </p:spPr>
        <p:txBody>
          <a:bodyPr>
            <a:normAutofit/>
          </a:bodyPr>
          <a:lstStyle/>
          <a:p>
            <a:r>
              <a:rPr lang="es-ES" sz="3200" dirty="0" smtClean="0"/>
              <a:t>ejemplos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96752"/>
            <a:ext cx="7239000" cy="525898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8) /^(am)/  (</a:t>
            </a:r>
            <a:r>
              <a:rPr lang="es-ES" sz="3100" dirty="0" err="1" smtClean="0">
                <a:solidFill>
                  <a:schemeClr val="accent2">
                    <a:lumMod val="75000"/>
                  </a:schemeClr>
                </a:solidFill>
              </a:rPr>
              <a:t>Lineas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 que comienzan con am)</a:t>
            </a:r>
            <a:r>
              <a:rPr lang="es-ES" sz="3100" dirty="0" smtClean="0"/>
              <a:t/>
            </a:r>
            <a:br>
              <a:rPr lang="es-ES" sz="3100" dirty="0" smtClean="0"/>
            </a:br>
            <a:r>
              <a:rPr lang="es-ES" sz="3100" dirty="0" smtClean="0"/>
              <a:t>am // coincide </a:t>
            </a:r>
            <a:br>
              <a:rPr lang="es-ES" sz="3100" dirty="0" smtClean="0"/>
            </a:br>
            <a:r>
              <a:rPr lang="es-ES" sz="3100" dirty="0" smtClean="0"/>
              <a:t>cama // no coincide </a:t>
            </a:r>
            <a:br>
              <a:rPr lang="es-ES" sz="3100" dirty="0" smtClean="0"/>
            </a:br>
            <a:r>
              <a:rPr lang="es-ES" sz="3100" dirty="0" smtClean="0"/>
              <a:t>ambidiestro // coincide </a:t>
            </a:r>
            <a:br>
              <a:rPr lang="es-ES" sz="3100" dirty="0" smtClean="0"/>
            </a:br>
            <a:r>
              <a:rPr lang="es-ES" sz="3100" dirty="0" err="1" smtClean="0"/>
              <a:t>Pam</a:t>
            </a:r>
            <a:r>
              <a:rPr lang="es-ES" sz="3100" dirty="0" smtClean="0"/>
              <a:t> // no coincide </a:t>
            </a:r>
            <a:br>
              <a:rPr lang="es-ES" sz="3100" dirty="0" smtClean="0"/>
            </a:br>
            <a:r>
              <a:rPr lang="es-ES" sz="3100" dirty="0" smtClean="0"/>
              <a:t>caramba // no coincide </a:t>
            </a:r>
          </a:p>
          <a:p>
            <a:pPr>
              <a:buNone/>
            </a:pPr>
            <a:endParaRPr lang="es-ES" sz="1400" dirty="0" smtClean="0"/>
          </a:p>
          <a:p>
            <a:pPr>
              <a:buNone/>
            </a:pP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9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)/(am)$/  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s-ES" sz="3100" dirty="0" err="1" smtClean="0">
                <a:solidFill>
                  <a:schemeClr val="accent2">
                    <a:lumMod val="75000"/>
                  </a:schemeClr>
                </a:solidFill>
              </a:rPr>
              <a:t>Lineas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sz="3100" dirty="0">
                <a:solidFill>
                  <a:schemeClr val="accent2">
                    <a:lumMod val="75000"/>
                  </a:schemeClr>
                </a:solidFill>
              </a:rPr>
              <a:t>que 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terminen </a:t>
            </a:r>
            <a:r>
              <a:rPr lang="es-ES" sz="3100" dirty="0">
                <a:solidFill>
                  <a:schemeClr val="accent2">
                    <a:lumMod val="75000"/>
                  </a:schemeClr>
                </a:solidFill>
              </a:rPr>
              <a:t>con am)</a:t>
            </a:r>
            <a:r>
              <a:rPr lang="es-ES" sz="3100" dirty="0"/>
              <a:t/>
            </a:r>
            <a:br>
              <a:rPr lang="es-ES" sz="3100" dirty="0"/>
            </a:br>
            <a:r>
              <a:rPr lang="es-ES" sz="3100" dirty="0" smtClean="0"/>
              <a:t>am // coincide </a:t>
            </a:r>
            <a:br>
              <a:rPr lang="es-ES" sz="3100" dirty="0" smtClean="0"/>
            </a:br>
            <a:r>
              <a:rPr lang="es-ES" sz="3100" dirty="0" err="1" smtClean="0"/>
              <a:t>salam</a:t>
            </a:r>
            <a:r>
              <a:rPr lang="es-ES" sz="3100" dirty="0" smtClean="0"/>
              <a:t> // coincide </a:t>
            </a:r>
            <a:br>
              <a:rPr lang="es-ES" sz="3100" dirty="0" smtClean="0"/>
            </a:br>
            <a:r>
              <a:rPr lang="es-ES" sz="3100" dirty="0" err="1" smtClean="0"/>
              <a:t>ambar</a:t>
            </a:r>
            <a:r>
              <a:rPr lang="es-ES" sz="3100" dirty="0" smtClean="0"/>
              <a:t> // no coincide </a:t>
            </a:r>
            <a:br>
              <a:rPr lang="es-ES" sz="3100" dirty="0" smtClean="0"/>
            </a:br>
            <a:r>
              <a:rPr lang="es-ES" sz="3100" dirty="0" err="1" smtClean="0"/>
              <a:t>Pam</a:t>
            </a:r>
            <a:r>
              <a:rPr lang="es-ES" sz="3100" dirty="0" smtClean="0"/>
              <a:t> // coincide </a:t>
            </a:r>
          </a:p>
          <a:p>
            <a:pPr>
              <a:buNone/>
            </a:pPr>
            <a:endParaRPr lang="es-ES" sz="1400" dirty="0" smtClean="0"/>
          </a:p>
          <a:p>
            <a:pPr>
              <a:buNone/>
            </a:pP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10) /12</a:t>
            </a:r>
            <a:r>
              <a:rPr lang="es-ES" sz="3100" b="1" dirty="0" smtClean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$/ </a:t>
            </a:r>
            <a:r>
              <a:rPr lang="es-ES" sz="3100" dirty="0" smtClean="0"/>
              <a:t>el signo peso al estar precedido por la barra invertida significa literalmente “$” y no quiere decir que es una línea que termina en 12 o sea hace referencia a “12 $”</a:t>
            </a:r>
          </a:p>
          <a:p>
            <a:pPr>
              <a:buNone/>
            </a:pPr>
            <a:endParaRPr lang="es-ES" sz="3100" dirty="0" smtClean="0"/>
          </a:p>
          <a:p>
            <a:pPr>
              <a:buNone/>
            </a:pP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11) /</a:t>
            </a:r>
            <a:r>
              <a:rPr lang="es-ES" sz="3100" dirty="0" err="1" smtClean="0">
                <a:solidFill>
                  <a:schemeClr val="accent2">
                    <a:lumMod val="75000"/>
                  </a:schemeClr>
                </a:solidFill>
              </a:rPr>
              <a:t>cant?a</a:t>
            </a:r>
            <a:r>
              <a:rPr lang="es-ES" sz="3100" dirty="0" smtClean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s-ES" sz="3100" dirty="0" smtClean="0"/>
              <a:t> -  coincide con canta y cana 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 </a:t>
            </a:r>
            <a:br>
              <a:rPr lang="es-ES" dirty="0" smtClean="0"/>
            </a:br>
            <a:r>
              <a:rPr lang="es-ES" dirty="0" smtClean="0"/>
              <a:t> </a:t>
            </a:r>
            <a:br>
              <a:rPr lang="es-ES" dirty="0" smtClean="0"/>
            </a:b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08630"/>
          </a:xfrm>
        </p:spPr>
        <p:txBody>
          <a:bodyPr>
            <a:normAutofit/>
          </a:bodyPr>
          <a:lstStyle/>
          <a:p>
            <a:r>
              <a:rPr lang="es-ES" sz="3200" dirty="0" smtClean="0"/>
              <a:t>ejemplos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85860"/>
            <a:ext cx="7239000" cy="516987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12) 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/ab{2}/  </a:t>
            </a:r>
            <a:r>
              <a:rPr lang="es-ES" dirty="0" smtClean="0"/>
              <a:t>- coincide con "</a:t>
            </a:r>
            <a:r>
              <a:rPr lang="es-ES" dirty="0" err="1" smtClean="0"/>
              <a:t>abb</a:t>
            </a:r>
            <a:r>
              <a:rPr lang="es-ES" dirty="0" smtClean="0"/>
              <a:t>": exactamente dos ocurrencias de "b" </a:t>
            </a:r>
          </a:p>
          <a:p>
            <a:pPr>
              <a:buNone/>
            </a:pPr>
            <a:endParaRPr lang="es-ES" sz="13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13)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 ab{2,}/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s-ES" dirty="0" smtClean="0"/>
              <a:t>- coincide con "</a:t>
            </a:r>
            <a:r>
              <a:rPr lang="es-ES" dirty="0" err="1" smtClean="0"/>
              <a:t>abb</a:t>
            </a:r>
            <a:r>
              <a:rPr lang="es-ES" dirty="0" smtClean="0"/>
              <a:t>", "</a:t>
            </a:r>
            <a:r>
              <a:rPr lang="es-ES" dirty="0" err="1" smtClean="0"/>
              <a:t>abbbb</a:t>
            </a:r>
            <a:r>
              <a:rPr lang="es-ES" dirty="0" smtClean="0"/>
              <a:t>" ... Como mínimo dos ocurrencias de b, máximo indefinido </a:t>
            </a:r>
          </a:p>
          <a:p>
            <a:pPr>
              <a:buNone/>
            </a:pPr>
            <a:endParaRPr lang="es-ES" sz="1300" dirty="0" smtClean="0"/>
          </a:p>
          <a:p>
            <a:pPr>
              <a:buNone/>
            </a:pP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14)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/ab{3,5}/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dirty="0" smtClean="0"/>
              <a:t>  - coincide con "</a:t>
            </a:r>
            <a:r>
              <a:rPr lang="es-ES" dirty="0" err="1" smtClean="0"/>
              <a:t>abbb</a:t>
            </a:r>
            <a:r>
              <a:rPr lang="es-ES" dirty="0" smtClean="0"/>
              <a:t>", "</a:t>
            </a:r>
            <a:r>
              <a:rPr lang="es-ES" dirty="0" err="1" smtClean="0"/>
              <a:t>abbbb</a:t>
            </a:r>
            <a:r>
              <a:rPr lang="es-ES" dirty="0" smtClean="0"/>
              <a:t>", o "</a:t>
            </a:r>
            <a:r>
              <a:rPr lang="es-ES" dirty="0" err="1" smtClean="0"/>
              <a:t>abbbbb</a:t>
            </a:r>
            <a:r>
              <a:rPr lang="es-ES" dirty="0" smtClean="0"/>
              <a:t>": Como </a:t>
            </a:r>
            <a:r>
              <a:rPr lang="es-ES" dirty="0" err="1" smtClean="0"/>
              <a:t>minimo</a:t>
            </a:r>
            <a:r>
              <a:rPr lang="es-ES" dirty="0" smtClean="0"/>
              <a:t>  tres ocurrencias, como máximo 5 </a:t>
            </a:r>
          </a:p>
          <a:p>
            <a:pPr>
              <a:buNone/>
            </a:pPr>
            <a:endParaRPr lang="es-ES" sz="13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15) 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/a{2,3}/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dirty="0" smtClean="0"/>
              <a:t>-  coincide con </a:t>
            </a:r>
            <a:r>
              <a:rPr lang="es-ES" dirty="0" err="1" smtClean="0"/>
              <a:t>casaa</a:t>
            </a:r>
            <a:r>
              <a:rPr lang="es-ES" dirty="0" smtClean="0"/>
              <a:t>, </a:t>
            </a:r>
            <a:r>
              <a:rPr lang="es-ES" dirty="0" err="1" smtClean="0"/>
              <a:t>casaaa</a:t>
            </a:r>
            <a:r>
              <a:rPr lang="es-ES" dirty="0" smtClean="0"/>
              <a:t> </a:t>
            </a:r>
          </a:p>
          <a:p>
            <a:pPr>
              <a:buNone/>
            </a:pPr>
            <a:endParaRPr lang="es-ES" sz="13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16)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/a{2, }/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dirty="0" smtClean="0"/>
              <a:t>- coincide con cualquier palabra que tenga al </a:t>
            </a:r>
            <a:br>
              <a:rPr lang="es-ES" dirty="0" smtClean="0"/>
            </a:br>
            <a:r>
              <a:rPr lang="es-ES" dirty="0" smtClean="0"/>
              <a:t>/ menos dos "a" o mas: </a:t>
            </a:r>
            <a:r>
              <a:rPr lang="es-ES" dirty="0" err="1" smtClean="0"/>
              <a:t>casaa</a:t>
            </a:r>
            <a:r>
              <a:rPr lang="es-ES" dirty="0" smtClean="0"/>
              <a:t> o </a:t>
            </a:r>
            <a:r>
              <a:rPr lang="es-ES" dirty="0" err="1" smtClean="0"/>
              <a:t>casaaaaaa</a:t>
            </a:r>
            <a:r>
              <a:rPr lang="es-ES" dirty="0" smtClean="0"/>
              <a:t>, no con casa </a:t>
            </a:r>
          </a:p>
          <a:p>
            <a:pPr>
              <a:buNone/>
            </a:pPr>
            <a:endParaRPr lang="es-ES" sz="13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17)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/a{5}/</a:t>
            </a: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dirty="0" smtClean="0"/>
              <a:t>exactamente 5 letras "a" </a:t>
            </a:r>
            <a:br>
              <a:rPr lang="es-ES" dirty="0" smtClean="0"/>
            </a:b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80068"/>
          </a:xfrm>
        </p:spPr>
        <p:txBody>
          <a:bodyPr>
            <a:normAutofit/>
          </a:bodyPr>
          <a:lstStyle/>
          <a:p>
            <a:r>
              <a:rPr lang="es-ES" sz="3200" dirty="0" smtClean="0"/>
              <a:t>ejemplos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85860"/>
            <a:ext cx="7239000" cy="5169876"/>
          </a:xfrm>
        </p:spPr>
        <p:txBody>
          <a:bodyPr/>
          <a:lstStyle/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19) 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/of{2}ice/  </a:t>
            </a:r>
            <a:r>
              <a:rPr lang="es-ES" dirty="0" smtClean="0"/>
              <a:t>encuentra office</a:t>
            </a:r>
          </a:p>
          <a:p>
            <a:pPr>
              <a:buNone/>
            </a:pPr>
            <a:endParaRPr lang="es-ES" sz="8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20) </a:t>
            </a:r>
            <a:r>
              <a:rPr lang="es-AR" b="1" dirty="0" smtClean="0">
                <a:solidFill>
                  <a:schemeClr val="accent2">
                    <a:lumMod val="75000"/>
                  </a:schemeClr>
                </a:solidFill>
              </a:rPr>
              <a:t>/[a-z]{1,3}/</a:t>
            </a:r>
            <a:r>
              <a:rPr lang="es-AR" dirty="0" smtClean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s-AR" dirty="0" smtClean="0"/>
              <a:t>encuentra: mas, ala, lee, de, e, u, (todas las palabras que contengan entre 1 y 3 letras del abecedario en minúscula) </a:t>
            </a:r>
          </a:p>
          <a:p>
            <a:pPr>
              <a:buNone/>
            </a:pPr>
            <a:endParaRPr lang="es-AR" sz="800" dirty="0" smtClean="0"/>
          </a:p>
          <a:p>
            <a:pPr>
              <a:buNone/>
            </a:pPr>
            <a:r>
              <a:rPr lang="es-AR" dirty="0" smtClean="0">
                <a:solidFill>
                  <a:schemeClr val="accent2">
                    <a:lumMod val="75000"/>
                  </a:schemeClr>
                </a:solidFill>
              </a:rPr>
              <a:t>21) 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/(</a:t>
            </a:r>
            <a:r>
              <a:rPr lang="es-ES" b="1" dirty="0" err="1" smtClean="0">
                <a:solidFill>
                  <a:schemeClr val="accent2">
                    <a:lumMod val="75000"/>
                  </a:schemeClr>
                </a:solidFill>
              </a:rPr>
              <a:t>p|m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)adre/ </a:t>
            </a:r>
            <a:r>
              <a:rPr lang="es-ES" dirty="0" smtClean="0"/>
              <a:t>encuentra padre ó/y madre</a:t>
            </a:r>
          </a:p>
          <a:p>
            <a:pPr>
              <a:buNone/>
            </a:pPr>
            <a:endParaRPr lang="es-ES" sz="800" dirty="0" smtClean="0"/>
          </a:p>
          <a:p>
            <a:pPr>
              <a:buNone/>
            </a:pPr>
            <a:r>
              <a:rPr lang="es-ES" dirty="0" smtClean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2) /^\s*$/ </a:t>
            </a:r>
            <a:r>
              <a:rPr lang="es-ES" dirty="0" smtClean="0"/>
              <a:t>- Coincide con una línea en blanco.</a:t>
            </a:r>
          </a:p>
          <a:p>
            <a:pPr>
              <a:buNone/>
            </a:pPr>
            <a:endParaRPr lang="es-ES" sz="800" dirty="0" smtClean="0"/>
          </a:p>
          <a:p>
            <a:pPr>
              <a:buNone/>
            </a:pP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23) /\d{2}-\d{5}/ </a:t>
            </a:r>
            <a:r>
              <a:rPr lang="es-ES" dirty="0" smtClean="0"/>
              <a:t>- Valida un número de identificador que se compone de 2 dígitos, un guión y otros 5 dígitos.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680068"/>
          </a:xfrm>
        </p:spPr>
        <p:txBody>
          <a:bodyPr>
            <a:normAutofit/>
          </a:bodyPr>
          <a:lstStyle/>
          <a:p>
            <a:r>
              <a:rPr lang="es-ES" sz="3200" dirty="0" smtClean="0"/>
              <a:t>ejemplo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 smtClean="0">
                <a:solidFill>
                  <a:schemeClr val="accent2">
                    <a:lumMod val="75000"/>
                  </a:schemeClr>
                </a:solidFill>
              </a:rPr>
              <a:t>24) /[0-9] y [0-9]/</a:t>
            </a:r>
          </a:p>
          <a:p>
            <a:pPr>
              <a:buNone/>
            </a:pPr>
            <a:r>
              <a:rPr lang="es-ES" dirty="0" smtClean="0"/>
              <a:t>Que coincidirá con "2 y 8", "9 y 7", "2 y 0"... 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 smtClean="0"/>
              <a:t>pero no con "24 y 36“</a:t>
            </a:r>
          </a:p>
          <a:p>
            <a:pPr>
              <a:buNone/>
            </a:pPr>
            <a:r>
              <a:rPr lang="es-ES" dirty="0" smtClean="0"/>
              <a:t>si queremos que los encuentre tendríamos que definir un patrón como por ejemplo: </a:t>
            </a:r>
          </a:p>
          <a:p>
            <a:pPr>
              <a:buNone/>
            </a:pPr>
            <a:r>
              <a:rPr lang="es-ES" dirty="0" smtClean="0"/>
              <a:t>([0-9])+ y ([0-9])+ ).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37192"/>
          </a:xfrm>
        </p:spPr>
        <p:txBody>
          <a:bodyPr>
            <a:normAutofit/>
          </a:bodyPr>
          <a:lstStyle/>
          <a:p>
            <a:r>
              <a:rPr lang="es-ES" sz="3200" dirty="0" smtClean="0"/>
              <a:t>Ejemplo: </a:t>
            </a:r>
            <a:endParaRPr lang="es-ES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00108"/>
            <a:ext cx="7239000" cy="545562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ES" dirty="0" smtClean="0"/>
              <a:t>Escribir una expresión regular que valide un correo electrónico estándar. Este estará formado por un conjunto de caracteres de palabra y/o números, seguido de una arroba, seguido de otro conjunto de caracteres palabra y/ó números, seguido de un punto y una palabra de dos o tres letras. Algo como: fernando90@gmail.com   </a:t>
            </a:r>
            <a:r>
              <a:rPr lang="es-ES" dirty="0" err="1" smtClean="0"/>
              <a:t>ó</a:t>
            </a:r>
            <a:r>
              <a:rPr lang="es-ES" dirty="0" smtClean="0"/>
              <a:t> fernando86@hotmail.ar</a:t>
            </a:r>
          </a:p>
          <a:p>
            <a:pPr>
              <a:buNone/>
            </a:pPr>
            <a:r>
              <a:rPr lang="es-ES" dirty="0" smtClean="0"/>
              <a:t>Quedarían 3 grupos:  </a:t>
            </a:r>
            <a:r>
              <a:rPr lang="es-ES" dirty="0" err="1" smtClean="0"/>
              <a:t>antes@después.fin</a:t>
            </a:r>
            <a:endParaRPr lang="es-ES" dirty="0" smtClean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Una expresión regular que cumpla con esto podría ser: </a:t>
            </a:r>
            <a:r>
              <a:rPr lang="es-ES" sz="3100" b="1" dirty="0" smtClean="0"/>
              <a:t>\w+@\w+\.[A-</a:t>
            </a:r>
            <a:r>
              <a:rPr lang="es-ES" sz="3100" b="1" dirty="0" err="1" smtClean="0"/>
              <a:t>Za</a:t>
            </a:r>
            <a:r>
              <a:rPr lang="es-ES" sz="3100" b="1" dirty="0" smtClean="0"/>
              <a:t>-z]{2,3} </a:t>
            </a:r>
            <a:r>
              <a:rPr lang="es-ES" dirty="0" smtClean="0"/>
              <a:t>donde:</a:t>
            </a:r>
          </a:p>
          <a:p>
            <a:pPr lvl="0"/>
            <a:r>
              <a:rPr lang="es-ES" b="1" dirty="0" smtClean="0"/>
              <a:t>\w+</a:t>
            </a:r>
            <a:r>
              <a:rPr lang="es-ES" dirty="0" smtClean="0"/>
              <a:t> – una palabra de por lo menos un caracter de longitud.</a:t>
            </a:r>
          </a:p>
          <a:p>
            <a:pPr lvl="0"/>
            <a:r>
              <a:rPr lang="es-ES" b="1" dirty="0" smtClean="0"/>
              <a:t>@</a:t>
            </a:r>
            <a:r>
              <a:rPr lang="es-ES" dirty="0" smtClean="0"/>
              <a:t> – concuerda exactamente con la arroba.</a:t>
            </a:r>
          </a:p>
          <a:p>
            <a:pPr lvl="0"/>
            <a:r>
              <a:rPr lang="es-ES" b="1" dirty="0" smtClean="0"/>
              <a:t>\w+</a:t>
            </a:r>
            <a:r>
              <a:rPr lang="es-ES" dirty="0" smtClean="0"/>
              <a:t> – otra palabra de por lo menos un caracter de longitud.</a:t>
            </a:r>
          </a:p>
          <a:p>
            <a:pPr lvl="0"/>
            <a:r>
              <a:rPr lang="es-ES" b="1" dirty="0" smtClean="0"/>
              <a:t>\.</a:t>
            </a:r>
            <a:r>
              <a:rPr lang="es-ES" dirty="0" smtClean="0"/>
              <a:t> – el caracter punto (nota la diagonal invertida: tenemos que escapar el caracter).</a:t>
            </a:r>
          </a:p>
          <a:p>
            <a:pPr lvl="0"/>
            <a:r>
              <a:rPr lang="es-ES" b="1" dirty="0" smtClean="0"/>
              <a:t>[A-</a:t>
            </a:r>
            <a:r>
              <a:rPr lang="es-ES" b="1" dirty="0" err="1" smtClean="0"/>
              <a:t>Za</a:t>
            </a:r>
            <a:r>
              <a:rPr lang="es-ES" b="1" dirty="0" smtClean="0"/>
              <a:t>-z]{2,3}</a:t>
            </a:r>
            <a:r>
              <a:rPr lang="es-ES" dirty="0" smtClean="0"/>
              <a:t> – representa cualquier palabra de dos o tres caracteres con mayúsculas o minúsculas: por ejemplo, “com” o “</a:t>
            </a:r>
            <a:r>
              <a:rPr lang="es-ES" dirty="0" err="1" smtClean="0"/>
              <a:t>ar</a:t>
            </a:r>
            <a:r>
              <a:rPr lang="es-ES" dirty="0" smtClean="0"/>
              <a:t>”. 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537192"/>
          </a:xfrm>
        </p:spPr>
        <p:txBody>
          <a:bodyPr>
            <a:normAutofit fontScale="90000"/>
          </a:bodyPr>
          <a:lstStyle/>
          <a:p>
            <a:r>
              <a:rPr lang="es-ES" sz="1800" dirty="0" smtClean="0"/>
              <a:t>Algunos ejemplos de uso de expresiones regulares pueden ser:</a:t>
            </a:r>
            <a:r>
              <a:rPr lang="es-ES" sz="800" dirty="0" smtClean="0"/>
              <a:t/>
            </a:r>
            <a:br>
              <a:rPr lang="es-ES" sz="800" dirty="0" smtClean="0"/>
            </a:br>
            <a:endParaRPr lang="es-ES" sz="5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s-ES" dirty="0" smtClean="0"/>
              <a:t> para comprobar que la fecha leída cumple el patrón </a:t>
            </a:r>
            <a:r>
              <a:rPr lang="es-ES" dirty="0" err="1" smtClean="0"/>
              <a:t>dd</a:t>
            </a:r>
            <a:r>
              <a:rPr lang="es-ES" dirty="0" smtClean="0"/>
              <a:t>/mm/</a:t>
            </a:r>
            <a:r>
              <a:rPr lang="es-ES" dirty="0" err="1" smtClean="0"/>
              <a:t>aaaa</a:t>
            </a:r>
            <a:endParaRPr lang="es-ES" dirty="0" smtClean="0"/>
          </a:p>
          <a:p>
            <a:pPr lvl="0">
              <a:buNone/>
            </a:pPr>
            <a:endParaRPr lang="es-ES" sz="1600" dirty="0" smtClean="0"/>
          </a:p>
          <a:p>
            <a:pPr lvl="0"/>
            <a:r>
              <a:rPr lang="es-ES" dirty="0" smtClean="0"/>
              <a:t> para comprobar que un NIF está formado por 8 cifras, un guión y una letra</a:t>
            </a:r>
          </a:p>
          <a:p>
            <a:pPr lvl="0">
              <a:buNone/>
            </a:pPr>
            <a:endParaRPr lang="es-ES" sz="1600" dirty="0" smtClean="0"/>
          </a:p>
          <a:p>
            <a:pPr lvl="0"/>
            <a:r>
              <a:rPr lang="es-ES" dirty="0" smtClean="0"/>
              <a:t>para comprobar que una dirección de correo electrónico es una dirección válida.</a:t>
            </a:r>
          </a:p>
          <a:p>
            <a:pPr lvl="0">
              <a:buNone/>
            </a:pPr>
            <a:endParaRPr lang="es-ES" sz="1400" dirty="0" smtClean="0"/>
          </a:p>
          <a:p>
            <a:pPr lvl="0"/>
            <a:r>
              <a:rPr lang="es-ES" dirty="0" smtClean="0"/>
              <a:t> para comprobar que una contraseña cumple unas determinadas condiciones.</a:t>
            </a:r>
          </a:p>
          <a:p>
            <a:pPr lvl="0">
              <a:buNone/>
            </a:pPr>
            <a:endParaRPr lang="es-ES" sz="1400" dirty="0" smtClean="0"/>
          </a:p>
          <a:p>
            <a:pPr lvl="0"/>
            <a:r>
              <a:rPr lang="es-ES" dirty="0" smtClean="0"/>
              <a:t>Para comprobar que una URL es válida.</a:t>
            </a:r>
          </a:p>
          <a:p>
            <a:pPr lvl="0">
              <a:buNone/>
            </a:pPr>
            <a:endParaRPr lang="es-ES" sz="1400" dirty="0" smtClean="0"/>
          </a:p>
          <a:p>
            <a:pPr lvl="0"/>
            <a:r>
              <a:rPr lang="es-ES" dirty="0" smtClean="0"/>
              <a:t> Para comprobar cuántas veces se repite dentro de la cadena una secuencia de caracteres determinada.</a:t>
            </a:r>
          </a:p>
          <a:p>
            <a:pPr lvl="0">
              <a:buNone/>
            </a:pPr>
            <a:endParaRPr lang="es-ES" sz="1400" dirty="0" smtClean="0"/>
          </a:p>
          <a:p>
            <a:pPr lvl="0"/>
            <a:r>
              <a:rPr lang="es-ES" dirty="0" smtClean="0"/>
              <a:t>Etc. 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o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o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o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2709</TotalTime>
  <Words>1661</Words>
  <Application>Microsoft Office PowerPoint</Application>
  <PresentationFormat>Presentación en pantalla (4:3)</PresentationFormat>
  <Paragraphs>265</Paragraphs>
  <Slides>20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 Black</vt:lpstr>
      <vt:lpstr>Calibri</vt:lpstr>
      <vt:lpstr>Times New Roman</vt:lpstr>
      <vt:lpstr>Trebuchet MS</vt:lpstr>
      <vt:lpstr>Wingdings</vt:lpstr>
      <vt:lpstr>Wingdings 2</vt:lpstr>
      <vt:lpstr>Opulento</vt:lpstr>
      <vt:lpstr>.</vt:lpstr>
      <vt:lpstr>.</vt:lpstr>
      <vt:lpstr>.</vt:lpstr>
      <vt:lpstr>eeeeehhh!!!! ¿Qué es esto?</vt:lpstr>
      <vt:lpstr>Las expresiones regulares surgen por necesidad </vt:lpstr>
      <vt:lpstr>Expresiones regulares</vt:lpstr>
      <vt:lpstr>Construcción de expresiones regulares</vt:lpstr>
      <vt:lpstr>.  Sintaxis básica de una Expresión Regular </vt:lpstr>
      <vt:lpstr>CARACTERS COMODIN</vt:lpstr>
      <vt:lpstr>               ¿y si queremos representar el propio carácter en vez de su función?</vt:lpstr>
      <vt:lpstr>Caracteres modificadores  (Flags)</vt:lpstr>
      <vt:lpstr>METACARACTERES </vt:lpstr>
      <vt:lpstr>           METACARACTERES</vt:lpstr>
      <vt:lpstr>ejemplos</vt:lpstr>
      <vt:lpstr>ejemplos</vt:lpstr>
      <vt:lpstr>ejemplos</vt:lpstr>
      <vt:lpstr>ejemplos</vt:lpstr>
      <vt:lpstr>ejemplo</vt:lpstr>
      <vt:lpstr>Ejemplo: </vt:lpstr>
      <vt:lpstr>Algunos ejemplos de uso de expresiones regulares pueden ser: </vt:lpstr>
    </vt:vector>
  </TitlesOfParts>
  <Company>eXPerienciaUE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Alejandra</dc:creator>
  <cp:lastModifiedBy>Bangho</cp:lastModifiedBy>
  <cp:revision>160</cp:revision>
  <cp:lastPrinted>2024-06-05T11:29:12Z</cp:lastPrinted>
  <dcterms:created xsi:type="dcterms:W3CDTF">2014-06-05T09:03:27Z</dcterms:created>
  <dcterms:modified xsi:type="dcterms:W3CDTF">2024-06-06T00:56:58Z</dcterms:modified>
</cp:coreProperties>
</file>