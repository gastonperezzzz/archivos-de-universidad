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Lexend"/>
      <p:regular r:id="rId22"/>
      <p:bold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zApvn6Og6mj3nENrTAmfaN2iom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oport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exend-regular.fntdata"/><Relationship Id="rId21" Type="http://schemas.openxmlformats.org/officeDocument/2006/relationships/slide" Target="slides/slide15.xml"/><Relationship Id="rId24" Type="http://schemas.openxmlformats.org/officeDocument/2006/relationships/font" Target="fonts/CenturyGothic-regular.fntdata"/><Relationship Id="rId23" Type="http://schemas.openxmlformats.org/officeDocument/2006/relationships/font" Target="fonts/Lexe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8" Type="http://customschemas.google.com/relationships/presentationmetadata" Target="metadata"/><Relationship Id="rId27" Type="http://schemas.openxmlformats.org/officeDocument/2006/relationships/font" Target="fonts/CenturyGothic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3-08T22:27:53.454">
    <p:pos x="5472" y="585"/>
    <p:text/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n_bhQs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ba7fa8c48e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2ba7fa8c48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ba7fa8c48e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2ba7fa8c48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f213127fc7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1f213127f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1f213127fc7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f213127fc7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1f213127fc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1f213127fc7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f213127fc7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1f213127f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1f213127fc7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f213127fc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1f213127fc7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y objetos" type="txAndObj">
  <p:cSld name="TEXT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f213127fc7_0_191"/>
          <p:cNvSpPr txBox="1"/>
          <p:nvPr>
            <p:ph type="title"/>
          </p:nvPr>
        </p:nvSpPr>
        <p:spPr>
          <a:xfrm>
            <a:off x="457200" y="325438"/>
            <a:ext cx="8229600" cy="9270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FFFFFF"/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1f213127fc7_0_191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g1f213127fc7_0_191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g1f213127fc7_0_191"/>
          <p:cNvSpPr txBox="1"/>
          <p:nvPr>
            <p:ph idx="10" type="dt"/>
          </p:nvPr>
        </p:nvSpPr>
        <p:spPr>
          <a:xfrm>
            <a:off x="457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1f213127fc7_0_191"/>
          <p:cNvSpPr txBox="1"/>
          <p:nvPr>
            <p:ph idx="11" type="ftr"/>
          </p:nvPr>
        </p:nvSpPr>
        <p:spPr>
          <a:xfrm>
            <a:off x="3124200" y="6245225"/>
            <a:ext cx="2895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1f213127fc7_0_191"/>
          <p:cNvSpPr txBox="1"/>
          <p:nvPr>
            <p:ph idx="12" type="sldNum"/>
          </p:nvPr>
        </p:nvSpPr>
        <p:spPr>
          <a:xfrm>
            <a:off x="6553200" y="6245225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70877" l="0" r="0" t="0"/>
          <a:stretch/>
        </p:blipFill>
        <p:spPr>
          <a:xfrm>
            <a:off x="121603" y="-8248"/>
            <a:ext cx="8460432" cy="1915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81850"/>
          <a:stretch/>
        </p:blipFill>
        <p:spPr>
          <a:xfrm>
            <a:off x="583560" y="5085184"/>
            <a:ext cx="8438838" cy="177281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1" y="1764"/>
            <a:ext cx="121602" cy="6856235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48077" y="2660344"/>
            <a:ext cx="5792075" cy="104828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9022398" y="-1"/>
            <a:ext cx="164120" cy="6857999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124222" y="6127751"/>
            <a:ext cx="4696222" cy="728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rgbClr val="404040"/>
                </a:solidFill>
                <a:latin typeface="Cambria"/>
                <a:ea typeface="Cambria"/>
                <a:cs typeface="Cambria"/>
                <a:sym typeface="Cambria"/>
              </a:rPr>
              <a:t>ING. SANCHEZ ARROYO FERNANDO</a:t>
            </a:r>
            <a:endParaRPr b="0" i="0" sz="1400" u="none" cap="none" strike="noStrike">
              <a:solidFill>
                <a:srgbClr val="40404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rgbClr val="404040"/>
                </a:solidFill>
                <a:latin typeface="Cambria"/>
                <a:ea typeface="Cambria"/>
                <a:cs typeface="Cambria"/>
                <a:sym typeface="Cambria"/>
              </a:rPr>
              <a:t> </a:t>
            </a:r>
            <a:endParaRPr b="0" i="0" sz="1400" u="none" cap="none" strike="noStrike">
              <a:solidFill>
                <a:srgbClr val="40404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636650" y="1348729"/>
            <a:ext cx="5870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de Información II (ISI-LSI)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80093"/>
          <a:stretch/>
        </p:blipFill>
        <p:spPr>
          <a:xfrm flipH="1" rot="10800000">
            <a:off x="2965596" y="1580"/>
            <a:ext cx="6180089" cy="1051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69018" l="0" r="0" t="0"/>
          <a:stretch/>
        </p:blipFill>
        <p:spPr>
          <a:xfrm rot="10800000">
            <a:off x="2139574" y="5445354"/>
            <a:ext cx="6901080" cy="141759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1" y="1764"/>
            <a:ext cx="121602" cy="6856235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9022398" y="6717"/>
            <a:ext cx="121602" cy="6856235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2742517" y="2337433"/>
            <a:ext cx="5841239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 una metodología para el proceso de desarrollo de Software.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2756395" y="5027062"/>
            <a:ext cx="5481638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Utiliza el Lenguaje Unificado de Modelado </a:t>
            </a:r>
            <a:r>
              <a:rPr b="1" i="0" lang="es-E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UML</a:t>
            </a:r>
            <a:endParaRPr b="1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2293553" y="4960582"/>
            <a:ext cx="466299" cy="468199"/>
            <a:chOff x="3033" y="965"/>
            <a:chExt cx="493" cy="494"/>
          </a:xfrm>
        </p:grpSpPr>
        <p:sp>
          <p:nvSpPr>
            <p:cNvPr id="109" name="Google Shape;109;p2"/>
            <p:cNvSpPr/>
            <p:nvPr/>
          </p:nvSpPr>
          <p:spPr>
            <a:xfrm>
              <a:off x="3071" y="1006"/>
              <a:ext cx="416" cy="416"/>
            </a:xfrm>
            <a:prstGeom prst="ellipse">
              <a:avLst/>
            </a:prstGeom>
            <a:gradFill>
              <a:gsLst>
                <a:gs pos="0">
                  <a:srgbClr val="8A8A8A"/>
                </a:gs>
                <a:gs pos="50000">
                  <a:srgbClr val="FFFFFF"/>
                </a:gs>
                <a:gs pos="100000">
                  <a:srgbClr val="8A8A8A"/>
                </a:gs>
              </a:gsLst>
              <a:lin ang="1890000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rgbClr val="FFFFFF">
                  <a:alpha val="4941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" name="Google Shape;110;p2"/>
            <p:cNvGrpSpPr/>
            <p:nvPr/>
          </p:nvGrpSpPr>
          <p:grpSpPr>
            <a:xfrm rot="-2288454">
              <a:off x="3106" y="1034"/>
              <a:ext cx="347" cy="356"/>
              <a:chOff x="887" y="2040"/>
              <a:chExt cx="432" cy="422"/>
            </a:xfrm>
          </p:grpSpPr>
          <p:pic>
            <p:nvPicPr>
              <p:cNvPr descr="circuler_1" id="111" name="Google Shape;111;p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87" y="2040"/>
                <a:ext cx="430" cy="4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2" name="Google Shape;112;p2"/>
              <p:cNvSpPr/>
              <p:nvPr/>
            </p:nvSpPr>
            <p:spPr>
              <a:xfrm>
                <a:off x="887" y="2040"/>
                <a:ext cx="432" cy="422"/>
              </a:xfrm>
              <a:prstGeom prst="ellipse">
                <a:avLst/>
              </a:prstGeom>
              <a:gradFill>
                <a:gsLst>
                  <a:gs pos="0">
                    <a:srgbClr val="698634">
                      <a:alpha val="89411"/>
                    </a:srgbClr>
                  </a:gs>
                  <a:gs pos="50000">
                    <a:srgbClr val="AAD955">
                      <a:alpha val="74509"/>
                    </a:srgbClr>
                  </a:gs>
                  <a:gs pos="100000">
                    <a:srgbClr val="698634">
                      <a:alpha val="89411"/>
                    </a:srgbClr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Picture2" id="113" name="Google Shape;113;p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30" y="2044"/>
                <a:ext cx="345" cy="1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14" name="Google Shape;114;p2"/>
            <p:cNvPicPr preferRelativeResize="0"/>
            <p:nvPr/>
          </p:nvPicPr>
          <p:blipFill rotWithShape="1">
            <a:blip r:embed="rId6">
              <a:alphaModFix/>
            </a:blip>
            <a:srcRect b="12598" l="12015" r="12402" t="9302"/>
            <a:stretch/>
          </p:blipFill>
          <p:spPr>
            <a:xfrm>
              <a:off x="3098" y="1020"/>
              <a:ext cx="359" cy="3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2"/>
          <p:cNvGrpSpPr/>
          <p:nvPr/>
        </p:nvGrpSpPr>
        <p:grpSpPr>
          <a:xfrm>
            <a:off x="2310787" y="2290273"/>
            <a:ext cx="466299" cy="468199"/>
            <a:chOff x="2505" y="965"/>
            <a:chExt cx="493" cy="494"/>
          </a:xfrm>
        </p:grpSpPr>
        <p:sp>
          <p:nvSpPr>
            <p:cNvPr id="116" name="Google Shape;116;p2"/>
            <p:cNvSpPr/>
            <p:nvPr/>
          </p:nvSpPr>
          <p:spPr>
            <a:xfrm>
              <a:off x="2543" y="1006"/>
              <a:ext cx="416" cy="416"/>
            </a:xfrm>
            <a:prstGeom prst="ellipse">
              <a:avLst/>
            </a:prstGeom>
            <a:gradFill>
              <a:gsLst>
                <a:gs pos="0">
                  <a:srgbClr val="8A8A8A"/>
                </a:gs>
                <a:gs pos="50000">
                  <a:srgbClr val="FFFFFF"/>
                </a:gs>
                <a:gs pos="100000">
                  <a:srgbClr val="8A8A8A"/>
                </a:gs>
              </a:gsLst>
              <a:lin ang="1890000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rgbClr val="FFFFFF">
                  <a:alpha val="4941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" name="Google Shape;117;p2"/>
            <p:cNvGrpSpPr/>
            <p:nvPr/>
          </p:nvGrpSpPr>
          <p:grpSpPr>
            <a:xfrm rot="-2288454">
              <a:off x="2578" y="1034"/>
              <a:ext cx="347" cy="356"/>
              <a:chOff x="887" y="2040"/>
              <a:chExt cx="432" cy="422"/>
            </a:xfrm>
          </p:grpSpPr>
          <p:pic>
            <p:nvPicPr>
              <p:cNvPr descr="circuler_1" id="118" name="Google Shape;118;p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87" y="2040"/>
                <a:ext cx="430" cy="4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" name="Google Shape;119;p2"/>
              <p:cNvSpPr/>
              <p:nvPr/>
            </p:nvSpPr>
            <p:spPr>
              <a:xfrm>
                <a:off x="887" y="2040"/>
                <a:ext cx="432" cy="422"/>
              </a:xfrm>
              <a:prstGeom prst="ellipse">
                <a:avLst/>
              </a:prstGeom>
              <a:gradFill>
                <a:gsLst>
                  <a:gs pos="0">
                    <a:srgbClr val="345E80">
                      <a:alpha val="89411"/>
                    </a:srgbClr>
                  </a:gs>
                  <a:gs pos="50000">
                    <a:srgbClr val="5598CF">
                      <a:alpha val="74509"/>
                    </a:srgbClr>
                  </a:gs>
                  <a:gs pos="100000">
                    <a:srgbClr val="345E80">
                      <a:alpha val="89411"/>
                    </a:srgbClr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Picture2" id="120" name="Google Shape;120;p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30" y="2044"/>
                <a:ext cx="345" cy="1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1" name="Google Shape;121;p2"/>
            <p:cNvPicPr preferRelativeResize="0"/>
            <p:nvPr/>
          </p:nvPicPr>
          <p:blipFill rotWithShape="1">
            <a:blip r:embed="rId6">
              <a:alphaModFix/>
            </a:blip>
            <a:srcRect b="12598" l="12015" r="12402" t="9302"/>
            <a:stretch/>
          </p:blipFill>
          <p:spPr>
            <a:xfrm>
              <a:off x="2570" y="1020"/>
              <a:ext cx="359" cy="3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2"/>
          <p:cNvGrpSpPr/>
          <p:nvPr/>
        </p:nvGrpSpPr>
        <p:grpSpPr>
          <a:xfrm>
            <a:off x="2355060" y="3682436"/>
            <a:ext cx="466299" cy="468199"/>
            <a:chOff x="2505" y="965"/>
            <a:chExt cx="493" cy="494"/>
          </a:xfrm>
        </p:grpSpPr>
        <p:sp>
          <p:nvSpPr>
            <p:cNvPr id="123" name="Google Shape;123;p2"/>
            <p:cNvSpPr/>
            <p:nvPr/>
          </p:nvSpPr>
          <p:spPr>
            <a:xfrm>
              <a:off x="2543" y="1006"/>
              <a:ext cx="416" cy="416"/>
            </a:xfrm>
            <a:prstGeom prst="ellipse">
              <a:avLst/>
            </a:prstGeom>
            <a:gradFill>
              <a:gsLst>
                <a:gs pos="0">
                  <a:srgbClr val="8A8A8A"/>
                </a:gs>
                <a:gs pos="50000">
                  <a:srgbClr val="FFFFFF"/>
                </a:gs>
                <a:gs pos="100000">
                  <a:srgbClr val="8A8A8A"/>
                </a:gs>
              </a:gsLst>
              <a:lin ang="18900000" scaled="0"/>
            </a:gradFill>
            <a:ln cap="flat" cmpd="sng" w="9525">
              <a:solidFill>
                <a:srgbClr val="DDDDD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ctr" dir="2700000" dist="35921">
                <a:srgbClr val="FFFFFF">
                  <a:alpha val="4941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4" name="Google Shape;124;p2"/>
            <p:cNvGrpSpPr/>
            <p:nvPr/>
          </p:nvGrpSpPr>
          <p:grpSpPr>
            <a:xfrm rot="-2288454">
              <a:off x="2578" y="1034"/>
              <a:ext cx="347" cy="356"/>
              <a:chOff x="887" y="2040"/>
              <a:chExt cx="432" cy="422"/>
            </a:xfrm>
          </p:grpSpPr>
          <p:pic>
            <p:nvPicPr>
              <p:cNvPr descr="circuler_1" id="125" name="Google Shape;125;p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87" y="2040"/>
                <a:ext cx="430" cy="42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" name="Google Shape;126;p2"/>
              <p:cNvSpPr/>
              <p:nvPr/>
            </p:nvSpPr>
            <p:spPr>
              <a:xfrm>
                <a:off x="887" y="2040"/>
                <a:ext cx="432" cy="422"/>
              </a:xfrm>
              <a:prstGeom prst="ellipse">
                <a:avLst/>
              </a:prstGeom>
              <a:gradFill>
                <a:gsLst>
                  <a:gs pos="0">
                    <a:srgbClr val="345E80">
                      <a:alpha val="89411"/>
                    </a:srgbClr>
                  </a:gs>
                  <a:gs pos="50000">
                    <a:srgbClr val="5598CF">
                      <a:alpha val="74509"/>
                    </a:srgbClr>
                  </a:gs>
                  <a:gs pos="100000">
                    <a:srgbClr val="345E80">
                      <a:alpha val="89411"/>
                    </a:srgbClr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Picture2" id="127" name="Google Shape;127;p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30" y="2044"/>
                <a:ext cx="345" cy="14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28" name="Google Shape;128;p2"/>
            <p:cNvPicPr preferRelativeResize="0"/>
            <p:nvPr/>
          </p:nvPicPr>
          <p:blipFill rotWithShape="1">
            <a:blip r:embed="rId6">
              <a:alphaModFix/>
            </a:blip>
            <a:srcRect b="12598" l="12015" r="12402" t="9302"/>
            <a:stretch/>
          </p:blipFill>
          <p:spPr>
            <a:xfrm>
              <a:off x="2570" y="1020"/>
              <a:ext cx="359" cy="3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2"/>
          <p:cNvSpPr/>
          <p:nvPr/>
        </p:nvSpPr>
        <p:spPr>
          <a:xfrm>
            <a:off x="2939215" y="3470439"/>
            <a:ext cx="5682583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 objetivo es asegurar la producción de software de alta calidad para satisfacer las necesidades de los  usuarios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375067" y="91991"/>
            <a:ext cx="27708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¿QUÉ ES RUP?</a:t>
            </a:r>
            <a:endParaRPr b="1" i="0" sz="3200" u="none" cap="none" strike="noStrike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1" name="Google Shape;13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0806" y="2975489"/>
            <a:ext cx="1648768" cy="179250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"/>
          <p:cNvSpPr/>
          <p:nvPr/>
        </p:nvSpPr>
        <p:spPr>
          <a:xfrm>
            <a:off x="1504821" y="1193277"/>
            <a:ext cx="59736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Rational Unified Process o  Proceso Unificado de Racional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2ba7fa8c48e_0_8"/>
          <p:cNvPicPr preferRelativeResize="0"/>
          <p:nvPr/>
        </p:nvPicPr>
        <p:blipFill rotWithShape="1">
          <a:blip r:embed="rId3">
            <a:alphaModFix/>
          </a:blip>
          <a:srcRect b="70877" l="0" r="0" t="0"/>
          <a:stretch/>
        </p:blipFill>
        <p:spPr>
          <a:xfrm>
            <a:off x="121603" y="-8248"/>
            <a:ext cx="8460432" cy="191506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2ba7fa8c48e_0_8"/>
          <p:cNvSpPr txBox="1"/>
          <p:nvPr>
            <p:ph type="ctrTitle"/>
          </p:nvPr>
        </p:nvSpPr>
        <p:spPr>
          <a:xfrm>
            <a:off x="532400" y="650550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>
                <a:solidFill>
                  <a:srgbClr val="00B050"/>
                </a:solidFill>
              </a:rPr>
              <a:t>Características de RUP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139" name="Google Shape;139;g2ba7fa8c48e_0_8"/>
          <p:cNvSpPr txBox="1"/>
          <p:nvPr>
            <p:ph idx="1" type="subTitle"/>
          </p:nvPr>
        </p:nvSpPr>
        <p:spPr>
          <a:xfrm>
            <a:off x="1371600" y="2174700"/>
            <a:ext cx="6400800" cy="18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s-ES">
                <a:solidFill>
                  <a:srgbClr val="F1C232"/>
                </a:solidFill>
              </a:rPr>
              <a:t>dirigido por casos de uso</a:t>
            </a:r>
            <a:endParaRPr>
              <a:solidFill>
                <a:srgbClr val="F1C23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s-ES">
                <a:solidFill>
                  <a:srgbClr val="F1C232"/>
                </a:solidFill>
              </a:rPr>
              <a:t>centrado en la arquitectura</a:t>
            </a:r>
            <a:endParaRPr>
              <a:solidFill>
                <a:srgbClr val="F1C23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s-ES">
                <a:solidFill>
                  <a:srgbClr val="F1C232"/>
                </a:solidFill>
              </a:rPr>
              <a:t>iterativo e incremental</a:t>
            </a:r>
            <a:endParaRPr>
              <a:solidFill>
                <a:srgbClr val="F1C232"/>
              </a:solidFill>
            </a:endParaRPr>
          </a:p>
        </p:txBody>
      </p:sp>
      <p:pic>
        <p:nvPicPr>
          <p:cNvPr id="140" name="Google Shape;140;g2ba7fa8c48e_0_8"/>
          <p:cNvPicPr preferRelativeResize="0"/>
          <p:nvPr/>
        </p:nvPicPr>
        <p:blipFill rotWithShape="1">
          <a:blip r:embed="rId3">
            <a:alphaModFix/>
          </a:blip>
          <a:srcRect b="0" l="0" r="0" t="81850"/>
          <a:stretch/>
        </p:blipFill>
        <p:spPr>
          <a:xfrm>
            <a:off x="583560" y="5085184"/>
            <a:ext cx="8438838" cy="1772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457200" y="759656"/>
            <a:ext cx="8229600" cy="5366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9"/>
          <p:cNvPicPr preferRelativeResize="0"/>
          <p:nvPr/>
        </p:nvPicPr>
        <p:blipFill rotWithShape="1">
          <a:blip r:embed="rId4">
            <a:alphaModFix/>
          </a:blip>
          <a:srcRect b="22978" l="23801" r="29659" t="36978"/>
          <a:stretch/>
        </p:blipFill>
        <p:spPr>
          <a:xfrm>
            <a:off x="590843" y="2194560"/>
            <a:ext cx="8095957" cy="358726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/>
          <p:nvPr/>
        </p:nvSpPr>
        <p:spPr>
          <a:xfrm>
            <a:off x="590843" y="582229"/>
            <a:ext cx="491673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400" u="none" cap="none" strike="noStrike">
                <a:solidFill>
                  <a:srgbClr val="205867"/>
                </a:solidFill>
                <a:latin typeface="Arial"/>
                <a:ea typeface="Arial"/>
                <a:cs typeface="Arial"/>
                <a:sym typeface="Arial"/>
              </a:rPr>
              <a:t>Dirigido por CU</a:t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5845127" y="582229"/>
            <a:ext cx="2708030" cy="1697053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CU representan los requisitos funcionales del sistema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3"/>
          <p:cNvPicPr preferRelativeResize="0"/>
          <p:nvPr/>
        </p:nvPicPr>
        <p:blipFill rotWithShape="1">
          <a:blip r:embed="rId3">
            <a:alphaModFix/>
          </a:blip>
          <a:srcRect b="0" l="0" r="0" t="80093"/>
          <a:stretch/>
        </p:blipFill>
        <p:spPr>
          <a:xfrm flipH="1" rot="10800000">
            <a:off x="3125072" y="1580"/>
            <a:ext cx="6020613" cy="1156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"/>
          <p:cNvPicPr preferRelativeResize="0"/>
          <p:nvPr/>
        </p:nvPicPr>
        <p:blipFill rotWithShape="1">
          <a:blip r:embed="rId3">
            <a:alphaModFix/>
          </a:blip>
          <a:srcRect b="69018" l="0" r="0" t="0"/>
          <a:stretch/>
        </p:blipFill>
        <p:spPr>
          <a:xfrm flipH="1" rot="10800000">
            <a:off x="79971" y="5805263"/>
            <a:ext cx="6364237" cy="105115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"/>
          <p:cNvSpPr/>
          <p:nvPr/>
        </p:nvSpPr>
        <p:spPr>
          <a:xfrm>
            <a:off x="1" y="1764"/>
            <a:ext cx="121602" cy="6856235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9022398" y="6717"/>
            <a:ext cx="121602" cy="6856235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220560" y="86399"/>
            <a:ext cx="290451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3200" u="none" cap="none" strike="noStrike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FASES DE RUP:</a:t>
            </a:r>
            <a:endParaRPr b="1" i="0" sz="3200" u="none" cap="none" strike="noStrike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366276" y="1114006"/>
            <a:ext cx="3103768" cy="2246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del proyecto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Comprender el problema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y acordar el alcance del proyecto.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los riesgos asociados al proyecto.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Proponer una visión muy general de la arquitectura de software .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énfasis en modelado de negocios y requisitos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 flipH="1">
            <a:off x="2881195" y="1717294"/>
            <a:ext cx="1705855" cy="1682915"/>
          </a:xfrm>
          <a:prstGeom prst="rtTriangle">
            <a:avLst/>
          </a:prstGeom>
          <a:gradFill>
            <a:gsLst>
              <a:gs pos="0">
                <a:srgbClr val="F45E5E"/>
              </a:gs>
              <a:gs pos="100000">
                <a:srgbClr val="F8AAAA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4585695" y="1717295"/>
            <a:ext cx="1707488" cy="1682915"/>
          </a:xfrm>
          <a:prstGeom prst="rtTriangle">
            <a:avLst/>
          </a:prstGeom>
          <a:gradFill>
            <a:gsLst>
              <a:gs pos="0">
                <a:srgbClr val="8CD32D"/>
              </a:gs>
              <a:gs pos="100000">
                <a:srgbClr val="CAE8B4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 rot="5400000">
            <a:off x="4545657" y="3389545"/>
            <a:ext cx="1684527" cy="1705855"/>
          </a:xfrm>
          <a:prstGeom prst="rtTriangle">
            <a:avLst/>
          </a:prstGeom>
          <a:gradFill>
            <a:gsLst>
              <a:gs pos="0">
                <a:srgbClr val="FF9900"/>
              </a:gs>
              <a:gs pos="100000">
                <a:srgbClr val="FFCCAD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 flipH="1" rot="-5400000">
            <a:off x="2891859" y="3352972"/>
            <a:ext cx="1684528" cy="1705856"/>
          </a:xfrm>
          <a:prstGeom prst="rtTriangle">
            <a:avLst/>
          </a:prstGeom>
          <a:gradFill>
            <a:gsLst>
              <a:gs pos="0">
                <a:srgbClr val="5CB1FE"/>
              </a:gs>
              <a:gs pos="100000">
                <a:srgbClr val="B3D4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3"/>
          <p:cNvCxnSpPr/>
          <p:nvPr/>
        </p:nvCxnSpPr>
        <p:spPr>
          <a:xfrm>
            <a:off x="2240580" y="3363636"/>
            <a:ext cx="4491660" cy="0"/>
          </a:xfrm>
          <a:prstGeom prst="straightConnector1">
            <a:avLst/>
          </a:prstGeom>
          <a:noFill/>
          <a:ln cap="flat" cmpd="sng" w="9525">
            <a:solidFill>
              <a:srgbClr val="1C1C1C"/>
            </a:solidFill>
            <a:prstDash val="lgDash"/>
            <a:round/>
            <a:headEnd len="sm" w="sm" type="none"/>
            <a:tailEnd len="med" w="med" type="stealth"/>
          </a:ln>
        </p:spPr>
      </p:cxnSp>
      <p:sp>
        <p:nvSpPr>
          <p:cNvPr id="164" name="Google Shape;164;p3"/>
          <p:cNvSpPr/>
          <p:nvPr/>
        </p:nvSpPr>
        <p:spPr>
          <a:xfrm>
            <a:off x="3494988" y="2591092"/>
            <a:ext cx="103935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de  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4637391" y="2547528"/>
            <a:ext cx="147011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Elaboración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4566678" y="3329756"/>
            <a:ext cx="171954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Transición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3171487" y="3402518"/>
            <a:ext cx="136350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Construcción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5603016" y="924138"/>
            <a:ext cx="2997905" cy="1815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Analizar el dominio del problema</a:t>
            </a:r>
            <a:endParaRPr/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Seleccionar y desarrollar los casos de uso que permiten definir la arquitectura base del sistema. </a:t>
            </a:r>
            <a:endParaRPr b="0" i="0" sz="1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Realizar la especificación de los casos de uso seleccionados. </a:t>
            </a:r>
            <a:endParaRPr b="0" i="0" sz="1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Diseñar la solución preliminar.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198491" y="4213667"/>
            <a:ext cx="351356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el producto por medio de una serie de iteraciones.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prueba en profundidad.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5448721" y="4069073"/>
            <a:ext cx="363447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Traspasar el software desarrollado a los usuarios.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Capacitar a los usuarios y proveer el soporte técnico necesario.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s-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Verificar que el producto cumpla con las especificaciones.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3"/>
          <p:cNvCxnSpPr/>
          <p:nvPr/>
        </p:nvCxnSpPr>
        <p:spPr>
          <a:xfrm rot="5400000">
            <a:off x="2342325" y="3402518"/>
            <a:ext cx="4489450" cy="0"/>
          </a:xfrm>
          <a:prstGeom prst="straightConnector1">
            <a:avLst/>
          </a:prstGeom>
          <a:noFill/>
          <a:ln cap="flat" cmpd="sng" w="9525">
            <a:solidFill>
              <a:srgbClr val="1C1C1C"/>
            </a:solidFill>
            <a:prstDash val="lgDash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/>
              <a:t>RUP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710" y="1681162"/>
            <a:ext cx="8229600" cy="5008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81850"/>
          <a:stretch/>
        </p:blipFill>
        <p:spPr>
          <a:xfrm>
            <a:off x="583560" y="5085184"/>
            <a:ext cx="8438838" cy="1772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/>
          <p:cNvPicPr preferRelativeResize="0"/>
          <p:nvPr/>
        </p:nvPicPr>
        <p:blipFill rotWithShape="1">
          <a:blip r:embed="rId3">
            <a:alphaModFix/>
          </a:blip>
          <a:srcRect b="70877" l="0" r="0" t="0"/>
          <a:stretch/>
        </p:blipFill>
        <p:spPr>
          <a:xfrm>
            <a:off x="121603" y="-8248"/>
            <a:ext cx="8460432" cy="191506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>
            <p:ph type="title"/>
          </p:nvPr>
        </p:nvSpPr>
        <p:spPr>
          <a:xfrm>
            <a:off x="404818" y="-2078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ES"/>
              <a:t>Flujos de trabajo del proceso</a:t>
            </a:r>
            <a:endParaRPr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457200" y="1266092"/>
            <a:ext cx="8229600" cy="5317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4171"/>
              <a:buChar char="•"/>
            </a:pPr>
            <a:r>
              <a:rPr lang="es-ES" sz="3300"/>
              <a:t>1 </a:t>
            </a:r>
            <a:r>
              <a:rPr lang="es-ES" sz="3300">
                <a:solidFill>
                  <a:schemeClr val="dk2"/>
                </a:solidFill>
              </a:rPr>
              <a:t>Modelado de negocio</a:t>
            </a:r>
            <a:r>
              <a:rPr lang="es-ES" sz="3300"/>
              <a:t>: </a:t>
            </a:r>
            <a:r>
              <a:rPr i="1" lang="es-ES" sz="3300"/>
              <a:t>Estructura y dinámica de la organización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4171"/>
              <a:buChar char="•"/>
            </a:pPr>
            <a:r>
              <a:rPr lang="es-ES" sz="3300"/>
              <a:t>2 </a:t>
            </a:r>
            <a:r>
              <a:rPr lang="es-ES" sz="3300">
                <a:solidFill>
                  <a:schemeClr val="dk2"/>
                </a:solidFill>
              </a:rPr>
              <a:t>Requisitos:</a:t>
            </a:r>
            <a:r>
              <a:rPr lang="es-ES" sz="3300"/>
              <a:t> </a:t>
            </a:r>
            <a:r>
              <a:rPr i="1" lang="es-ES" sz="3300"/>
              <a:t>CU para extraer requisitos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4171"/>
              <a:buChar char="•"/>
            </a:pPr>
            <a:r>
              <a:rPr lang="es-ES" sz="3300"/>
              <a:t>3 </a:t>
            </a:r>
            <a:r>
              <a:rPr lang="es-ES" sz="3300">
                <a:solidFill>
                  <a:schemeClr val="dk2"/>
                </a:solidFill>
              </a:rPr>
              <a:t>Análisis y diseño: </a:t>
            </a:r>
            <a:r>
              <a:rPr i="1" lang="es-ES" sz="3300"/>
              <a:t>Diferentes vistas arquitectónicas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4171"/>
              <a:buChar char="•"/>
            </a:pPr>
            <a:r>
              <a:rPr lang="es-ES" sz="3300"/>
              <a:t>4 </a:t>
            </a:r>
            <a:r>
              <a:rPr lang="es-ES" sz="3300">
                <a:solidFill>
                  <a:schemeClr val="dk2"/>
                </a:solidFill>
              </a:rPr>
              <a:t>Implementación:</a:t>
            </a:r>
            <a:r>
              <a:rPr lang="es-ES" sz="3300"/>
              <a:t> </a:t>
            </a:r>
            <a:r>
              <a:rPr i="1" lang="es-ES" sz="3300"/>
              <a:t>Desarrollo y prueba del software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4171"/>
              <a:buChar char="•"/>
            </a:pPr>
            <a:r>
              <a:rPr lang="es-ES" sz="3300"/>
              <a:t>5 </a:t>
            </a:r>
            <a:r>
              <a:rPr lang="es-ES" sz="3300">
                <a:solidFill>
                  <a:schemeClr val="dk2"/>
                </a:solidFill>
              </a:rPr>
              <a:t>Pruebas:</a:t>
            </a:r>
            <a:r>
              <a:rPr lang="es-ES" sz="3300"/>
              <a:t> </a:t>
            </a:r>
            <a:r>
              <a:rPr i="1" lang="es-ES" sz="3300"/>
              <a:t>Casos de pruebas y métricas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4171"/>
              <a:buChar char="•"/>
            </a:pPr>
            <a:r>
              <a:rPr lang="es-ES" sz="3300"/>
              <a:t>6 </a:t>
            </a:r>
            <a:r>
              <a:rPr lang="es-ES" sz="3300">
                <a:solidFill>
                  <a:schemeClr val="dk2"/>
                </a:solidFill>
              </a:rPr>
              <a:t>Despliegue:</a:t>
            </a:r>
            <a:r>
              <a:rPr lang="es-ES" sz="3300"/>
              <a:t> </a:t>
            </a:r>
            <a:r>
              <a:rPr i="1" lang="es-ES" sz="3300"/>
              <a:t>Configuración del sistema entregable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4171"/>
              <a:buChar char="•"/>
            </a:pPr>
            <a:r>
              <a:rPr lang="es-ES" sz="3300"/>
              <a:t>7 </a:t>
            </a:r>
            <a:r>
              <a:rPr lang="es-ES" sz="3300">
                <a:solidFill>
                  <a:srgbClr val="D99593"/>
                </a:solidFill>
              </a:rPr>
              <a:t>Gestión de configuraciones: </a:t>
            </a:r>
            <a:r>
              <a:rPr i="1" lang="es-ES" sz="3300"/>
              <a:t>Controla los cambios y mantiene la integridad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4171"/>
              <a:buChar char="•"/>
            </a:pPr>
            <a:r>
              <a:rPr lang="es-ES" sz="3300"/>
              <a:t>8 </a:t>
            </a:r>
            <a:r>
              <a:rPr lang="es-ES" sz="3300">
                <a:solidFill>
                  <a:srgbClr val="D99593"/>
                </a:solidFill>
              </a:rPr>
              <a:t>Gestión del proyecto: </a:t>
            </a:r>
            <a:r>
              <a:rPr i="1" lang="es-ES" sz="3300"/>
              <a:t>Estrategia de trabajo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4171"/>
              <a:buChar char="•"/>
            </a:pPr>
            <a:r>
              <a:rPr lang="es-ES" sz="3300"/>
              <a:t>9 </a:t>
            </a:r>
            <a:r>
              <a:rPr lang="es-ES" sz="3300">
                <a:solidFill>
                  <a:srgbClr val="D99593"/>
                </a:solidFill>
              </a:rPr>
              <a:t>Entorno:</a:t>
            </a:r>
            <a:r>
              <a:rPr lang="es-ES" sz="3300"/>
              <a:t> </a:t>
            </a:r>
            <a:r>
              <a:rPr i="1" lang="es-ES" sz="3300"/>
              <a:t>Infraestructura necesaria para el proyecto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4"/>
          <p:cNvPicPr preferRelativeResize="0"/>
          <p:nvPr/>
        </p:nvPicPr>
        <p:blipFill rotWithShape="1">
          <a:blip r:embed="rId3">
            <a:alphaModFix/>
          </a:blip>
          <a:srcRect b="0" l="0" r="0" t="80093"/>
          <a:stretch/>
        </p:blipFill>
        <p:spPr>
          <a:xfrm flipH="1" rot="10800000">
            <a:off x="2699792" y="1580"/>
            <a:ext cx="6445894" cy="1339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4"/>
          <p:cNvPicPr preferRelativeResize="0"/>
          <p:nvPr/>
        </p:nvPicPr>
        <p:blipFill rotWithShape="1">
          <a:blip r:embed="rId3">
            <a:alphaModFix/>
          </a:blip>
          <a:srcRect b="69018" l="0" r="0" t="0"/>
          <a:stretch/>
        </p:blipFill>
        <p:spPr>
          <a:xfrm flipH="1" rot="10800000">
            <a:off x="121603" y="5013178"/>
            <a:ext cx="7308304" cy="184482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1" y="1764"/>
            <a:ext cx="121602" cy="6856235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9022398" y="6717"/>
            <a:ext cx="121602" cy="6856235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379416" y="128394"/>
            <a:ext cx="3632639" cy="783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s-ES" sz="4800" u="none" cap="none" strike="noStrike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OBJETO: </a:t>
            </a:r>
            <a:endParaRPr b="1" i="0" sz="4800" u="none" cap="none" strike="noStrike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1129553" y="1267964"/>
            <a:ext cx="4841118" cy="4323834"/>
          </a:xfrm>
          <a:prstGeom prst="diamond">
            <a:avLst/>
          </a:prstGeom>
          <a:gradFill>
            <a:gsLst>
              <a:gs pos="0">
                <a:srgbClr val="3070A5"/>
              </a:gs>
              <a:gs pos="80000">
                <a:srgbClr val="4094D9"/>
              </a:gs>
              <a:gs pos="100000">
                <a:srgbClr val="3D94DD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BBEAA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831175" y="963551"/>
            <a:ext cx="2819400" cy="2088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E5FFD9"/>
              </a:gs>
              <a:gs pos="35000">
                <a:srgbClr val="ECFFE3"/>
              </a:gs>
              <a:gs pos="100000">
                <a:srgbClr val="F7FFF3"/>
              </a:gs>
            </a:gsLst>
            <a:lin ang="16200000" scaled="0"/>
          </a:gradFill>
          <a:ln cap="flat" cmpd="sng" w="9525">
            <a:solidFill>
              <a:srgbClr val="AAD9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816763" y="1074343"/>
            <a:ext cx="2848200" cy="1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Es  una representación detallada y particular de algo de la realidad.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048750" y="845276"/>
            <a:ext cx="2819400" cy="2088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E5FFD9"/>
              </a:gs>
              <a:gs pos="35000">
                <a:srgbClr val="ECFFE3"/>
              </a:gs>
              <a:gs pos="100000">
                <a:srgbClr val="F7FFF3"/>
              </a:gs>
            </a:gsLst>
            <a:lin ang="16200038" scaled="0"/>
          </a:gradFill>
          <a:ln cap="flat" cmpd="sng" w="9525">
            <a:solidFill>
              <a:srgbClr val="AAD9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una instancia de una clase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673250" y="3503500"/>
            <a:ext cx="2819400" cy="2406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E5FFD9"/>
              </a:gs>
              <a:gs pos="35000">
                <a:srgbClr val="ECFFE3"/>
              </a:gs>
              <a:gs pos="100000">
                <a:srgbClr val="F7FFF3"/>
              </a:gs>
            </a:gsLst>
            <a:lin ang="16200038" scaled="0"/>
          </a:gradFill>
          <a:ln cap="flat" cmpd="sng" w="9525">
            <a:solidFill>
              <a:srgbClr val="AAD9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una extensión de un TAD (tipo abstracto de datos)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TAD: es un tipo definido por el usuario, que encapsula un conjunto de datos y las operaciones sobre estos datos.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5"/>
          <p:cNvPicPr preferRelativeResize="0"/>
          <p:nvPr/>
        </p:nvPicPr>
        <p:blipFill rotWithShape="1">
          <a:blip r:embed="rId3">
            <a:alphaModFix/>
          </a:blip>
          <a:srcRect b="0" l="0" r="0" t="80093"/>
          <a:stretch/>
        </p:blipFill>
        <p:spPr>
          <a:xfrm flipH="1" rot="10800000">
            <a:off x="2699792" y="1580"/>
            <a:ext cx="6445894" cy="133918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5"/>
          <p:cNvSpPr/>
          <p:nvPr/>
        </p:nvSpPr>
        <p:spPr>
          <a:xfrm>
            <a:off x="1" y="1764"/>
            <a:ext cx="121602" cy="6856235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9022398" y="6717"/>
            <a:ext cx="121602" cy="6856235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307225" y="191550"/>
            <a:ext cx="81210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OBJETO: entidad que tiene valores específicos de los atributos y las acciones</a:t>
            </a:r>
            <a:endParaRPr b="1" i="0" sz="3600" u="none" cap="none" strike="noStrike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B05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09" name="Google Shape;209;p5"/>
          <p:cNvGrpSpPr/>
          <p:nvPr/>
        </p:nvGrpSpPr>
        <p:grpSpPr>
          <a:xfrm>
            <a:off x="1891510" y="589598"/>
            <a:ext cx="7286491" cy="6064758"/>
            <a:chOff x="1857509" y="145001"/>
            <a:chExt cx="7286491" cy="6064758"/>
          </a:xfrm>
        </p:grpSpPr>
        <p:grpSp>
          <p:nvGrpSpPr>
            <p:cNvPr id="210" name="Google Shape;210;p5"/>
            <p:cNvGrpSpPr/>
            <p:nvPr/>
          </p:nvGrpSpPr>
          <p:grpSpPr>
            <a:xfrm>
              <a:off x="1857509" y="145001"/>
              <a:ext cx="7286491" cy="6064758"/>
              <a:chOff x="1875586" y="118720"/>
              <a:chExt cx="7286491" cy="6064758"/>
            </a:xfrm>
          </p:grpSpPr>
          <p:pic>
            <p:nvPicPr>
              <p:cNvPr id="211" name="Google Shape;211;p5"/>
              <p:cNvPicPr preferRelativeResize="0"/>
              <p:nvPr/>
            </p:nvPicPr>
            <p:blipFill rotWithShape="1">
              <a:blip r:embed="rId4">
                <a:alphaModFix/>
              </a:blip>
              <a:srcRect b="50000" l="34858" r="30283" t="0"/>
              <a:stretch/>
            </p:blipFill>
            <p:spPr>
              <a:xfrm>
                <a:off x="4942487" y="118720"/>
                <a:ext cx="987688" cy="36724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2" name="Google Shape;212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500530" y="3403600"/>
                <a:ext cx="1871601" cy="277987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http://mlm-s2-p.mlstatic.com/pantalla-de-proyeccion-klip-xtreme-72-color-blanco-mate-7379-MLM5211112189_102013-F.jpg" id="213" name="Google Shape;213;p5"/>
              <p:cNvPicPr preferRelativeResize="0"/>
              <p:nvPr/>
            </p:nvPicPr>
            <p:blipFill rotWithShape="1">
              <a:blip r:embed="rId6">
                <a:alphaModFix/>
              </a:blip>
              <a:srcRect b="13710" l="0" r="0" t="11990"/>
              <a:stretch/>
            </p:blipFill>
            <p:spPr>
              <a:xfrm>
                <a:off x="1875586" y="1314488"/>
                <a:ext cx="7286491" cy="3695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4" name="Google Shape;214;p5"/>
            <p:cNvSpPr/>
            <p:nvPr/>
          </p:nvSpPr>
          <p:spPr>
            <a:xfrm>
              <a:off x="2783625" y="1694501"/>
              <a:ext cx="4572000" cy="146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s-ES" sz="2000" u="sng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Todo objeto tiene </a:t>
              </a: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Identidad o nombre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Estado: </a:t>
              </a:r>
              <a:r>
                <a:rPr b="0" i="0" lang="es-ES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Agrupa los valores instantáneos de cada uno de los atributos del objeto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s-E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Comportamiento: </a:t>
              </a: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Acciones del objeto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http://image.slidesharecdn.com/conceptospooprogravisual-140328010900-phpapp02/95/conceptos-poo-progra-visual-8-1024.jpg?cb=1395987029" id="215" name="Google Shape;215;p5"/>
            <p:cNvPicPr preferRelativeResize="0"/>
            <p:nvPr/>
          </p:nvPicPr>
          <p:blipFill rotWithShape="1">
            <a:blip r:embed="rId7">
              <a:alphaModFix/>
            </a:blip>
            <a:srcRect b="6465" l="13495" r="4123" t="56619"/>
            <a:stretch/>
          </p:blipFill>
          <p:spPr>
            <a:xfrm>
              <a:off x="2940075" y="3248527"/>
              <a:ext cx="5329626" cy="14271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5"/>
          <p:cNvSpPr txBox="1"/>
          <p:nvPr/>
        </p:nvSpPr>
        <p:spPr>
          <a:xfrm>
            <a:off x="559475" y="6163175"/>
            <a:ext cx="816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Clase: colección de objetos similares</a:t>
            </a:r>
            <a:endParaRPr b="0" i="0" sz="32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g2ba7fa8c48e_0_2"/>
          <p:cNvPicPr preferRelativeResize="0"/>
          <p:nvPr/>
        </p:nvPicPr>
        <p:blipFill rotWithShape="1">
          <a:blip r:embed="rId3">
            <a:alphaModFix/>
          </a:blip>
          <a:srcRect b="0" l="0" r="0" t="80093"/>
          <a:stretch/>
        </p:blipFill>
        <p:spPr>
          <a:xfrm flipH="1" rot="10800000">
            <a:off x="2699792" y="1580"/>
            <a:ext cx="6445894" cy="133918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2ba7fa8c48e_0_2"/>
          <p:cNvSpPr txBox="1"/>
          <p:nvPr>
            <p:ph type="ctrTitle"/>
          </p:nvPr>
        </p:nvSpPr>
        <p:spPr>
          <a:xfrm>
            <a:off x="586525" y="3347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ES">
                <a:solidFill>
                  <a:srgbClr val="FF9900"/>
                </a:solidFill>
              </a:rPr>
              <a:t>Conceptos básicos de la orientación a objetos: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223" name="Google Shape;223;g2ba7fa8c48e_0_2"/>
          <p:cNvSpPr txBox="1"/>
          <p:nvPr>
            <p:ph idx="1" type="subTitle"/>
          </p:nvPr>
        </p:nvSpPr>
        <p:spPr>
          <a:xfrm>
            <a:off x="1371600" y="1994225"/>
            <a:ext cx="6400800" cy="3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i="1" lang="es-ES">
                <a:solidFill>
                  <a:srgbClr val="0000FF"/>
                </a:solidFill>
              </a:rPr>
              <a:t>Clase</a:t>
            </a:r>
            <a:endParaRPr i="1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i="1" lang="es-ES">
                <a:solidFill>
                  <a:srgbClr val="0000FF"/>
                </a:solidFill>
              </a:rPr>
              <a:t>Objeto</a:t>
            </a:r>
            <a:endParaRPr i="1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i="1" lang="es-ES">
                <a:solidFill>
                  <a:srgbClr val="0000FF"/>
                </a:solidFill>
              </a:rPr>
              <a:t>Atributo</a:t>
            </a:r>
            <a:endParaRPr i="1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i="1" lang="es-ES">
                <a:solidFill>
                  <a:srgbClr val="0000FF"/>
                </a:solidFill>
              </a:rPr>
              <a:t>Operaciones</a:t>
            </a:r>
            <a:endParaRPr i="1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i="1" lang="es-ES">
                <a:solidFill>
                  <a:srgbClr val="0000FF"/>
                </a:solidFill>
              </a:rPr>
              <a:t>Abstracción</a:t>
            </a:r>
            <a:endParaRPr i="1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i="1" lang="es-ES">
                <a:solidFill>
                  <a:srgbClr val="0000FF"/>
                </a:solidFill>
              </a:rPr>
              <a:t>Herencia</a:t>
            </a:r>
            <a:endParaRPr i="1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i="1" lang="es-ES">
                <a:solidFill>
                  <a:srgbClr val="0000FF"/>
                </a:solidFill>
              </a:rPr>
              <a:t>Polimorfismo</a:t>
            </a:r>
            <a:endParaRPr i="1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i="1" lang="es-ES">
                <a:solidFill>
                  <a:srgbClr val="0000FF"/>
                </a:solidFill>
              </a:rPr>
              <a:t>Encapsulamiento</a:t>
            </a:r>
            <a:endParaRPr i="1">
              <a:solidFill>
                <a:srgbClr val="0000FF"/>
              </a:solidFill>
            </a:endParaRPr>
          </a:p>
        </p:txBody>
      </p:sp>
      <p:pic>
        <p:nvPicPr>
          <p:cNvPr id="224" name="Google Shape;224;g2ba7fa8c48e_0_2"/>
          <p:cNvPicPr preferRelativeResize="0"/>
          <p:nvPr/>
        </p:nvPicPr>
        <p:blipFill rotWithShape="1">
          <a:blip r:embed="rId3">
            <a:alphaModFix/>
          </a:blip>
          <a:srcRect b="0" l="0" r="0" t="81850"/>
          <a:stretch/>
        </p:blipFill>
        <p:spPr>
          <a:xfrm>
            <a:off x="583560" y="5085184"/>
            <a:ext cx="8438838" cy="1772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f213127fc7_0_0"/>
          <p:cNvSpPr txBox="1"/>
          <p:nvPr>
            <p:ph type="title"/>
          </p:nvPr>
        </p:nvSpPr>
        <p:spPr>
          <a:xfrm>
            <a:off x="457200" y="325438"/>
            <a:ext cx="8229600" cy="9270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FFFFFF"/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>
                <a:solidFill>
                  <a:srgbClr val="345E80"/>
                </a:solidFill>
              </a:rPr>
              <a:t>Abstracción</a:t>
            </a:r>
            <a:endParaRPr>
              <a:solidFill>
                <a:srgbClr val="345E80"/>
              </a:solidFill>
            </a:endParaRPr>
          </a:p>
        </p:txBody>
      </p:sp>
      <p:sp>
        <p:nvSpPr>
          <p:cNvPr id="231" name="Google Shape;231;g1f213127fc7_0_0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3000"/>
              <a:t>Es un proceso mental por el que se evitan los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3000"/>
              <a:t>detalles para centrarse en las cosas más genéricas de manera que se facilite su comprensión.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2" name="Google Shape;232;g1f213127fc7_0_0"/>
          <p:cNvSpPr txBox="1"/>
          <p:nvPr>
            <p:ph idx="2" type="body"/>
          </p:nvPr>
        </p:nvSpPr>
        <p:spPr>
          <a:xfrm>
            <a:off x="4495800" y="472250"/>
            <a:ext cx="4038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41035"/>
              <a:buFont typeface="Arial"/>
              <a:buNone/>
            </a:pPr>
            <a:r>
              <a:rPr lang="es-ES" sz="2680">
                <a:solidFill>
                  <a:srgbClr val="674EA7"/>
                </a:solidFill>
              </a:rPr>
              <a:t>Un arquitecto no comenzará por diseñar los planos con máximo nivel de detalle, sino que comenzará a realzar ciertos esbozos en un papel para posteriormente ir refinando. Por supuesto que cuando está realizando los esbozos no se preocupa de por dónde van a ir las líneas eléctricas ni las tuberías de desagüe, abstrae esos detalles para atacarlos posteriormente cuando tenga clara la estructura del edificio</a:t>
            </a:r>
            <a:endParaRPr sz="3880">
              <a:solidFill>
                <a:srgbClr val="674EA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2580"/>
              <a:buNone/>
            </a:pPr>
            <a:r>
              <a:t/>
            </a:r>
            <a:endParaRPr/>
          </a:p>
        </p:txBody>
      </p:sp>
      <p:pic>
        <p:nvPicPr>
          <p:cNvPr id="233" name="Google Shape;233;g1f213127fc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760025"/>
            <a:ext cx="3684676" cy="2890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1f213127fc7_0_7"/>
          <p:cNvPicPr preferRelativeResize="0"/>
          <p:nvPr/>
        </p:nvPicPr>
        <p:blipFill rotWithShape="1">
          <a:blip r:embed="rId3">
            <a:alphaModFix/>
          </a:blip>
          <a:srcRect b="0" l="0" r="0" t="81850"/>
          <a:stretch/>
        </p:blipFill>
        <p:spPr>
          <a:xfrm>
            <a:off x="583560" y="5085184"/>
            <a:ext cx="8438838" cy="177281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1f213127fc7_0_7"/>
          <p:cNvSpPr txBox="1"/>
          <p:nvPr>
            <p:ph type="title"/>
          </p:nvPr>
        </p:nvSpPr>
        <p:spPr>
          <a:xfrm>
            <a:off x="457200" y="325438"/>
            <a:ext cx="8229600" cy="9270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FFFFFF"/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>
                <a:solidFill>
                  <a:srgbClr val="00B050"/>
                </a:solidFill>
              </a:rPr>
              <a:t>Herencia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241" name="Google Shape;241;g1f213127fc7_0_7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s-ES" sz="2700"/>
              <a:t>Objeto = instancia de una clase</a:t>
            </a:r>
            <a:endParaRPr sz="27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s-ES" sz="2700"/>
              <a:t>Objeto = tiene todas las características de la clase de donde proviene</a:t>
            </a:r>
            <a:endParaRPr sz="27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7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s-ES">
                <a:solidFill>
                  <a:srgbClr val="9900FF"/>
                </a:solidFill>
                <a:latin typeface="Lexend"/>
                <a:ea typeface="Lexend"/>
                <a:cs typeface="Lexend"/>
                <a:sym typeface="Lexend"/>
              </a:rPr>
              <a:t>Herencia</a:t>
            </a:r>
            <a:endParaRPr>
              <a:solidFill>
                <a:srgbClr val="99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g1f213127fc7_0_7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s-ES">
                <a:solidFill>
                  <a:srgbClr val="5CB1FE"/>
                </a:solidFill>
              </a:rPr>
              <a:t>Ejemplo</a:t>
            </a:r>
            <a:endParaRPr>
              <a:solidFill>
                <a:srgbClr val="5CB1FE"/>
              </a:solidFill>
            </a:endParaRPr>
          </a:p>
        </p:txBody>
      </p:sp>
      <p:sp>
        <p:nvSpPr>
          <p:cNvPr id="243" name="Google Shape;243;g1f213127fc7_0_7"/>
          <p:cNvSpPr/>
          <p:nvPr/>
        </p:nvSpPr>
        <p:spPr>
          <a:xfrm>
            <a:off x="2259900" y="3943350"/>
            <a:ext cx="433200" cy="866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g1f213127fc7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150" y="2227850"/>
            <a:ext cx="333375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f213127fc7_0_15"/>
          <p:cNvSpPr txBox="1"/>
          <p:nvPr>
            <p:ph type="title"/>
          </p:nvPr>
        </p:nvSpPr>
        <p:spPr>
          <a:xfrm>
            <a:off x="457200" y="297302"/>
            <a:ext cx="8229600" cy="9270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FFFFFF"/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>
                <a:solidFill>
                  <a:srgbClr val="EA9999"/>
                </a:solidFill>
              </a:rPr>
              <a:t>Polimorfismo</a:t>
            </a:r>
            <a:endParaRPr>
              <a:solidFill>
                <a:srgbClr val="EA9999"/>
              </a:solidFill>
            </a:endParaRPr>
          </a:p>
        </p:txBody>
      </p:sp>
      <p:sp>
        <p:nvSpPr>
          <p:cNvPr id="251" name="Google Shape;251;g1f213127fc7_0_1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700"/>
              <a:t>Dos métodos implementan distintas</a:t>
            </a:r>
            <a:endParaRPr sz="27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700"/>
              <a:t>acciones, aun teniendo el mismo nombre, dependiendo del objeto que lo ejecuta o de los</a:t>
            </a:r>
            <a:endParaRPr sz="27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700"/>
              <a:t>parámetros que recibe.</a:t>
            </a:r>
            <a:endParaRPr sz="27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2" name="Google Shape;252;g1f213127fc7_0_1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s-ES"/>
              <a:t>Ejmplo: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s-ES"/>
              <a:t>Se puede abrir una puerta, una ventana, un libro, en cada uno de estos casos realizará una operación diferente.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s-ES">
                <a:solidFill>
                  <a:srgbClr val="A64D79"/>
                </a:solidFill>
              </a:rPr>
              <a:t>Acelerar (auto): pisar el pedal del acelerador</a:t>
            </a:r>
            <a:endParaRPr>
              <a:solidFill>
                <a:srgbClr val="A64D7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t/>
            </a:r>
            <a:endParaRPr>
              <a:solidFill>
                <a:srgbClr val="A64D7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66176"/>
              <a:buNone/>
            </a:pPr>
            <a:r>
              <a:rPr lang="es-ES">
                <a:solidFill>
                  <a:srgbClr val="A64D79"/>
                </a:solidFill>
              </a:rPr>
              <a:t>Acelerar (moto): girar el mango del acelerador</a:t>
            </a:r>
            <a:endParaRPr>
              <a:solidFill>
                <a:srgbClr val="A64D7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f213127fc7_0_22"/>
          <p:cNvSpPr txBox="1"/>
          <p:nvPr>
            <p:ph type="title"/>
          </p:nvPr>
        </p:nvSpPr>
        <p:spPr>
          <a:xfrm>
            <a:off x="457200" y="325438"/>
            <a:ext cx="8229600" cy="92700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FFFFFF"/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>
                <a:solidFill>
                  <a:srgbClr val="00B050"/>
                </a:solidFill>
              </a:rPr>
              <a:t>ENCAPSULAMIENTO</a:t>
            </a:r>
            <a:endParaRPr>
              <a:solidFill>
                <a:srgbClr val="00B050"/>
              </a:solidFill>
            </a:endParaRPr>
          </a:p>
        </p:txBody>
      </p:sp>
      <p:sp>
        <p:nvSpPr>
          <p:cNvPr id="258" name="Google Shape;258;g1f213127fc7_0_22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/>
              <a:t>La encapsulación presenta doble ventaja, por un lado los datos encapsulados en los objetos se protegen de los accesos indebidos y por otra parte los usuarios dependen de la especificación de la abstracción. </a:t>
            </a:r>
            <a:endParaRPr sz="2400"/>
          </a:p>
        </p:txBody>
      </p:sp>
      <p:sp>
        <p:nvSpPr>
          <p:cNvPr id="259" name="Google Shape;259;g1f213127fc7_0_22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ES" sz="2400"/>
              <a:t>Los niveles de encapsulamiento son: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9000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BF9000"/>
                </a:solidFill>
              </a:rPr>
              <a:t>Público= visible los atributos para todas las clases. </a:t>
            </a:r>
            <a:endParaRPr sz="2400">
              <a:solidFill>
                <a:srgbClr val="BF9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9000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BF9000"/>
                </a:solidFill>
              </a:rPr>
              <a:t>Protegido= amigos y las clases derivadas de la clase proveedora. </a:t>
            </a:r>
            <a:endParaRPr>
              <a:solidFill>
                <a:srgbClr val="BF9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BF9000"/>
              </a:buClr>
              <a:buSzPts val="2400"/>
              <a:buFont typeface="Arial"/>
              <a:buChar char="•"/>
            </a:pPr>
            <a:r>
              <a:rPr lang="es-ES" sz="2400">
                <a:solidFill>
                  <a:srgbClr val="BF9000"/>
                </a:solidFill>
              </a:rPr>
              <a:t>Privado= Sólo los amigos acceden.</a:t>
            </a:r>
            <a:endParaRPr sz="2400">
              <a:solidFill>
                <a:srgbClr val="BF9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6"/>
          <p:cNvPicPr preferRelativeResize="0"/>
          <p:nvPr/>
        </p:nvPicPr>
        <p:blipFill rotWithShape="1">
          <a:blip r:embed="rId3">
            <a:alphaModFix/>
          </a:blip>
          <a:srcRect b="70877" l="0" r="0" t="0"/>
          <a:stretch/>
        </p:blipFill>
        <p:spPr>
          <a:xfrm>
            <a:off x="148077" y="1764"/>
            <a:ext cx="8460432" cy="1915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6"/>
          <p:cNvPicPr preferRelativeResize="0"/>
          <p:nvPr/>
        </p:nvPicPr>
        <p:blipFill rotWithShape="1">
          <a:blip r:embed="rId3">
            <a:alphaModFix/>
          </a:blip>
          <a:srcRect b="0" l="0" r="0" t="81850"/>
          <a:stretch/>
        </p:blipFill>
        <p:spPr>
          <a:xfrm>
            <a:off x="583560" y="5085184"/>
            <a:ext cx="8438838" cy="177281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6"/>
          <p:cNvSpPr/>
          <p:nvPr/>
        </p:nvSpPr>
        <p:spPr>
          <a:xfrm>
            <a:off x="1" y="1764"/>
            <a:ext cx="121602" cy="6856235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121603" y="1970653"/>
            <a:ext cx="6440147" cy="104828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 txBox="1"/>
          <p:nvPr/>
        </p:nvSpPr>
        <p:spPr>
          <a:xfrm rot="-705303">
            <a:off x="3431902" y="3928712"/>
            <a:ext cx="4903928" cy="1224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rgbClr val="00B050"/>
                </a:solidFill>
                <a:latin typeface="Cambria"/>
                <a:ea typeface="Cambria"/>
                <a:cs typeface="Cambria"/>
                <a:sym typeface="Cambria"/>
              </a:rPr>
              <a:t>GRACIAS!!!</a:t>
            </a:r>
            <a:endParaRPr b="0" i="0" sz="1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9022398" y="-1"/>
            <a:ext cx="164120" cy="6857999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4032084" y="1886975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2014-09-06T21:09:56Z</dcterms:created>
  <dc:creator>Sanchez Marin German</dc:creator>
</cp:coreProperties>
</file>