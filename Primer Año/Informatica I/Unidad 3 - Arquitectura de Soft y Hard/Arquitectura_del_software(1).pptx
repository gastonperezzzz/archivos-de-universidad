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13"/>
  </p:notesMasterIdLst>
  <p:sldIdLst>
    <p:sldId id="257" r:id="rId2"/>
    <p:sldId id="344" r:id="rId3"/>
    <p:sldId id="312" r:id="rId4"/>
    <p:sldId id="313" r:id="rId5"/>
    <p:sldId id="317" r:id="rId6"/>
    <p:sldId id="318" r:id="rId7"/>
    <p:sldId id="320" r:id="rId8"/>
    <p:sldId id="332" r:id="rId9"/>
    <p:sldId id="336" r:id="rId10"/>
    <p:sldId id="341" r:id="rId11"/>
    <p:sldId id="342" r:id="rId1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5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444175F-86AA-4ED0-B8E1-3F9D7E4B7AD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5F097E-E36C-407F-84F6-98EE9975CF50}" type="slidenum">
              <a:rPr lang="es-ES"/>
              <a:pPr/>
              <a:t>1</a:t>
            </a:fld>
            <a:endParaRPr lang="es-ES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53AC85-9674-417D-9E0B-44A41B050D89}" type="slidenum">
              <a:rPr lang="es-ES"/>
              <a:pPr/>
              <a:t>3</a:t>
            </a:fld>
            <a:endParaRPr lang="es-ES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47F1C7-BBC9-44F7-933A-B2CFB2B738E9}" type="slidenum">
              <a:rPr lang="es-ES"/>
              <a:pPr/>
              <a:t>4</a:t>
            </a:fld>
            <a:endParaRPr lang="es-ES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5912A0-F1D9-44CB-B808-59298028111F}" type="slidenum">
              <a:rPr lang="es-ES"/>
              <a:pPr/>
              <a:t>5</a:t>
            </a:fld>
            <a:endParaRPr lang="es-ES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096770-9233-4106-B3D5-94883C26DB4E}" type="slidenum">
              <a:rPr lang="es-ES"/>
              <a:pPr/>
              <a:t>6</a:t>
            </a:fld>
            <a:endParaRPr lang="es-ES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40FB91-8904-40EC-BB18-4BD5FCFAAFC1}" type="slidenum">
              <a:rPr lang="es-ES"/>
              <a:pPr/>
              <a:t>7</a:t>
            </a:fld>
            <a:endParaRPr lang="es-ES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CCA01D-4504-4B6F-8D05-3CFB8D5AF767}" type="slidenum">
              <a:rPr lang="es-ES"/>
              <a:pPr/>
              <a:t>8</a:t>
            </a:fld>
            <a:endParaRPr lang="es-ES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8FF6C4-6AAA-4D72-9A52-58CEA94D5596}" type="slidenum">
              <a:rPr lang="es-ES"/>
              <a:pPr/>
              <a:t>9</a:t>
            </a:fld>
            <a:endParaRPr lang="es-ES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22FAEE-EC28-448D-BE97-D7D99067E06D}" type="slidenum">
              <a:rPr lang="es-ES"/>
              <a:pPr/>
              <a:t>10</a:t>
            </a:fld>
            <a:endParaRPr lang="es-ES"/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112045-9D67-4AF5-9C87-47FE8D288FF8}" type="slidenum">
              <a:rPr lang="es-ES"/>
              <a:pPr/>
              <a:t>11</a:t>
            </a:fld>
            <a:endParaRPr lang="es-ES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s-ES" altLang="en-US"/>
              <a:t>Haga clic para cambiar el estilo de título	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s-ES" altLang="en-US"/>
              <a:t>Haga clic para modificar el estilo de subtítulo del patrón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EAC739-8E30-4B1E-8C63-FF77FCEDC1C6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B1C07-9DC0-4819-96A8-B887A78A2978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6FCB7-82FE-418F-892D-17E0632DA98A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A7CCE-2DB1-4A6D-B47E-CEB98F34E3C9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CC056-DC52-4445-9A1D-423EE9E036FA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66128-FEA0-414F-9EDC-BCAFD9BE3AD1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E085A-0D59-4CC5-884B-F36F8378E45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0263A-00F7-4D20-B632-254C9DA192D5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E4662-3766-4096-A7C6-D7E02E403190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35179-49D7-41D3-AE0B-1B35A49E78D0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598CA-2868-43AD-B826-D33F911C3B0D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cambiar el estilo de título	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texto del patrón</a:t>
            </a:r>
          </a:p>
          <a:p>
            <a:pPr lvl="1"/>
            <a:r>
              <a:rPr lang="es-ES" altLang="en-US" smtClean="0"/>
              <a:t>Segundo nivel</a:t>
            </a:r>
          </a:p>
          <a:p>
            <a:pPr lvl="2"/>
            <a:r>
              <a:rPr lang="es-ES" altLang="en-US" smtClean="0"/>
              <a:t>Tercer nivel</a:t>
            </a:r>
          </a:p>
          <a:p>
            <a:pPr lvl="3"/>
            <a:r>
              <a:rPr lang="es-ES" altLang="en-US" smtClean="0"/>
              <a:t>Cuarto nivel</a:t>
            </a:r>
          </a:p>
          <a:p>
            <a:pPr lvl="4"/>
            <a:r>
              <a:rPr lang="es-ES" altLang="en-US" smtClean="0"/>
              <a:t>Quinto nivel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0B526DAA-0A47-4527-B983-5DF50EE63138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45417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18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19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0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1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2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3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4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5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6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7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8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29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0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1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2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3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4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5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6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7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8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39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0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1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2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3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4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5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6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45447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990600"/>
            <a:ext cx="7694240" cy="1143000"/>
          </a:xfrm>
        </p:spPr>
        <p:txBody>
          <a:bodyPr/>
          <a:lstStyle/>
          <a:p>
            <a:pPr algn="ctr" eaLnBrk="1" hangingPunct="1"/>
            <a:r>
              <a:rPr lang="es-MX" sz="7800" dirty="0" smtClean="0"/>
              <a:t>UNLaR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50838" y="1268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ltGray">
          <a:xfrm>
            <a:off x="2987824" y="6165304"/>
            <a:ext cx="34813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MX" sz="2000">
                <a:latin typeface="Times New Roman" pitchFamily="18" charset="0"/>
              </a:rPr>
              <a:t>http://catedras.unlar.edu.ar</a:t>
            </a:r>
            <a:endParaRPr lang="es-ES" sz="2000">
              <a:latin typeface="Times New Roman" pitchFamily="18" charset="0"/>
            </a:endParaRPr>
          </a:p>
        </p:txBody>
      </p:sp>
      <p:pic>
        <p:nvPicPr>
          <p:cNvPr id="3078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2204864"/>
            <a:ext cx="3000945" cy="36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" smtClean="0"/>
              <a:t>¿Qué observamos aquí?</a:t>
            </a:r>
          </a:p>
        </p:txBody>
      </p:sp>
      <p:pic>
        <p:nvPicPr>
          <p:cNvPr id="13315" name="3 Marcador de contenido" descr="software_lib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1557338"/>
            <a:ext cx="9144000" cy="5292725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Software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sz="2600" smtClean="0"/>
              <a:t>Conjunto de instrucciones de programa de computador, que dirige la operación del hardware.</a:t>
            </a:r>
          </a:p>
          <a:p>
            <a:pPr eaLnBrk="1" hangingPunct="1"/>
            <a:r>
              <a:rPr lang="es-ES_tradnl" sz="2600" smtClean="0"/>
              <a:t>Llamaremos rutina, a un conjunto de instrucciones para realizar una tarea especifica.</a:t>
            </a:r>
          </a:p>
          <a:p>
            <a:pPr eaLnBrk="1" hangingPunct="1"/>
            <a:r>
              <a:rPr lang="es-ES_tradnl" sz="2600" smtClean="0"/>
              <a:t>Llamaremos programa, a un conjunto completo de instrucciones, para ejecutar un conjunto  de tareas relacionadas.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sz="4000" u="sng" smtClean="0"/>
              <a:t>Arquitectura del Software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979613" y="2636838"/>
            <a:ext cx="6707187" cy="3494087"/>
          </a:xfrm>
        </p:spPr>
        <p:txBody>
          <a:bodyPr/>
          <a:lstStyle/>
          <a:p>
            <a:pPr eaLnBrk="1" hangingPunct="1"/>
            <a:r>
              <a:rPr lang="es-ES_tradnl" smtClean="0"/>
              <a:t>Software de Base : SO (Windows)</a:t>
            </a:r>
          </a:p>
          <a:p>
            <a:pPr eaLnBrk="1" hangingPunct="1"/>
            <a:r>
              <a:rPr lang="es-ES_tradnl" smtClean="0"/>
              <a:t>Lenguajes de Programación</a:t>
            </a:r>
          </a:p>
          <a:p>
            <a:pPr eaLnBrk="1" hangingPunct="1"/>
            <a:r>
              <a:rPr lang="es-ES_tradnl" smtClean="0"/>
              <a:t>Software de Aplicación</a:t>
            </a:r>
          </a:p>
          <a:p>
            <a:pPr marL="344488" lvl="1" indent="0" eaLnBrk="1" hangingPunct="1">
              <a:buFont typeface="Wingdings" pitchFamily="2" charset="2"/>
              <a:buNone/>
            </a:pPr>
            <a:r>
              <a:rPr lang="es-ES_tradnl" sz="2200" smtClean="0"/>
              <a:t>Horizontales</a:t>
            </a:r>
          </a:p>
          <a:p>
            <a:pPr marL="344488" lvl="1" indent="0" eaLnBrk="1" hangingPunct="1">
              <a:buFont typeface="Wingdings" pitchFamily="2" charset="2"/>
              <a:buNone/>
            </a:pPr>
            <a:r>
              <a:rPr lang="es-ES_tradnl" sz="2200" smtClean="0"/>
              <a:t>	Paquetes integrados - Office</a:t>
            </a:r>
          </a:p>
          <a:p>
            <a:pPr marL="344488" lvl="1" indent="0" eaLnBrk="1" hangingPunct="1">
              <a:buFont typeface="Wingdings" pitchFamily="2" charset="2"/>
              <a:buNone/>
            </a:pPr>
            <a:r>
              <a:rPr lang="es-ES_tradnl" sz="2200" smtClean="0"/>
              <a:t>Verticales</a:t>
            </a:r>
          </a:p>
          <a:p>
            <a:pPr marL="344488" lvl="1" indent="0" eaLnBrk="1" hangingPunct="1">
              <a:buFont typeface="Wingdings" pitchFamily="2" charset="2"/>
              <a:buNone/>
            </a:pPr>
            <a:r>
              <a:rPr lang="es-ES_tradnl" sz="2200" smtClean="0"/>
              <a:t>	Contabilidad – Gestión Comercial</a:t>
            </a:r>
          </a:p>
          <a:p>
            <a:pPr marL="344488" lvl="1" indent="0" eaLnBrk="1" hangingPunct="1">
              <a:buFont typeface="Wingdings" pitchFamily="2" charset="2"/>
              <a:buNone/>
            </a:pPr>
            <a:r>
              <a:rPr lang="es-ES_tradnl" sz="2200" smtClean="0"/>
              <a:t>	Medicina, etc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1600200" y="16764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16002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1600200" y="4114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16002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 rot="-5400000">
            <a:off x="-89693" y="3769519"/>
            <a:ext cx="1858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s-MX" sz="2400" b="1">
                <a:latin typeface="Times New Roman" pitchFamily="18" charset="0"/>
              </a:rPr>
              <a:t>Clasificación</a:t>
            </a:r>
            <a:endParaRPr lang="es-ES" sz="24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7750" y="44450"/>
            <a:ext cx="7772400" cy="676275"/>
          </a:xfrm>
        </p:spPr>
        <p:txBody>
          <a:bodyPr/>
          <a:lstStyle/>
          <a:p>
            <a:pPr eaLnBrk="1" hangingPunct="1"/>
            <a:r>
              <a:rPr lang="es-ES_tradnl" sz="3500" smtClean="0"/>
              <a:t>Lenguajes de Programación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765175"/>
            <a:ext cx="7848600" cy="4967288"/>
          </a:xfrm>
        </p:spPr>
        <p:txBody>
          <a:bodyPr/>
          <a:lstStyle/>
          <a:p>
            <a:pPr eaLnBrk="1" hangingPunct="1"/>
            <a:r>
              <a:rPr lang="es-ES_tradnl" sz="2600" b="1" smtClean="0"/>
              <a:t>Son los llamados lenguajes artificiales o pseudolenguajes que se contrapone al lenguaje natural del Hombre.</a:t>
            </a:r>
          </a:p>
          <a:p>
            <a:pPr eaLnBrk="1" hangingPunct="1"/>
            <a:r>
              <a:rPr lang="es-ES_tradnl" sz="2600" b="1" smtClean="0"/>
              <a:t>Permiten especificar los datos a procesar y los procedimientos que debe realizar una computadora, mediante un sistema de notación formalizado.</a:t>
            </a:r>
          </a:p>
          <a:p>
            <a:pPr eaLnBrk="1" hangingPunct="1"/>
            <a:r>
              <a:rPr lang="es-ES_tradnl" sz="2600" b="1" smtClean="0"/>
              <a:t>Cada línea del programa posee un significado unívoco, preciso, no ambiguo.</a:t>
            </a:r>
          </a:p>
          <a:p>
            <a:pPr eaLnBrk="1" hangingPunct="1"/>
            <a:r>
              <a:rPr lang="es-ES_tradnl" sz="2600" b="1" smtClean="0"/>
              <a:t>Los lenguajes de programación dirigen el funcionamiento global de una máquina, originando una serie de procesos cooperantes, para alcanzar los resultados deseados.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22238"/>
            <a:ext cx="7543800" cy="928687"/>
          </a:xfrm>
        </p:spPr>
        <p:txBody>
          <a:bodyPr/>
          <a:lstStyle/>
          <a:p>
            <a:pPr eaLnBrk="1" hangingPunct="1"/>
            <a:r>
              <a:rPr lang="es-ES_tradnl" smtClean="0"/>
              <a:t>¿Qué es un programa?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268413"/>
            <a:ext cx="7772400" cy="5040312"/>
          </a:xfrm>
        </p:spPr>
        <p:txBody>
          <a:bodyPr/>
          <a:lstStyle/>
          <a:p>
            <a:pPr eaLnBrk="1" hangingPunct="1"/>
            <a:r>
              <a:rPr lang="es-ES_tradnl" sz="2600" b="1" smtClean="0"/>
              <a:t>Un programa general, se compone de una secuencia de frases escritas según las convenciones de un lenguaje artificial, que pueden ser:</a:t>
            </a:r>
          </a:p>
          <a:p>
            <a:pPr lvl="1" eaLnBrk="1" hangingPunct="1"/>
            <a:r>
              <a:rPr lang="es-ES_tradnl" sz="2200" b="1" smtClean="0"/>
              <a:t>Imperativas: ordenan acciones a ejecutar</a:t>
            </a:r>
          </a:p>
          <a:p>
            <a:pPr lvl="1" eaLnBrk="1" hangingPunct="1"/>
            <a:r>
              <a:rPr lang="es-ES_tradnl" sz="2200" b="1" smtClean="0"/>
              <a:t>Declarativas: expresan los elementos que se utilizaran</a:t>
            </a:r>
          </a:p>
          <a:p>
            <a:pPr eaLnBrk="1" hangingPunct="1"/>
            <a:r>
              <a:rPr lang="es-ES_tradnl" sz="2600" b="1" smtClean="0"/>
              <a:t>Anterior a la escritura de un programa se supone conocido un algoritmo que describe como serán los pasos necesarios para resolver el problema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381000"/>
            <a:ext cx="7554912" cy="3984625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3000" smtClean="0"/>
              <a:t>Un </a:t>
            </a:r>
            <a:r>
              <a:rPr lang="es-ES_tradnl" sz="3000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Lenguaje de Programación</a:t>
            </a:r>
            <a:r>
              <a:rPr lang="es-ES_tradnl" sz="3000" smtClean="0"/>
              <a:t> no es solo un sistema de notación formal para especificar algoritmos, sino que VIRTUALMENTE da lugar a una nueva maquina, que para el usuario es cualitativamente distinta a la real (sustentada por el hardware).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514600" y="5105400"/>
            <a:ext cx="61944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s-ES_tradnl" sz="2400">
                <a:latin typeface="Times New Roman" pitchFamily="18" charset="0"/>
              </a:rPr>
              <a:t>-Admitirá variables en vez de posiciones en MP</a:t>
            </a:r>
          </a:p>
          <a:p>
            <a:pPr eaLnBrk="0" hangingPunct="0"/>
            <a:r>
              <a:rPr lang="es-ES_tradnl" sz="2400">
                <a:latin typeface="Times New Roman" pitchFamily="18" charset="0"/>
              </a:rPr>
              <a:t>-Formulas algebraicas en vez de Op. Elementales</a:t>
            </a:r>
          </a:p>
          <a:p>
            <a:pPr eaLnBrk="0" hangingPunct="0"/>
            <a:r>
              <a:rPr lang="es-ES_tradnl" sz="2400">
                <a:latin typeface="Times New Roman" pitchFamily="18" charset="0"/>
              </a:rPr>
              <a:t>-Acceso transparente a los datos</a:t>
            </a:r>
          </a:p>
          <a:p>
            <a:pPr eaLnBrk="0" hangingPunct="0"/>
            <a:r>
              <a:rPr lang="es-ES_tradnl" sz="2400">
                <a:latin typeface="Times New Roman" pitchFamily="18" charset="0"/>
              </a:rPr>
              <a:t>-Etc</a:t>
            </a: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531813" y="4570413"/>
            <a:ext cx="914400" cy="1903412"/>
          </a:xfrm>
          <a:prstGeom prst="curvedRightArrow">
            <a:avLst>
              <a:gd name="adj1" fmla="val 41632"/>
              <a:gd name="adj2" fmla="val 83264"/>
              <a:gd name="adj3" fmla="val 33333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18437" name="AutoShape 5"/>
          <p:cNvSpPr>
            <a:spLocks/>
          </p:cNvSpPr>
          <p:nvPr/>
        </p:nvSpPr>
        <p:spPr bwMode="auto">
          <a:xfrm>
            <a:off x="2133600" y="4953000"/>
            <a:ext cx="76200" cy="1905000"/>
          </a:xfrm>
          <a:prstGeom prst="leftBracket">
            <a:avLst>
              <a:gd name="adj" fmla="val 2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Lenguajes de Programación – Ejemplos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_tradnl" sz="2600" smtClean="0"/>
              <a:t>Java</a:t>
            </a:r>
          </a:p>
          <a:p>
            <a:pPr eaLnBrk="1" hangingPunct="1"/>
            <a:r>
              <a:rPr lang="es-ES_tradnl" sz="2600" smtClean="0"/>
              <a:t>Fortran</a:t>
            </a:r>
          </a:p>
          <a:p>
            <a:pPr eaLnBrk="1" hangingPunct="1"/>
            <a:r>
              <a:rPr lang="es-ES_tradnl" sz="2600" smtClean="0"/>
              <a:t>Cobol</a:t>
            </a:r>
          </a:p>
          <a:p>
            <a:pPr eaLnBrk="1" hangingPunct="1"/>
            <a:r>
              <a:rPr lang="es-ES_tradnl" sz="2600" smtClean="0"/>
              <a:t>Lisp</a:t>
            </a:r>
          </a:p>
          <a:p>
            <a:pPr eaLnBrk="1" hangingPunct="1"/>
            <a:r>
              <a:rPr lang="es-ES_tradnl" sz="2600" smtClean="0"/>
              <a:t>Logo</a:t>
            </a:r>
          </a:p>
          <a:p>
            <a:pPr eaLnBrk="1" hangingPunct="1"/>
            <a:r>
              <a:rPr lang="es-ES_tradnl" sz="2600" smtClean="0"/>
              <a:t>Prolog</a:t>
            </a:r>
          </a:p>
          <a:p>
            <a:pPr eaLnBrk="1" hangingPunct="1"/>
            <a:r>
              <a:rPr lang="es-ES_tradnl" sz="2600" smtClean="0"/>
              <a:t>Clipper</a:t>
            </a:r>
          </a:p>
          <a:p>
            <a:pPr eaLnBrk="1" hangingPunct="1"/>
            <a:r>
              <a:rPr lang="es-ES_tradnl" sz="2600" smtClean="0"/>
              <a:t>Dbase xxx</a:t>
            </a:r>
          </a:p>
          <a:p>
            <a:pPr eaLnBrk="1" hangingPunct="1"/>
            <a:r>
              <a:rPr lang="es-ES_tradnl" sz="2600" smtClean="0"/>
              <a:t>C</a:t>
            </a:r>
          </a:p>
        </p:txBody>
      </p:sp>
      <p:sp>
        <p:nvSpPr>
          <p:cNvPr id="19460" name="WordArt 4"/>
          <p:cNvSpPr>
            <a:spLocks noChangeArrowheads="1" noChangeShapeType="1" noTextEdit="1"/>
          </p:cNvSpPr>
          <p:nvPr/>
        </p:nvSpPr>
        <p:spPr bwMode="auto">
          <a:xfrm>
            <a:off x="4114800" y="2819400"/>
            <a:ext cx="3152775" cy="11779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s-E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Times New Roman"/>
                <a:cs typeface="Times New Roman"/>
              </a:rPr>
              <a:t>Y muchos mas....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Lenguajes de propósitos Especiales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De Inteligencia Artificial</a:t>
            </a:r>
          </a:p>
          <a:p>
            <a:pPr lvl="1" eaLnBrk="1" hangingPunct="1"/>
            <a:r>
              <a:rPr lang="es-ES_tradnl" smtClean="0"/>
              <a:t>Lisp</a:t>
            </a:r>
          </a:p>
          <a:p>
            <a:pPr lvl="1" eaLnBrk="1" hangingPunct="1"/>
            <a:r>
              <a:rPr lang="es-ES_tradnl" smtClean="0"/>
              <a:t>Prolog</a:t>
            </a:r>
          </a:p>
          <a:p>
            <a:pPr eaLnBrk="1" hangingPunct="1"/>
            <a:r>
              <a:rPr lang="es-ES_tradnl" smtClean="0"/>
              <a:t>De Flujo de Datos</a:t>
            </a:r>
          </a:p>
          <a:p>
            <a:pPr lvl="1" eaLnBrk="1" hangingPunct="1"/>
            <a:r>
              <a:rPr lang="es-ES_tradnl" smtClean="0"/>
              <a:t>OCCAM: permiten designar en forma explícita los procesos que pueden realizarse en paralelo, cuando en una arquitectura de procesadores contamos con mas de 1.-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Bases de Datos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_tradnl" sz="2600" smtClean="0"/>
              <a:t>Gran masa de datos que se hallan relacionados entre si.</a:t>
            </a:r>
          </a:p>
          <a:p>
            <a:pPr eaLnBrk="1" hangingPunct="1">
              <a:lnSpc>
                <a:spcPct val="90000"/>
              </a:lnSpc>
            </a:pPr>
            <a:r>
              <a:rPr lang="es-ES_tradnl" sz="2600" smtClean="0"/>
              <a:t>Estructura:</a:t>
            </a:r>
          </a:p>
          <a:p>
            <a:pPr lvl="1" eaLnBrk="1" hangingPunct="1">
              <a:lnSpc>
                <a:spcPct val="90000"/>
              </a:lnSpc>
            </a:pPr>
            <a:r>
              <a:rPr lang="es-ES_tradnl" sz="2200" smtClean="0"/>
              <a:t>Registros</a:t>
            </a:r>
          </a:p>
          <a:p>
            <a:pPr lvl="1" eaLnBrk="1" hangingPunct="1">
              <a:lnSpc>
                <a:spcPct val="90000"/>
              </a:lnSpc>
            </a:pPr>
            <a:r>
              <a:rPr lang="es-ES_tradnl" sz="2200" smtClean="0"/>
              <a:t>Campos</a:t>
            </a:r>
          </a:p>
          <a:p>
            <a:pPr lvl="2" eaLnBrk="1" hangingPunct="1">
              <a:lnSpc>
                <a:spcPct val="90000"/>
              </a:lnSpc>
            </a:pPr>
            <a:r>
              <a:rPr lang="es-ES_tradnl" sz="2100" smtClean="0"/>
              <a:t>Identificados</a:t>
            </a:r>
          </a:p>
          <a:p>
            <a:pPr lvl="2" eaLnBrk="1" hangingPunct="1">
              <a:lnSpc>
                <a:spcPct val="90000"/>
              </a:lnSpc>
            </a:pPr>
            <a:r>
              <a:rPr lang="es-ES_tradnl" sz="2100" smtClean="0"/>
              <a:t>Nombre</a:t>
            </a:r>
          </a:p>
          <a:p>
            <a:pPr lvl="2" eaLnBrk="1" hangingPunct="1">
              <a:lnSpc>
                <a:spcPct val="90000"/>
              </a:lnSpc>
            </a:pPr>
            <a:r>
              <a:rPr lang="es-ES_tradnl" sz="2100" smtClean="0"/>
              <a:t>Tamaño</a:t>
            </a:r>
          </a:p>
          <a:p>
            <a:pPr lvl="2" eaLnBrk="1" hangingPunct="1">
              <a:lnSpc>
                <a:spcPct val="90000"/>
              </a:lnSpc>
            </a:pPr>
            <a:r>
              <a:rPr lang="es-ES_tradnl" sz="2100" smtClean="0"/>
              <a:t>Tipo</a:t>
            </a:r>
          </a:p>
          <a:p>
            <a:pPr eaLnBrk="1" hangingPunct="1">
              <a:lnSpc>
                <a:spcPct val="90000"/>
              </a:lnSpc>
            </a:pPr>
            <a:r>
              <a:rPr lang="es-ES_tradnl" sz="2600" smtClean="0"/>
              <a:t>Operaciones Típicas</a:t>
            </a:r>
          </a:p>
          <a:p>
            <a:pPr lvl="1" eaLnBrk="1" hangingPunct="1">
              <a:lnSpc>
                <a:spcPct val="90000"/>
              </a:lnSpc>
            </a:pPr>
            <a:r>
              <a:rPr lang="es-ES_tradnl" sz="2200" smtClean="0"/>
              <a:t>ABMCL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MX" sz="35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s-AR" smtClean="0"/>
          </a:p>
        </p:txBody>
      </p:sp>
      <p:sp>
        <p:nvSpPr>
          <p:cNvPr id="22532" name="WordArt 4"/>
          <p:cNvSpPr>
            <a:spLocks noChangeArrowheads="1" noChangeShapeType="1" noTextEdit="1"/>
          </p:cNvSpPr>
          <p:nvPr/>
        </p:nvSpPr>
        <p:spPr bwMode="auto">
          <a:xfrm>
            <a:off x="4067175" y="2420938"/>
            <a:ext cx="4286250" cy="34290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s-E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Preguntas?</a:t>
            </a:r>
          </a:p>
        </p:txBody>
      </p:sp>
      <p:pic>
        <p:nvPicPr>
          <p:cNvPr id="22533" name="6 Imagen" descr="emoticon alegr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8888" y="3213100"/>
            <a:ext cx="21526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d">
  <a:themeElements>
    <a:clrScheme name="Red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d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450</TotalTime>
  <Words>387</Words>
  <Application>Microsoft Office PowerPoint</Application>
  <PresentationFormat>Presentación en pantalla (4:3)</PresentationFormat>
  <Paragraphs>71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Wingdings</vt:lpstr>
      <vt:lpstr>Times New Roman</vt:lpstr>
      <vt:lpstr>Arial Narrow</vt:lpstr>
      <vt:lpstr>Red</vt:lpstr>
      <vt:lpstr>UNLaR</vt:lpstr>
      <vt:lpstr>¿Qué observamos aquí?</vt:lpstr>
      <vt:lpstr>Software</vt:lpstr>
      <vt:lpstr>Arquitectura del Software</vt:lpstr>
      <vt:lpstr>Lenguajes de Programación</vt:lpstr>
      <vt:lpstr>¿Qué es un programa?</vt:lpstr>
      <vt:lpstr>Un Lenguaje de Programación no es solo un sistema de notación formal para especificar algoritmos, sino que VIRTUALMENTE da lugar a una nueva maquina, que para el usuario es cualitativamente distinta a la real (sustentada por el hardware).</vt:lpstr>
      <vt:lpstr>Lenguajes de Programación – Ejemplos</vt:lpstr>
      <vt:lpstr>Lenguajes de propósitos Especiales</vt:lpstr>
      <vt:lpstr>Bases de Datos</vt:lpstr>
      <vt:lpstr>Diapositiva 11</vt:lpstr>
    </vt:vector>
  </TitlesOfParts>
  <Company>Estudio 3 SPI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UNLaR</dc:title>
  <dc:creator>Marcelo Martinez</dc:creator>
  <cp:lastModifiedBy>Valued Acer Customer</cp:lastModifiedBy>
  <cp:revision>27</cp:revision>
  <dcterms:created xsi:type="dcterms:W3CDTF">2002-04-26T13:31:10Z</dcterms:created>
  <dcterms:modified xsi:type="dcterms:W3CDTF">2011-04-26T22:09:02Z</dcterms:modified>
</cp:coreProperties>
</file>