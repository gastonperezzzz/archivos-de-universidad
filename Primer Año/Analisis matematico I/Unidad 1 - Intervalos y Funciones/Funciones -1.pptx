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5"/>
    <p:sldMasterId id="2147483661" r:id="rId6"/>
    <p:sldMasterId id="2147483662" r:id="rId7"/>
    <p:sldMasterId id="2147483663" r:id="rId8"/>
    <p:sldMasterId id="2147483664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7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9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11" Type="http://schemas.openxmlformats.org/officeDocument/2006/relationships/slide" Target="slides/slide1.xml"/><Relationship Id="rId33" Type="http://schemas.openxmlformats.org/officeDocument/2006/relationships/slide" Target="slides/slide23.xml"/><Relationship Id="rId10" Type="http://schemas.openxmlformats.org/officeDocument/2006/relationships/notesMaster" Target="notesMasters/notesMaster1.xml"/><Relationship Id="rId32" Type="http://schemas.openxmlformats.org/officeDocument/2006/relationships/slide" Target="slides/slide22.xml"/><Relationship Id="rId13" Type="http://schemas.openxmlformats.org/officeDocument/2006/relationships/slide" Target="slides/slide3.xml"/><Relationship Id="rId35" Type="http://schemas.openxmlformats.org/officeDocument/2006/relationships/slide" Target="slides/slide25.xml"/><Relationship Id="rId12" Type="http://schemas.openxmlformats.org/officeDocument/2006/relationships/slide" Target="slides/slide2.xml"/><Relationship Id="rId34" Type="http://schemas.openxmlformats.org/officeDocument/2006/relationships/slide" Target="slides/slide24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29064" y="3337560"/>
            <a:ext cx="6480000" cy="23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cap="none">
                <a:solidFill>
                  <a:srgbClr val="9FD4E6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33050" y="1544812"/>
            <a:ext cx="6480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45700" wrap="square" tIns="0">
            <a:normAutofit/>
          </a:bodyPr>
          <a:lstStyle>
            <a:lvl1pPr lvl="0" rtl="0" algn="r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2pPr>
            <a:lvl3pPr lvl="2" rtl="0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3pPr>
            <a:lvl4pPr lvl="3" rtl="0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4pPr>
            <a:lvl5pPr lvl="4" rt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rt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rt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rt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rt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9292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rtl="0" algn="l">
              <a:spcBef>
                <a:spcPts val="360"/>
              </a:spcBef>
              <a:spcAft>
                <a:spcPts val="0"/>
              </a:spcAft>
              <a:buSzPts val="1440"/>
              <a:buChar char="⦿"/>
              <a:defRPr/>
            </a:lvl1pPr>
            <a:lvl2pPr indent="-331469" lvl="1" marL="914400" rtl="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/>
            </a:lvl2pPr>
            <a:lvl3pPr indent="-325755" lvl="2" marL="1371600" rtl="0" algn="l">
              <a:spcBef>
                <a:spcPts val="360"/>
              </a:spcBef>
              <a:spcAft>
                <a:spcPts val="0"/>
              </a:spcAft>
              <a:buSzPts val="1530"/>
              <a:buChar char="○"/>
              <a:defRPr/>
            </a:lvl3pPr>
            <a:lvl4pPr indent="-331469" lvl="3" marL="1828800" rtl="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9292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rtl="0" algn="l">
              <a:spcBef>
                <a:spcPts val="360"/>
              </a:spcBef>
              <a:spcAft>
                <a:spcPts val="0"/>
              </a:spcAft>
              <a:buSzPts val="1440"/>
              <a:buChar char="⦿"/>
              <a:defRPr/>
            </a:lvl1pPr>
            <a:lvl2pPr indent="-331469" lvl="1" marL="914400" rtl="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/>
            </a:lvl2pPr>
            <a:lvl3pPr indent="-325755" lvl="2" marL="1371600" rtl="0" algn="l">
              <a:spcBef>
                <a:spcPts val="360"/>
              </a:spcBef>
              <a:spcAft>
                <a:spcPts val="0"/>
              </a:spcAft>
              <a:buSzPts val="1530"/>
              <a:buChar char="○"/>
              <a:defRPr/>
            </a:lvl3pPr>
            <a:lvl4pPr indent="-331469" lvl="3" marL="1828800" rtl="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9292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 rot="5400000">
            <a:off x="1927950" y="129450"/>
            <a:ext cx="4526100" cy="7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rtl="0" algn="l">
              <a:spcBef>
                <a:spcPts val="360"/>
              </a:spcBef>
              <a:spcAft>
                <a:spcPts val="0"/>
              </a:spcAft>
              <a:buSzPts val="1440"/>
              <a:buChar char="⦿"/>
              <a:defRPr/>
            </a:lvl1pPr>
            <a:lvl2pPr indent="-331469" lvl="1" marL="914400" rtl="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/>
            </a:lvl2pPr>
            <a:lvl3pPr indent="-325755" lvl="2" marL="1371600" rtl="0" algn="l">
              <a:spcBef>
                <a:spcPts val="360"/>
              </a:spcBef>
              <a:spcAft>
                <a:spcPts val="0"/>
              </a:spcAft>
              <a:buSzPts val="1530"/>
              <a:buChar char="○"/>
              <a:defRPr/>
            </a:lvl3pPr>
            <a:lvl4pPr indent="-331469" lvl="3" marL="1828800" rtl="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9292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9292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320"/>
            <a:ext cx="747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9292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457200" y="1600200"/>
            <a:ext cx="365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rtl="0" algn="l">
              <a:spcBef>
                <a:spcPts val="520"/>
              </a:spcBef>
              <a:spcAft>
                <a:spcPts val="0"/>
              </a:spcAft>
              <a:buSzPts val="2080"/>
              <a:buChar char="⦿"/>
              <a:defRPr sz="2600"/>
            </a:lvl1pPr>
            <a:lvl2pPr indent="-354330" lvl="1" marL="914400" rtl="0" algn="l">
              <a:spcBef>
                <a:spcPts val="440"/>
              </a:spcBef>
              <a:spcAft>
                <a:spcPts val="0"/>
              </a:spcAft>
              <a:buSzPts val="1980"/>
              <a:buChar char="⚫"/>
              <a:defRPr sz="2200"/>
            </a:lvl2pPr>
            <a:lvl3pPr indent="-336550" lvl="2" marL="1371600" rtl="0" algn="l">
              <a:spcBef>
                <a:spcPts val="400"/>
              </a:spcBef>
              <a:spcAft>
                <a:spcPts val="0"/>
              </a:spcAft>
              <a:buSzPts val="1700"/>
              <a:buChar char="○"/>
              <a:defRPr sz="2000"/>
            </a:lvl3pPr>
            <a:lvl4pPr indent="-331469" lvl="3" marL="1828800" rtl="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 sz="1800"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 sz="18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267200" y="1600200"/>
            <a:ext cx="365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rtl="0" algn="l">
              <a:spcBef>
                <a:spcPts val="520"/>
              </a:spcBef>
              <a:spcAft>
                <a:spcPts val="0"/>
              </a:spcAft>
              <a:buSzPts val="2080"/>
              <a:buChar char="⦿"/>
              <a:defRPr sz="2600"/>
            </a:lvl1pPr>
            <a:lvl2pPr indent="-354330" lvl="1" marL="914400" rtl="0" algn="l">
              <a:spcBef>
                <a:spcPts val="440"/>
              </a:spcBef>
              <a:spcAft>
                <a:spcPts val="0"/>
              </a:spcAft>
              <a:buSzPts val="1980"/>
              <a:buChar char="⚫"/>
              <a:defRPr sz="2200"/>
            </a:lvl2pPr>
            <a:lvl3pPr indent="-336550" lvl="2" marL="1371600" rtl="0" algn="l">
              <a:spcBef>
                <a:spcPts val="400"/>
              </a:spcBef>
              <a:spcAft>
                <a:spcPts val="0"/>
              </a:spcAft>
              <a:buSzPts val="1700"/>
              <a:buChar char="○"/>
              <a:defRPr sz="2000"/>
            </a:lvl3pPr>
            <a:lvl4pPr indent="-331469" lvl="3" marL="1828800" rtl="0" algn="l">
              <a:spcBef>
                <a:spcPts val="360"/>
              </a:spcBef>
              <a:spcAft>
                <a:spcPts val="0"/>
              </a:spcAft>
              <a:buSzPts val="1620"/>
              <a:buChar char="⚫"/>
              <a:defRPr sz="1800"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 sz="18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9292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685800" y="3583837"/>
            <a:ext cx="6629400" cy="1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9FD4E6"/>
              </a:buClr>
              <a:buSzPts val="4200"/>
              <a:buFont typeface="Libre Franklin"/>
              <a:buNone/>
              <a:defRPr b="1" sz="4200" cap="none">
                <a:solidFill>
                  <a:srgbClr val="9FD4E6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685800" y="2485800"/>
            <a:ext cx="6629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Autofit/>
          </a:bodyPr>
          <a:lstStyle>
            <a:lvl1pPr indent="-228600" lvl="0" marL="457200" rtl="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rtl="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 algn="l">
              <a:spcBef>
                <a:spcPts val="32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 algn="l">
              <a:spcBef>
                <a:spcPts val="28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9292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457200" y="5486400"/>
            <a:ext cx="4040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2" type="body"/>
          </p:nvPr>
        </p:nvSpPr>
        <p:spPr>
          <a:xfrm>
            <a:off x="4645025" y="5486400"/>
            <a:ext cx="4041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3" type="body"/>
          </p:nvPr>
        </p:nvSpPr>
        <p:spPr>
          <a:xfrm>
            <a:off x="457200" y="1516912"/>
            <a:ext cx="4040100" cy="3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rtl="0" algn="l">
              <a:spcBef>
                <a:spcPts val="480"/>
              </a:spcBef>
              <a:spcAft>
                <a:spcPts val="0"/>
              </a:spcAft>
              <a:buSzPts val="1920"/>
              <a:buChar char="⦿"/>
              <a:defRPr sz="2400"/>
            </a:lvl1pPr>
            <a:lvl2pPr indent="-342900" lvl="1" marL="914400" rtl="0" algn="l">
              <a:spcBef>
                <a:spcPts val="400"/>
              </a:spcBef>
              <a:spcAft>
                <a:spcPts val="0"/>
              </a:spcAft>
              <a:buSzPts val="1800"/>
              <a:buChar char="⚫"/>
              <a:defRPr sz="2000"/>
            </a:lvl2pPr>
            <a:lvl3pPr indent="-325755" lvl="2" marL="1371600" rtl="0" algn="l">
              <a:spcBef>
                <a:spcPts val="360"/>
              </a:spcBef>
              <a:spcAft>
                <a:spcPts val="0"/>
              </a:spcAft>
              <a:buSzPts val="1530"/>
              <a:buChar char="○"/>
              <a:defRPr sz="1800"/>
            </a:lvl3pPr>
            <a:lvl4pPr indent="-320039" lvl="3" marL="1828800" rtl="0" algn="l">
              <a:spcBef>
                <a:spcPts val="320"/>
              </a:spcBef>
              <a:spcAft>
                <a:spcPts val="0"/>
              </a:spcAft>
              <a:buSzPts val="1440"/>
              <a:buChar char="⚫"/>
              <a:defRPr sz="1600"/>
            </a:lvl4pPr>
            <a:lvl5pPr indent="-330200" lvl="4" marL="2286000" rtl="0" algn="l">
              <a:spcBef>
                <a:spcPts val="320"/>
              </a:spcBef>
              <a:spcAft>
                <a:spcPts val="0"/>
              </a:spcAft>
              <a:buSzPts val="1600"/>
              <a:buChar char="-"/>
              <a:defRPr sz="16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4" type="body"/>
          </p:nvPr>
        </p:nvSpPr>
        <p:spPr>
          <a:xfrm>
            <a:off x="4645025" y="1516912"/>
            <a:ext cx="4041900" cy="3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rtl="0" algn="l">
              <a:spcBef>
                <a:spcPts val="480"/>
              </a:spcBef>
              <a:spcAft>
                <a:spcPts val="0"/>
              </a:spcAft>
              <a:buSzPts val="1920"/>
              <a:buChar char="⦿"/>
              <a:defRPr sz="2400"/>
            </a:lvl1pPr>
            <a:lvl2pPr indent="-342900" lvl="1" marL="914400" rtl="0" algn="l">
              <a:spcBef>
                <a:spcPts val="400"/>
              </a:spcBef>
              <a:spcAft>
                <a:spcPts val="0"/>
              </a:spcAft>
              <a:buSzPts val="1800"/>
              <a:buChar char="⚫"/>
              <a:defRPr sz="2000"/>
            </a:lvl2pPr>
            <a:lvl3pPr indent="-325755" lvl="2" marL="1371600" rtl="0" algn="l">
              <a:spcBef>
                <a:spcPts val="360"/>
              </a:spcBef>
              <a:spcAft>
                <a:spcPts val="0"/>
              </a:spcAft>
              <a:buSzPts val="1530"/>
              <a:buChar char="○"/>
              <a:defRPr sz="1800"/>
            </a:lvl3pPr>
            <a:lvl4pPr indent="-320039" lvl="3" marL="1828800" rtl="0" algn="l">
              <a:spcBef>
                <a:spcPts val="320"/>
              </a:spcBef>
              <a:spcAft>
                <a:spcPts val="0"/>
              </a:spcAft>
              <a:buSzPts val="1440"/>
              <a:buChar char="⚫"/>
              <a:defRPr sz="1600"/>
            </a:lvl4pPr>
            <a:lvl5pPr indent="-330200" lvl="4" marL="2286000" rtl="0" algn="l">
              <a:spcBef>
                <a:spcPts val="320"/>
              </a:spcBef>
              <a:spcAft>
                <a:spcPts val="0"/>
              </a:spcAft>
              <a:buSzPts val="1600"/>
              <a:buChar char="-"/>
              <a:defRPr sz="16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9292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457200" y="1185528"/>
            <a:ext cx="32004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ibre Franklin"/>
              <a:buNone/>
              <a:defRPr b="1" sz="1800">
                <a:solidFill>
                  <a:schemeClr val="accen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457200" y="214424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457200" y="1981200"/>
            <a:ext cx="7086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rtl="0" algn="l">
              <a:spcBef>
                <a:spcPts val="560"/>
              </a:spcBef>
              <a:spcAft>
                <a:spcPts val="0"/>
              </a:spcAft>
              <a:buSzPts val="2240"/>
              <a:buChar char="⦿"/>
              <a:defRPr sz="2800"/>
            </a:lvl1pPr>
            <a:lvl2pPr indent="-365760" lvl="1" marL="914400" rtl="0" algn="l">
              <a:spcBef>
                <a:spcPts val="480"/>
              </a:spcBef>
              <a:spcAft>
                <a:spcPts val="0"/>
              </a:spcAft>
              <a:buSzPts val="2160"/>
              <a:buChar char="⚫"/>
              <a:defRPr sz="2400"/>
            </a:lvl2pPr>
            <a:lvl3pPr indent="-347344" lvl="2" marL="1371600" rtl="0" algn="l">
              <a:spcBef>
                <a:spcPts val="440"/>
              </a:spcBef>
              <a:spcAft>
                <a:spcPts val="0"/>
              </a:spcAft>
              <a:buSzPts val="1870"/>
              <a:buChar char="○"/>
              <a:defRPr sz="2200"/>
            </a:lvl3pPr>
            <a:lvl4pPr indent="-342900" lvl="3" marL="1828800" rtl="0" algn="l">
              <a:spcBef>
                <a:spcPts val="400"/>
              </a:spcBef>
              <a:spcAft>
                <a:spcPts val="0"/>
              </a:spcAft>
              <a:buSzPts val="1800"/>
              <a:buChar char="⚫"/>
              <a:defRPr sz="2000"/>
            </a:lvl4pPr>
            <a:lvl5pPr indent="-355600" lvl="4" marL="2286000" rtl="0" algn="l">
              <a:spcBef>
                <a:spcPts val="400"/>
              </a:spcBef>
              <a:spcAft>
                <a:spcPts val="0"/>
              </a:spcAft>
              <a:buSzPts val="2000"/>
              <a:buChar char="-"/>
              <a:defRPr sz="20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9292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8156575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5556732" y="1705709"/>
            <a:ext cx="30540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ibre Franklin"/>
              <a:buNone/>
              <a:defRPr b="1" sz="2200">
                <a:solidFill>
                  <a:schemeClr val="accen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/>
          <p:nvPr>
            <p:ph idx="2" type="pic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rgbClr val="9A9997"/>
          </a:solidFill>
          <a:ln cap="flat" cmpd="sng" w="508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52000" sx="-80000" rotWithShape="0" dir="5400000" dist="345000" sy="-18000">
              <a:srgbClr val="000000">
                <a:alpha val="24710"/>
              </a:srgbClr>
            </a:outerShdw>
          </a:effectLst>
        </p:spPr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5556734" y="2998765"/>
            <a:ext cx="3054000" cy="26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rtl="0" algn="l">
              <a:spcBef>
                <a:spcPts val="240"/>
              </a:spcBef>
              <a:spcAft>
                <a:spcPts val="0"/>
              </a:spcAft>
              <a:buSzPts val="960"/>
              <a:buFont typeface="Arial"/>
              <a:buNone/>
              <a:defRPr sz="12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SzPts val="1080"/>
              <a:buFont typeface="Arial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SzPts val="850"/>
              <a:buFont typeface="Arial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SzPts val="810"/>
              <a:buFont typeface="Arial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29292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2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751387"/>
            <a:ext cx="9144000" cy="2112962"/>
          </a:xfrm>
          <a:custGeom>
            <a:rect b="b" l="l" r="r" t="t"/>
            <a:pathLst>
              <a:path extrusionOk="0" h="1331" w="5760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dir="16200000" dist="44450">
              <a:srgbClr val="000000">
                <a:alpha val="349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6105525" y="0"/>
            <a:ext cx="3038475" cy="6858002"/>
          </a:xfrm>
          <a:custGeom>
            <a:rect b="b" l="l" r="r" t="t"/>
            <a:pathLst>
              <a:path extrusionOk="0" h="4329" w="1914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dir="10800000" dist="50800">
              <a:srgbClr val="000000">
                <a:alpha val="4471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8139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4751387"/>
            <a:ext cx="9144000" cy="2112962"/>
          </a:xfrm>
          <a:custGeom>
            <a:rect b="b" l="l" r="r" t="t"/>
            <a:pathLst>
              <a:path extrusionOk="0" h="1331" w="5760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dir="16200000" dist="44450">
              <a:srgbClr val="000000">
                <a:alpha val="349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0" y="0"/>
            <a:ext cx="1828798" cy="6858002"/>
          </a:xfrm>
          <a:custGeom>
            <a:rect b="b" l="l" r="r" t="t"/>
            <a:pathLst>
              <a:path extrusionOk="0" h="4329" w="1914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dir="10800000" dist="50800">
              <a:srgbClr val="000000">
                <a:alpha val="4471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8139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0" y="4751387"/>
            <a:ext cx="9144000" cy="2112962"/>
          </a:xfrm>
          <a:custGeom>
            <a:rect b="b" l="l" r="r" t="t"/>
            <a:pathLst>
              <a:path extrusionOk="0" h="1331" w="5760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dir="16200000" dist="44450">
              <a:srgbClr val="000000">
                <a:alpha val="349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0"/>
          <p:cNvSpPr/>
          <p:nvPr/>
        </p:nvSpPr>
        <p:spPr>
          <a:xfrm>
            <a:off x="6105525" y="0"/>
            <a:ext cx="3038475" cy="6858002"/>
          </a:xfrm>
          <a:custGeom>
            <a:rect b="b" l="l" r="r" t="t"/>
            <a:pathLst>
              <a:path extrusionOk="0" h="4329" w="1914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dir="10800000" dist="50800">
              <a:srgbClr val="000000">
                <a:alpha val="4471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8139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8139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4751387"/>
            <a:ext cx="9144000" cy="2112962"/>
          </a:xfrm>
          <a:custGeom>
            <a:rect b="b" l="l" r="r" t="t"/>
            <a:pathLst>
              <a:path extrusionOk="0" h="1331" w="5760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dir="16200000" dist="44450">
              <a:srgbClr val="000000">
                <a:alpha val="349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7315200" y="0"/>
            <a:ext cx="1828798" cy="6858002"/>
          </a:xfrm>
          <a:custGeom>
            <a:rect b="b" l="l" r="r" t="t"/>
            <a:pathLst>
              <a:path extrusionOk="0" h="4329" w="1914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dir="10800000" dist="50800">
              <a:srgbClr val="000000">
                <a:alpha val="4471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8139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4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14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8156575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8139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D89A4"/>
              </a:buClr>
              <a:buSzPts val="18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748560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10" type="dt"/>
          </p:nvPr>
        </p:nvSpPr>
        <p:spPr>
          <a:xfrm>
            <a:off x="457200" y="6421437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16"/>
          <p:cNvSpPr txBox="1"/>
          <p:nvPr>
            <p:ph idx="11" type="ftr"/>
          </p:nvPr>
        </p:nvSpPr>
        <p:spPr>
          <a:xfrm>
            <a:off x="3124200" y="6421437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8153400" y="6421437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000"/>
              <a:buFont typeface="Arial"/>
              <a:buNone/>
              <a:defRPr b="0" i="0" sz="10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vitutor.com/fun/2/c_2.html" TargetMode="External"/><Relationship Id="rId4" Type="http://schemas.openxmlformats.org/officeDocument/2006/relationships/hyperlink" Target="http://www.vitutor.com/fun/2/c_4.html" TargetMode="External"/><Relationship Id="rId10" Type="http://schemas.openxmlformats.org/officeDocument/2006/relationships/hyperlink" Target="http://www.vitutor.com/fun/2/c_5.html" TargetMode="External"/><Relationship Id="rId9" Type="http://schemas.openxmlformats.org/officeDocument/2006/relationships/hyperlink" Target="http://www.vitutor.com/fun/2/c_5.html" TargetMode="External"/><Relationship Id="rId5" Type="http://schemas.openxmlformats.org/officeDocument/2006/relationships/hyperlink" Target="http://www.vitutor.com/fun/2/c_4.html" TargetMode="External"/><Relationship Id="rId6" Type="http://schemas.openxmlformats.org/officeDocument/2006/relationships/hyperlink" Target="http://www.vitutor.com/fun/2/c_3.html" TargetMode="External"/><Relationship Id="rId7" Type="http://schemas.openxmlformats.org/officeDocument/2006/relationships/hyperlink" Target="http://fi" TargetMode="External"/><Relationship Id="rId8" Type="http://schemas.openxmlformats.org/officeDocument/2006/relationships/hyperlink" Target="http://www.vitutor.com/fun/2/c_5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vitutor.com/fun/2/c_2.html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vitutor.com/fun/2/c_4.html" TargetMode="External"/><Relationship Id="rId4" Type="http://schemas.openxmlformats.org/officeDocument/2006/relationships/hyperlink" Target="http://www.vitutor.com/fun/2/c_4.html" TargetMode="External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vitutor.com/fun/2/c_4.html" TargetMode="External"/><Relationship Id="rId4" Type="http://schemas.openxmlformats.org/officeDocument/2006/relationships/hyperlink" Target="http://www.vitutor.com/fun/2/c_3.html" TargetMode="External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vitutor.com/fun/2/c_4.html" TargetMode="External"/><Relationship Id="rId4" Type="http://schemas.openxmlformats.org/officeDocument/2006/relationships/hyperlink" Target="http://www.vitutor.com/fun/2/c_4.html" TargetMode="External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vitutor.com/fun/2/c_4.html" TargetMode="External"/><Relationship Id="rId4" Type="http://schemas.openxmlformats.org/officeDocument/2006/relationships/hyperlink" Target="http://www.vitutor.com/fun/2/c_5.html" TargetMode="External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www.vitutor.com/fun/2/c_4.html" TargetMode="External"/><Relationship Id="rId4" Type="http://schemas.openxmlformats.org/officeDocument/2006/relationships/hyperlink" Target="http://www.vitutor.com/fun/2/c_4.html" TargetMode="External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vitutor.com/fun/2/c_5.html" TargetMode="External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www.vitutor.com/fun/2/c_5.html" TargetMode="External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vitutor.com/fun/2/c_5.html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pe" TargetMode="External"/><Relationship Id="rId4" Type="http://schemas.openxmlformats.org/officeDocument/2006/relationships/hyperlink" Target="http://www.vitutor.com/fun/2/c_12.html" TargetMode="External"/><Relationship Id="rId9" Type="http://schemas.openxmlformats.org/officeDocument/2006/relationships/image" Target="../media/image19.png"/><Relationship Id="rId5" Type="http://schemas.openxmlformats.org/officeDocument/2006/relationships/hyperlink" Target="http://pe" TargetMode="External"/><Relationship Id="rId6" Type="http://schemas.openxmlformats.org/officeDocument/2006/relationships/hyperlink" Target="http://fm" TargetMode="External"/><Relationship Id="rId7" Type="http://schemas.openxmlformats.org/officeDocument/2006/relationships/hyperlink" Target="http://fm" TargetMode="External"/><Relationship Id="rId8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www.vitutor.com/fun/2/c_11.html" TargetMode="External"/><Relationship Id="rId4" Type="http://schemas.openxmlformats.org/officeDocument/2006/relationships/hyperlink" Target="http://www.vitutor.com/fun/2/c_12.html" TargetMode="External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vitutor.com/fun/2/c_12.html" TargetMode="External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www.vitutor.com/fun/2/c_11.html" TargetMode="External"/><Relationship Id="rId4" Type="http://schemas.openxmlformats.org/officeDocument/2006/relationships/hyperlink" Target="http://www.vitutor.com/fun/2/c_11.html" TargetMode="External"/><Relationship Id="rId5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vitutor.com/fun/2/c_11.html" TargetMode="External"/><Relationship Id="rId4" Type="http://schemas.openxmlformats.org/officeDocument/2006/relationships/hyperlink" Target="http://www.vitutor.com/fun/2/c_11.html" TargetMode="External"/><Relationship Id="rId5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www.vitutor.com/fun/2/c_11.html" TargetMode="External"/><Relationship Id="rId4" Type="http://schemas.openxmlformats.org/officeDocument/2006/relationships/hyperlink" Target="http://www.vitutor.com/fun/2/c_11.html" TargetMode="External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jpg"/><Relationship Id="rId4" Type="http://schemas.openxmlformats.org/officeDocument/2006/relationships/image" Target="../media/image3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universoformulas.com/matematicas/geometria/hiperbola/" TargetMode="External"/><Relationship Id="rId4" Type="http://schemas.openxmlformats.org/officeDocument/2006/relationships/image" Target="../media/image34.jpg"/><Relationship Id="rId5" Type="http://schemas.openxmlformats.org/officeDocument/2006/relationships/image" Target="../media/image3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jpg"/><Relationship Id="rId4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universoformulas.com/matematicas/analisis/asintotas-funcion/" TargetMode="External"/><Relationship Id="rId4" Type="http://schemas.openxmlformats.org/officeDocument/2006/relationships/image" Target="../media/image37.jpg"/><Relationship Id="rId5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4294967295" type="ctrTitle"/>
          </p:nvPr>
        </p:nvSpPr>
        <p:spPr>
          <a:xfrm>
            <a:off x="429064" y="3337560"/>
            <a:ext cx="6480000" cy="23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D4E6"/>
              </a:buClr>
              <a:buSzPts val="4600"/>
              <a:buFont typeface="Libre Franklin"/>
              <a:buNone/>
            </a:pPr>
            <a:r>
              <a:rPr b="1" i="0" lang="en-US" sz="4600" u="none" cap="none" strike="noStrike">
                <a:solidFill>
                  <a:srgbClr val="9FD4E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CLASIFICACIÓN DE FUNCIONES</a:t>
            </a:r>
            <a:br>
              <a:rPr b="1" i="0" lang="en-US" sz="4600" u="none" cap="none" strike="noStrike">
                <a:solidFill>
                  <a:srgbClr val="9FD4E6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 b="1" i="0" sz="4600" u="none" cap="none" strike="noStrike">
              <a:solidFill>
                <a:srgbClr val="9FD4E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3" name="Google Shape;123;p18"/>
          <p:cNvSpPr txBox="1"/>
          <p:nvPr>
            <p:ph idx="1" type="subTitle"/>
          </p:nvPr>
        </p:nvSpPr>
        <p:spPr>
          <a:xfrm>
            <a:off x="433387" y="1544637"/>
            <a:ext cx="64803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4570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</a:t>
            </a:r>
            <a:endParaRPr/>
          </a:p>
          <a:p>
            <a:pPr indent="0" lvl="0" marL="0" rtl="0" algn="r">
              <a:spcBef>
                <a:spcPts val="4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5786437" y="5357812"/>
            <a:ext cx="27624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Ing. Esp. Demalde Isabel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Lic. Prof. Lastra Mariana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Lic. Prof. Nieto Alejandro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Libre Franklin"/>
              <a:buNone/>
            </a:pPr>
            <a:r>
              <a:rPr b="1" i="0" lang="en-US" sz="41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Clasificación de funciones</a:t>
            </a:r>
            <a:br>
              <a:rPr b="1" i="0" lang="en-US" sz="41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928687" y="1357312"/>
            <a:ext cx="7215300" cy="4572000"/>
          </a:xfrm>
          <a:prstGeom prst="roundRect">
            <a:avLst>
              <a:gd fmla="val 16667" name="adj"/>
            </a:avLst>
          </a:prstGeom>
          <a:solidFill>
            <a:srgbClr val="000000">
              <a:alpha val="65490"/>
            </a:srgbClr>
          </a:solidFill>
          <a:ln cap="flat" cmpd="sng" w="19050">
            <a:solidFill>
              <a:srgbClr val="4F748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as2"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4437" y="1643062"/>
            <a:ext cx="6643687" cy="3817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"/>
              <a:buNone/>
            </a:pPr>
            <a:r>
              <a:rPr b="1" i="0" lang="en-US" sz="32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Funciones algebraicas</a:t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2587" lvl="0" marL="419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⦿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funciones algebraicas pueden ser:</a:t>
            </a:r>
            <a:endParaRPr/>
          </a:p>
          <a:p>
            <a:pPr indent="-273050" lvl="1" marL="722312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⚫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 explícitas</a:t>
            </a:r>
            <a:endParaRPr/>
          </a:p>
          <a:p>
            <a:pPr indent="-382587" lvl="0" marL="4191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Si se pueden obtener las imágenes de x por simple sustitución.</a:t>
            </a:r>
            <a:endParaRPr/>
          </a:p>
          <a:p>
            <a:pPr indent="-382587" lvl="0" marL="4191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f(x) = 5x − 2</a:t>
            </a:r>
            <a:endParaRPr/>
          </a:p>
          <a:p>
            <a:pPr indent="-273050" lvl="1" marL="722312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⚫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 implícitas</a:t>
            </a:r>
            <a:endParaRPr/>
          </a:p>
          <a:p>
            <a:pPr indent="-382587" lvl="0" marL="4191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Si no se pueden obtener las imágenes de x por simple sustitución, sino que es preciso efectuar operaciones.</a:t>
            </a:r>
            <a:endParaRPr/>
          </a:p>
          <a:p>
            <a:pPr indent="-382587" lvl="0" marL="4191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5x − y − 2 = 0</a:t>
            </a:r>
            <a:endParaRPr/>
          </a:p>
          <a:p>
            <a:pPr indent="-240347" lvl="0" marL="4191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457200" y="274637"/>
            <a:ext cx="74676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Libre Franklin"/>
              <a:buNone/>
            </a:pPr>
            <a:r>
              <a:rPr b="1" i="0" lang="en-US" sz="41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Funciones polinómicas </a:t>
            </a:r>
            <a:br>
              <a:rPr b="1" i="0" lang="en-US" sz="41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41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	</a:t>
            </a:r>
            <a:r>
              <a:rPr b="1" i="0" lang="en-US" sz="1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Son las funciones que vienen definidas por un polinomio.</a:t>
            </a:r>
            <a:br>
              <a:rPr b="0" i="0" lang="en-US" sz="1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US" sz="1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		f(x) = a</a:t>
            </a:r>
            <a:r>
              <a:rPr b="0" i="0" lang="en-US" sz="9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</a:t>
            </a:r>
            <a:r>
              <a:rPr b="0" i="0" lang="en-US" sz="1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+ a</a:t>
            </a:r>
            <a:r>
              <a:rPr b="0" i="0" lang="en-US" sz="10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r>
              <a:rPr b="0" i="0" lang="en-US" sz="1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x + a</a:t>
            </a:r>
            <a:r>
              <a:rPr b="0" i="0" lang="en-US" sz="9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r>
              <a:rPr b="0" i="0" lang="en-US" sz="1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x² + a</a:t>
            </a:r>
            <a:r>
              <a:rPr b="0" i="0" lang="en-US" sz="10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r>
              <a:rPr b="0" i="0" lang="en-US" sz="1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x³ +··· + a</a:t>
            </a:r>
            <a:r>
              <a:rPr b="0" i="0" lang="en-US" sz="11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</a:t>
            </a:r>
            <a:r>
              <a:rPr b="0" i="0" lang="en-US" sz="1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xn </a:t>
            </a:r>
            <a:br>
              <a:rPr b="0" i="0" lang="en-US" sz="1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US" sz="1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                 Su dominio es , es decir, cualquier número real tiene imagen.</a:t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457200" y="2428875"/>
            <a:ext cx="74676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2587" lvl="0" marL="419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⦿"/>
            </a:pPr>
            <a:r>
              <a:rPr b="1" i="0" lang="en-US" sz="2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Funciones constantes</a:t>
            </a:r>
            <a:endParaRPr/>
          </a:p>
          <a:p>
            <a:pPr indent="-382587" lvl="0" marL="4191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⦿"/>
            </a:pPr>
            <a:r>
              <a:rPr b="1" i="0" lang="en-US" sz="2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Funciones de 1º grado</a:t>
            </a:r>
            <a:endParaRPr/>
          </a:p>
          <a:p>
            <a:pPr indent="-273050" lvl="1" marL="722312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⚫"/>
            </a:pPr>
            <a:r>
              <a:rPr b="0" i="0" lang="en-US" sz="2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Función afín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.</a:t>
            </a:r>
            <a:endParaRPr/>
          </a:p>
          <a:p>
            <a:pPr indent="-273050" lvl="1" marL="722312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⚫"/>
            </a:pPr>
            <a:r>
              <a:rPr b="0" i="0" lang="en-US" sz="2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Función lineal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.</a:t>
            </a:r>
            <a:endParaRPr/>
          </a:p>
          <a:p>
            <a:pPr indent="-273050" lvl="1" marL="722312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Noto Sans Symbols"/>
              <a:buChar char="⚫"/>
            </a:pPr>
            <a:r>
              <a:rPr b="0" i="0" lang="en-US" sz="2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Función identidad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.</a:t>
            </a:r>
            <a:endParaRPr/>
          </a:p>
          <a:p>
            <a:pPr indent="-382587" lvl="0" marL="4191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⦿"/>
            </a:pPr>
            <a:r>
              <a:rPr b="1" i="0" lang="en-US" sz="2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Funciones cuadráticas</a:t>
            </a:r>
            <a:endParaRPr/>
          </a:p>
          <a:p>
            <a:pPr indent="-382587" lvl="0" marL="4191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⦿"/>
            </a:pPr>
            <a:r>
              <a:rPr b="1" i="0" lang="en-US" sz="2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Funciones cúbicas</a:t>
            </a:r>
            <a:endParaRPr/>
          </a:p>
          <a:p>
            <a:pPr indent="-382587" lvl="0" marL="4191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⦿"/>
            </a:pPr>
            <a:r>
              <a:rPr b="1" i="0" lang="en-US" sz="2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Etc. </a:t>
            </a:r>
            <a:endParaRPr/>
          </a:p>
          <a:p>
            <a:pPr indent="-240347" lvl="0" marL="4191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347" lvl="0" marL="41910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Libre Franklin"/>
              <a:buNone/>
            </a:pPr>
            <a:r>
              <a:rPr b="1" i="0" lang="en-US" sz="4600" u="sng">
                <a:solidFill>
                  <a:schemeClr val="hlink"/>
                </a:solidFill>
                <a:hlinkClick r:id="rId3"/>
              </a:rPr>
              <a:t>Funciones constantes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457200" y="1357312"/>
            <a:ext cx="7467600" cy="47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constante: 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k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Su gráfica es una recta horizantal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3			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 y = -5</a:t>
            </a:r>
            <a:endParaRPr/>
          </a:p>
          <a:p>
            <a:pPr indent="-230187" lvl="0" marL="4191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937" y="3286125"/>
            <a:ext cx="28575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0" y="3286125"/>
            <a:ext cx="284797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/>
          <p:nvPr/>
        </p:nvSpPr>
        <p:spPr>
          <a:xfrm>
            <a:off x="3000375" y="3143250"/>
            <a:ext cx="3643200" cy="264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9050">
            <a:solidFill>
              <a:srgbClr val="4F748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3"/>
          <p:cNvSpPr txBox="1"/>
          <p:nvPr>
            <p:ph type="title"/>
          </p:nvPr>
        </p:nvSpPr>
        <p:spPr>
          <a:xfrm>
            <a:off x="457200" y="274637"/>
            <a:ext cx="74676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Franklin"/>
              <a:buNone/>
            </a:pPr>
            <a:r>
              <a:rPr b="1" i="0" lang="en-US" sz="2000" u="sng">
                <a:solidFill>
                  <a:schemeClr val="hlink"/>
                </a:solidFill>
                <a:hlinkClick r:id="rId3"/>
              </a:rPr>
              <a:t>Funciones de 1º grado</a:t>
            </a:r>
            <a:br>
              <a:rPr b="1" i="0" lang="en-US" sz="2000" u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b="0" i="0" lang="en-US" sz="4600" u="sng">
                <a:solidFill>
                  <a:schemeClr val="hlink"/>
                </a:solidFill>
                <a:hlinkClick r:id="rId4"/>
              </a:rPr>
              <a:t>Función afín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457200" y="1600200"/>
            <a:ext cx="7972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del tipo:      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mx + n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la </a:t>
            </a: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pendiente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recta.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la ordenada en el origen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nos indica el punto de corte de la recta con el eje de ordenadas.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2x - 1 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t/>
            </a:r>
            <a:endParaRPr b="1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		y = 2x-1 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		-1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	1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7" lvl="0" marL="4191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23"/>
          <p:cNvCxnSpPr/>
          <p:nvPr/>
        </p:nvCxnSpPr>
        <p:spPr>
          <a:xfrm rot="5400000">
            <a:off x="499312" y="4501400"/>
            <a:ext cx="11430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0" name="Google Shape;160;p23"/>
          <p:cNvCxnSpPr/>
          <p:nvPr/>
        </p:nvCxnSpPr>
        <p:spPr>
          <a:xfrm>
            <a:off x="428625" y="4214812"/>
            <a:ext cx="17859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descr="35" id="161" name="Google Shape;16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9425" y="3214687"/>
            <a:ext cx="3624262" cy="2500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ibre Franklin"/>
              <a:buNone/>
            </a:pPr>
            <a:r>
              <a:rPr b="1" i="0" lang="en-US" sz="2000" u="sng">
                <a:solidFill>
                  <a:schemeClr val="hlink"/>
                </a:solidFill>
                <a:hlinkClick r:id="rId3"/>
              </a:rPr>
              <a:t>Funciones de 1º grado </a:t>
            </a:r>
            <a:br>
              <a:rPr b="1" i="0" lang="en-US" sz="1600" u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b="0" i="0" lang="en-US" sz="4900" u="sng">
                <a:solidFill>
                  <a:schemeClr val="hlink"/>
                </a:solidFill>
                <a:hlinkClick r:id="rId4"/>
              </a:rPr>
              <a:t>Función lineal</a:t>
            </a:r>
            <a:endParaRPr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2587" lvl="0" marL="4191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lineal</a:t>
            </a: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del tipo: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y = mx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Su gráfica es una línea recta que pasa por el origen de  coordenadas</a:t>
            </a: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llama también </a:t>
            </a: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de proporcionalidad directa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2x	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		y = 2x</a:t>
            </a:r>
            <a:endParaRPr/>
          </a:p>
          <a:p>
            <a:pPr indent="-286067" lvl="0" marL="4191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i="0" sz="19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		0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		2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		4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		6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		8</a:t>
            </a:r>
            <a:endParaRPr/>
          </a:p>
          <a:p>
            <a:pPr indent="-286067" lvl="0" marL="419100" marR="0" rtl="0" algn="l"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>
            <a:off x="500062" y="4286250"/>
            <a:ext cx="15717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9" name="Google Shape;169;p24"/>
          <p:cNvCxnSpPr/>
          <p:nvPr/>
        </p:nvCxnSpPr>
        <p:spPr>
          <a:xfrm rot="5400000">
            <a:off x="34912" y="4965800"/>
            <a:ext cx="20718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descr="0_12" id="170" name="Google Shape;17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0" y="3071812"/>
            <a:ext cx="2786062" cy="3541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Franklin"/>
              <a:buNone/>
            </a:pPr>
            <a:r>
              <a:rPr b="1" i="0" lang="en-US" sz="2000" u="sng">
                <a:solidFill>
                  <a:schemeClr val="hlink"/>
                </a:solidFill>
                <a:hlinkClick r:id="rId3"/>
              </a:rPr>
              <a:t>Funciones de 1º grado </a:t>
            </a:r>
            <a:br>
              <a:rPr b="1" i="0" lang="en-US" sz="4300" u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b="1" i="0" lang="en-US" sz="4300" u="sng">
                <a:solidFill>
                  <a:schemeClr val="hlink"/>
                </a:solidFill>
                <a:hlinkClick r:id="rId4"/>
              </a:rPr>
              <a:t>Función identidad</a:t>
            </a:r>
            <a:endParaRPr/>
          </a:p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⦿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la del tipo: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y = x</a:t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 gráfica es la bisectriz del primer y tercer cuadrante. </a:t>
            </a:r>
            <a:endParaRPr/>
          </a:p>
          <a:p>
            <a:pPr indent="-301307" lvl="0" marL="4191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dentidad" id="177" name="Google Shape;17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8875" y="3214687"/>
            <a:ext cx="3500437" cy="33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Franklin"/>
              <a:buNone/>
            </a:pPr>
            <a:r>
              <a:rPr b="1" i="0" lang="en-US" sz="2200" u="sng">
                <a:solidFill>
                  <a:schemeClr val="hlink"/>
                </a:solidFill>
                <a:hlinkClick r:id="rId3"/>
              </a:rPr>
              <a:t>Funciones de 2º grado </a:t>
            </a:r>
            <a:br>
              <a:rPr b="1" i="0" lang="en-US" sz="2200" u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b="1" i="0" lang="en-US" sz="4600" u="sng">
                <a:solidFill>
                  <a:schemeClr val="hlink"/>
                </a:solidFill>
                <a:hlinkClick r:id="rId4"/>
              </a:rPr>
              <a:t>Funciones cuadráticas</a:t>
            </a:r>
            <a:endParaRPr/>
          </a:p>
        </p:txBody>
      </p:sp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f(x) = ax² + bx +c 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funciones polinómicas es de segundo grado, siendo su gráfica una parábola.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función cuadrática más sencilla es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f(x) = x</a:t>
            </a:r>
            <a:r>
              <a:rPr b="1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cuya gráfica es:</a:t>
            </a:r>
            <a:endParaRPr/>
          </a:p>
        </p:txBody>
      </p:sp>
      <p:pic>
        <p:nvPicPr>
          <p:cNvPr id="184" name="Google Shape;18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2062" y="2500312"/>
            <a:ext cx="3127375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</a:pPr>
            <a:r>
              <a:rPr b="0" i="0" lang="en-US" sz="28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Pasos para representar gráficamente a una función cuadrática </a:t>
            </a:r>
            <a:endParaRPr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457200" y="1428750"/>
            <a:ext cx="7467600" cy="4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2587" lvl="0" marL="4191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Representar la función   f(x) = x² − 4x + 3.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1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Vértice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 </a:t>
            </a: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− (−4) / 2 = 2     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 </a:t>
            </a: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2² − 4· 2 + 3 = −1       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		       V(2, −1)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t/>
            </a:r>
            <a:endParaRPr b="1" i="0" sz="1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1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Puntos de corte con el eje OX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x² − 4x + 3 = 0 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X</a:t>
            </a:r>
            <a:r>
              <a:rPr b="0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(3, 0)     X</a:t>
            </a:r>
            <a:r>
              <a:rPr b="0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(1, 0)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t/>
            </a:r>
            <a:endParaRPr b="1" i="0" sz="17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1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Punto de corte con el eje OY (Ordenada al origen)</a:t>
            </a:r>
            <a:endParaRPr/>
          </a:p>
          <a:p>
            <a:pPr indent="-382587" lvl="0" marL="419100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1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(0, 3)</a:t>
            </a:r>
            <a:endParaRPr/>
          </a:p>
          <a:p>
            <a:pPr indent="-250507" lvl="0" marL="41910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0507" lvl="0" marL="4191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alejo\Desktop\ec.gif" id="191" name="Google Shape;1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37" y="4143375"/>
            <a:ext cx="36226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312" y="1571625"/>
            <a:ext cx="3000375" cy="491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jo\Desktop\vertice.gif" id="193" name="Google Shape;19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8875" y="1928812"/>
            <a:ext cx="2786062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0" y="3714750"/>
            <a:ext cx="165735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Franklin"/>
              <a:buNone/>
            </a:pPr>
            <a:r>
              <a:rPr b="1" i="0" lang="en-US" sz="2000" u="sng">
                <a:solidFill>
                  <a:schemeClr val="hlink"/>
                </a:solidFill>
                <a:hlinkClick r:id="rId3"/>
              </a:rPr>
              <a:t>Funciones de 2º grado </a:t>
            </a:r>
            <a:r>
              <a:rPr b="1" i="0" lang="en-US" sz="2000" u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br>
              <a:rPr b="1" i="0" lang="en-US" sz="2000" u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b="1" i="0" lang="en-US" sz="4300" u="sng">
                <a:solidFill>
                  <a:schemeClr val="hlink"/>
                </a:solidFill>
                <a:hlinkClick r:id="rId4"/>
              </a:rPr>
              <a:t>La función cúbica </a:t>
            </a:r>
            <a:endParaRPr/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457200" y="1571625"/>
            <a:ext cx="7467600" cy="4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la de forma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a:   y = ax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bx</a:t>
            </a:r>
            <a:r>
              <a:rPr b="0" baseline="3000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cx + d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 y = 2x</a:t>
            </a:r>
            <a:r>
              <a:rPr b="0" baseline="30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+ 3x</a:t>
            </a:r>
            <a:r>
              <a:rPr b="0" baseline="30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12x.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Generamos una tabla de valores, graficamos y verificamos el dominio y el recorrido.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       –4     –3     –2     –1     0     1     2     3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       –32     9     20     13     0   –7     4    45</a:t>
            </a:r>
            <a:endParaRPr/>
          </a:p>
          <a:p>
            <a:pPr indent="-291147" lvl="0" marL="4191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28"/>
          <p:cNvCxnSpPr/>
          <p:nvPr/>
        </p:nvCxnSpPr>
        <p:spPr>
          <a:xfrm>
            <a:off x="500062" y="3929062"/>
            <a:ext cx="46434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2" name="Google Shape;202;p28"/>
          <p:cNvCxnSpPr/>
          <p:nvPr/>
        </p:nvCxnSpPr>
        <p:spPr>
          <a:xfrm rot="5400000">
            <a:off x="642187" y="3928312"/>
            <a:ext cx="5715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3" name="Google Shape;203;p28"/>
          <p:cNvCxnSpPr/>
          <p:nvPr/>
        </p:nvCxnSpPr>
        <p:spPr>
          <a:xfrm rot="5400000">
            <a:off x="1428000" y="3928312"/>
            <a:ext cx="5715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4" name="Google Shape;204;p28"/>
          <p:cNvCxnSpPr/>
          <p:nvPr/>
        </p:nvCxnSpPr>
        <p:spPr>
          <a:xfrm rot="5400000">
            <a:off x="1928062" y="3928312"/>
            <a:ext cx="5715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5" name="Google Shape;205;p28"/>
          <p:cNvCxnSpPr/>
          <p:nvPr/>
        </p:nvCxnSpPr>
        <p:spPr>
          <a:xfrm rot="5400000">
            <a:off x="2499562" y="3928312"/>
            <a:ext cx="5715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6" name="Google Shape;206;p28"/>
          <p:cNvCxnSpPr/>
          <p:nvPr/>
        </p:nvCxnSpPr>
        <p:spPr>
          <a:xfrm rot="5400000">
            <a:off x="3071062" y="3928312"/>
            <a:ext cx="5715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7" name="Google Shape;207;p28"/>
          <p:cNvCxnSpPr/>
          <p:nvPr/>
        </p:nvCxnSpPr>
        <p:spPr>
          <a:xfrm rot="5400000">
            <a:off x="3501275" y="3928312"/>
            <a:ext cx="5715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8" name="Google Shape;208;p28"/>
          <p:cNvCxnSpPr/>
          <p:nvPr/>
        </p:nvCxnSpPr>
        <p:spPr>
          <a:xfrm rot="5400000">
            <a:off x="3929900" y="3928312"/>
            <a:ext cx="5715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9" name="Google Shape;209;p28"/>
          <p:cNvCxnSpPr/>
          <p:nvPr/>
        </p:nvCxnSpPr>
        <p:spPr>
          <a:xfrm rot="5400000">
            <a:off x="4356937" y="3928312"/>
            <a:ext cx="5715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0" name="Google Shape;210;p28"/>
          <p:cNvCxnSpPr/>
          <p:nvPr/>
        </p:nvCxnSpPr>
        <p:spPr>
          <a:xfrm rot="5400000">
            <a:off x="713625" y="3928312"/>
            <a:ext cx="5715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211" name="Google Shape;21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3125" y="4286250"/>
            <a:ext cx="4114800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Libre Franklin"/>
              <a:buNone/>
            </a:pPr>
            <a:r>
              <a:rPr b="1" i="0" lang="en-US" sz="4600" u="sng">
                <a:solidFill>
                  <a:schemeClr val="hlink"/>
                </a:solidFill>
                <a:hlinkClick r:id="rId3"/>
              </a:rPr>
              <a:t>Funciones Cuartas </a:t>
            </a:r>
            <a:endParaRPr/>
          </a:p>
        </p:txBody>
      </p:sp>
      <p:sp>
        <p:nvSpPr>
          <p:cNvPr id="217" name="Google Shape;217;p29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 la forma polinómica de cuarto grado: 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y = x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ax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bx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cx + d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 gráfica responde a la siguiente forma </a:t>
            </a:r>
            <a:endParaRPr/>
          </a:p>
        </p:txBody>
      </p:sp>
      <p:pic>
        <p:nvPicPr>
          <p:cNvPr id="218" name="Google Shape;21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1687" y="3429000"/>
            <a:ext cx="3929062" cy="3017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</a:pPr>
            <a:r>
              <a:rPr b="1" i="0" lang="en-US" sz="2800" u="sng">
                <a:solidFill>
                  <a:schemeClr val="hlink"/>
                </a:solidFill>
                <a:hlinkClick r:id="rId3"/>
              </a:rPr>
              <a:t>Funciones potenciales de exponente natural</a:t>
            </a:r>
            <a:endParaRPr/>
          </a:p>
        </p:txBody>
      </p:sp>
      <p:sp>
        <p:nvSpPr>
          <p:cNvPr id="224" name="Google Shape;224;p30"/>
          <p:cNvSpPr txBox="1"/>
          <p:nvPr>
            <p:ph idx="1" type="body"/>
          </p:nvPr>
        </p:nvSpPr>
        <p:spPr>
          <a:xfrm>
            <a:off x="457200" y="1214437"/>
            <a:ext cx="7467600" cy="4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siguiente figura muestra la gráfica de varias funciones potenciales de exponente natural </a:t>
            </a: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endParaRPr/>
          </a:p>
        </p:txBody>
      </p:sp>
      <p:pic>
        <p:nvPicPr>
          <p:cNvPr descr="C:\Users\alejo\Desktop\felefig_1c.gif" id="225" name="Google Shape;22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8812" y="1928812"/>
            <a:ext cx="4929187" cy="47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/>
          <p:nvPr/>
        </p:nvSpPr>
        <p:spPr>
          <a:xfrm>
            <a:off x="2214562" y="3571875"/>
            <a:ext cx="3786300" cy="3143400"/>
          </a:xfrm>
          <a:prstGeom prst="roundRect">
            <a:avLst>
              <a:gd fmla="val 16667" name="adj"/>
            </a:avLst>
          </a:prstGeom>
          <a:solidFill>
            <a:srgbClr val="000000">
              <a:alpha val="65490"/>
            </a:srgbClr>
          </a:solidFill>
          <a:ln cap="flat" cmpd="sng" w="19050">
            <a:solidFill>
              <a:srgbClr val="4F748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1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"/>
              <a:buNone/>
            </a:pPr>
            <a:r>
              <a:rPr b="1" i="0" lang="en-US" sz="4400" u="sng">
                <a:solidFill>
                  <a:schemeClr val="hlink"/>
                </a:solidFill>
                <a:hlinkClick r:id="rId3"/>
              </a:rPr>
              <a:t>Funciones racionales </a:t>
            </a:r>
            <a:endParaRPr/>
          </a:p>
        </p:txBody>
      </p:sp>
      <p:sp>
        <p:nvSpPr>
          <p:cNvPr id="232" name="Google Shape;232;p31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⦿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criterio viene dado por un cociente entre polinomios:</a:t>
            </a:r>
            <a:endParaRPr/>
          </a:p>
          <a:p>
            <a:pPr indent="-2809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9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⦿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ejemplo: Dentro de este tipo tenemos las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 de proporcionalidad inversa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ecuación:</a:t>
            </a:r>
            <a:endParaRPr/>
          </a:p>
        </p:txBody>
      </p:sp>
      <p:pic>
        <p:nvPicPr>
          <p:cNvPr descr="C:\Users\alejo\Desktop\rac.gif" id="233" name="Google Shape;23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250" y="2000250"/>
            <a:ext cx="39782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jo\Desktop\in.gif" id="234" name="Google Shape;23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62" y="3643312"/>
            <a:ext cx="7239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jo\Desktop\rac1.gif" id="235" name="Google Shape;235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00" y="3643312"/>
            <a:ext cx="3643312" cy="2970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type="title"/>
          </p:nvPr>
        </p:nvSpPr>
        <p:spPr>
          <a:xfrm>
            <a:off x="428625" y="214312"/>
            <a:ext cx="81153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Franklin"/>
              <a:buNone/>
            </a:pPr>
            <a:r>
              <a:rPr b="0" i="0" lang="en-US" sz="4000" u="sng">
                <a:solidFill>
                  <a:schemeClr val="hlink"/>
                </a:solidFill>
                <a:hlinkClick r:id="rId3"/>
              </a:rPr>
              <a:t>Funciones de a trozos o por partes </a:t>
            </a:r>
            <a:endParaRPr/>
          </a:p>
        </p:txBody>
      </p:sp>
      <p:sp>
        <p:nvSpPr>
          <p:cNvPr id="241" name="Google Shape;241;p32"/>
          <p:cNvSpPr txBox="1"/>
          <p:nvPr>
            <p:ph idx="1" type="body"/>
          </p:nvPr>
        </p:nvSpPr>
        <p:spPr>
          <a:xfrm>
            <a:off x="457200" y="1214437"/>
            <a:ext cx="7467600" cy="4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funciones definidas por distintos criterios, según los intervalos que se consideren.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1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 de a trozos o por partes especiales: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⚫"/>
            </a:pPr>
            <a:r>
              <a:rPr b="0" i="0" lang="en-U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Funciones en valor absoluto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⚫"/>
            </a:pPr>
            <a:r>
              <a:rPr b="0" i="0" lang="en-U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Función parte entera de x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⚫"/>
            </a:pPr>
            <a:r>
              <a:rPr b="0" i="0" lang="en-U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Función mantisa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⚫"/>
            </a:pPr>
            <a:r>
              <a:rPr b="0" i="0" lang="en-U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Función signo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987" lvl="0" marL="4191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937" y="4214812"/>
            <a:ext cx="19621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14750" y="3429000"/>
            <a:ext cx="3000375" cy="3246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ibre Franklin"/>
              <a:buNone/>
            </a:pPr>
            <a:r>
              <a:rPr b="0" i="0" lang="en-US" sz="1400" u="sng">
                <a:solidFill>
                  <a:schemeClr val="hlink"/>
                </a:solidFill>
                <a:hlinkClick r:id="rId3"/>
              </a:rPr>
              <a:t>Funciones de a trozos o por partes </a:t>
            </a:r>
            <a:br>
              <a:rPr b="0" i="0" lang="en-US" sz="1400" u="sng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US" sz="3200" u="sng">
                <a:solidFill>
                  <a:schemeClr val="hlink"/>
                </a:solidFill>
                <a:hlinkClick r:id="rId4"/>
              </a:rPr>
              <a:t>Funciones en valor absoluto</a:t>
            </a:r>
            <a:br>
              <a:rPr b="0" i="0" lang="en-US" sz="1400" u="non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⦿"/>
            </a:pPr>
            <a:r>
              <a:rPr b="1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funciones en valor absoluto se transforman en funciones a trozos</a:t>
            </a:r>
            <a:r>
              <a:rPr b="0" i="0" lang="en-US" sz="1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siguiendo los siguientes pasos: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710"/>
              <a:buFont typeface="Noto Sans Symbol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iguala a cero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función, sin el valor absoluto, y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calculan sus raíces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Se forman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intervalos con las raíces y se evalúa el signo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cada intervalo.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Definimos la función a trozos, teniendo en cuenta que en l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intervalos donde la x es negativa se cambia el signo de la función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Representamos la función resultante.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722312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722312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722312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722312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722312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X-3=0                    x=3 </a:t>
            </a:r>
            <a:endParaRPr/>
          </a:p>
        </p:txBody>
      </p:sp>
      <p:pic>
        <p:nvPicPr>
          <p:cNvPr id="250" name="Google Shape;25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5357812"/>
            <a:ext cx="28575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jo\Desktop\t2_2.gif" id="251" name="Google Shape;251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812" y="4357687"/>
            <a:ext cx="25527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57687" y="3649662"/>
            <a:ext cx="3929062" cy="2332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jo\Desktop\t2.gif" id="253" name="Google Shape;253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85937" y="3857625"/>
            <a:ext cx="1009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Franklin"/>
              <a:buNone/>
            </a:pPr>
            <a:r>
              <a:rPr b="0" i="0" lang="en-US" sz="4000" u="sng">
                <a:solidFill>
                  <a:schemeClr val="hlink"/>
                </a:solidFill>
                <a:hlinkClick r:id="rId3"/>
              </a:rPr>
              <a:t>Función valor absoluto </a:t>
            </a:r>
            <a:endParaRPr/>
          </a:p>
        </p:txBody>
      </p:sp>
      <p:pic>
        <p:nvPicPr>
          <p:cNvPr descr="C:\Users\alejo\Desktop\Absolute_value.png" id="259" name="Google Shape;25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8812" y="2857500"/>
            <a:ext cx="4968875" cy="325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4"/>
          <p:cNvSpPr txBox="1"/>
          <p:nvPr/>
        </p:nvSpPr>
        <p:spPr>
          <a:xfrm>
            <a:off x="571500" y="1571625"/>
            <a:ext cx="23367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x,     si x ≥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IxI =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x,     si x ≤ 0</a:t>
            </a:r>
            <a:endParaRPr/>
          </a:p>
        </p:txBody>
      </p:sp>
      <p:sp>
        <p:nvSpPr>
          <p:cNvPr id="261" name="Google Shape;261;p34"/>
          <p:cNvSpPr/>
          <p:nvPr/>
        </p:nvSpPr>
        <p:spPr>
          <a:xfrm>
            <a:off x="1143000" y="1500187"/>
            <a:ext cx="500100" cy="1071600"/>
          </a:xfrm>
          <a:prstGeom prst="leftBrace">
            <a:avLst>
              <a:gd fmla="val 840" name="adj1"/>
              <a:gd fmla="val 50000" name="adj2"/>
            </a:avLst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ibre Franklin"/>
              <a:buNone/>
            </a:pPr>
            <a:r>
              <a:rPr b="0" i="0" lang="en-US" sz="1400" u="sng">
                <a:solidFill>
                  <a:schemeClr val="hlink"/>
                </a:solidFill>
                <a:hlinkClick r:id="rId3"/>
              </a:rPr>
              <a:t>Funciones de a trozos o por partes </a:t>
            </a:r>
            <a:br>
              <a:rPr b="0" i="0" lang="en-US" sz="1400" u="sng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US" sz="3600" u="sng">
                <a:solidFill>
                  <a:schemeClr val="hlink"/>
                </a:solidFill>
                <a:hlinkClick r:id="rId4"/>
              </a:rPr>
              <a:t>Función parte entera de x</a:t>
            </a:r>
            <a:br>
              <a:rPr b="0" i="0" lang="en-US" sz="1400" u="non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/>
          </a:p>
        </p:txBody>
      </p:sp>
      <p:sp>
        <p:nvSpPr>
          <p:cNvPr id="267" name="Google Shape;267;p35"/>
          <p:cNvSpPr txBox="1"/>
          <p:nvPr>
            <p:ph idx="1" type="body"/>
          </p:nvPr>
        </p:nvSpPr>
        <p:spPr>
          <a:xfrm>
            <a:off x="285750" y="1643062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⦿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función parte entera de x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hace corresponder a cada número real el número entero inmediatamente inferior.</a:t>
            </a:r>
            <a:endParaRPr/>
          </a:p>
        </p:txBody>
      </p:sp>
      <p:pic>
        <p:nvPicPr>
          <p:cNvPr id="268" name="Google Shape;26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85937" y="2500312"/>
            <a:ext cx="4643437" cy="3436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Franklin"/>
              <a:buNone/>
            </a:pPr>
            <a:r>
              <a:rPr b="0" i="0" lang="en-US" sz="2000" u="sng">
                <a:solidFill>
                  <a:schemeClr val="hlink"/>
                </a:solidFill>
                <a:hlinkClick r:id="rId3"/>
              </a:rPr>
              <a:t>Funciones de a trozos o por partes </a:t>
            </a:r>
            <a:br>
              <a:rPr b="0" i="0" lang="en-US" sz="20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US" sz="4300" u="sng">
                <a:solidFill>
                  <a:schemeClr val="hlink"/>
                </a:solidFill>
                <a:hlinkClick r:id="rId4"/>
              </a:rPr>
              <a:t>Función mantisa</a:t>
            </a:r>
            <a:endParaRPr/>
          </a:p>
        </p:txBody>
      </p:sp>
      <p:sp>
        <p:nvSpPr>
          <p:cNvPr id="274" name="Google Shape;274;p36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que hace corresponder a cada número el mismo número menos su parte entera.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f(x) = x - E (x)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			0    0.5     0.9     1     1.5     1.9      2 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f(x) = x - E(x) 	0    0.5     0.9     0     0.5     0.9      0</a:t>
            </a:r>
            <a:endParaRPr/>
          </a:p>
        </p:txBody>
      </p:sp>
      <p:pic>
        <p:nvPicPr>
          <p:cNvPr id="275" name="Google Shape;27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4500" y="4643437"/>
            <a:ext cx="4391025" cy="1438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36"/>
          <p:cNvCxnSpPr/>
          <p:nvPr/>
        </p:nvCxnSpPr>
        <p:spPr>
          <a:xfrm flipH="1" rot="10800000">
            <a:off x="457200" y="3857675"/>
            <a:ext cx="5900700" cy="63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7" name="Google Shape;277;p36"/>
          <p:cNvCxnSpPr/>
          <p:nvPr/>
        </p:nvCxnSpPr>
        <p:spPr>
          <a:xfrm rot="5400000">
            <a:off x="1963799" y="3894162"/>
            <a:ext cx="6429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8" name="Google Shape;278;p36"/>
          <p:cNvCxnSpPr/>
          <p:nvPr/>
        </p:nvCxnSpPr>
        <p:spPr>
          <a:xfrm rot="5400000">
            <a:off x="2392424" y="3892575"/>
            <a:ext cx="6429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9" name="Google Shape;279;p36"/>
          <p:cNvCxnSpPr/>
          <p:nvPr/>
        </p:nvCxnSpPr>
        <p:spPr>
          <a:xfrm rot="5400000">
            <a:off x="3035362" y="3892575"/>
            <a:ext cx="6429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0" name="Google Shape;280;p36"/>
          <p:cNvCxnSpPr/>
          <p:nvPr/>
        </p:nvCxnSpPr>
        <p:spPr>
          <a:xfrm rot="5400000">
            <a:off x="3679887" y="3892575"/>
            <a:ext cx="6429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1" name="Google Shape;281;p36"/>
          <p:cNvCxnSpPr/>
          <p:nvPr/>
        </p:nvCxnSpPr>
        <p:spPr>
          <a:xfrm rot="5400000">
            <a:off x="4178362" y="3892575"/>
            <a:ext cx="6429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2" name="Google Shape;282;p36"/>
          <p:cNvCxnSpPr/>
          <p:nvPr/>
        </p:nvCxnSpPr>
        <p:spPr>
          <a:xfrm rot="5400000">
            <a:off x="4894324" y="3892575"/>
            <a:ext cx="6429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83" name="Google Shape;283;p36"/>
          <p:cNvCxnSpPr/>
          <p:nvPr/>
        </p:nvCxnSpPr>
        <p:spPr>
          <a:xfrm rot="5400000">
            <a:off x="5607112" y="3892575"/>
            <a:ext cx="642900" cy="1500"/>
          </a:xfrm>
          <a:prstGeom prst="straightConnector1">
            <a:avLst/>
          </a:prstGeom>
          <a:noFill/>
          <a:ln cap="flat" cmpd="sng" w="9525">
            <a:solidFill>
              <a:srgbClr val="219AC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 txBox="1"/>
          <p:nvPr>
            <p:ph type="title"/>
          </p:nvPr>
        </p:nvSpPr>
        <p:spPr>
          <a:xfrm>
            <a:off x="457200" y="274637"/>
            <a:ext cx="74676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ibre Franklin"/>
              <a:buNone/>
            </a:pPr>
            <a:r>
              <a:rPr b="0" i="0" lang="en-US" sz="1600" u="sng">
                <a:solidFill>
                  <a:schemeClr val="hlink"/>
                </a:solidFill>
                <a:hlinkClick r:id="rId3"/>
              </a:rPr>
              <a:t>Funciones de a trozos o por partes </a:t>
            </a:r>
            <a:br>
              <a:rPr b="0" i="0" lang="en-US" sz="1600" u="sng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US" sz="4900" u="sng">
                <a:solidFill>
                  <a:schemeClr val="hlink"/>
                </a:solidFill>
                <a:hlinkClick r:id="rId4"/>
              </a:rPr>
              <a:t>Función signo</a:t>
            </a:r>
            <a:br>
              <a:rPr b="0" i="0" lang="en-US" sz="1600" u="sng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/>
          </a:p>
        </p:txBody>
      </p:sp>
      <p:sp>
        <p:nvSpPr>
          <p:cNvPr id="289" name="Google Shape;289;p37"/>
          <p:cNvSpPr txBox="1"/>
          <p:nvPr>
            <p:ph idx="1" type="body"/>
          </p:nvPr>
        </p:nvSpPr>
        <p:spPr>
          <a:xfrm>
            <a:off x="457200" y="1600200"/>
            <a:ext cx="7467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signo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f(x) = sgn(x)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667" lvl="0" marL="4191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7562" y="1857375"/>
            <a:ext cx="4470400" cy="3214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9" id="291" name="Google Shape;29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3143250"/>
            <a:ext cx="193357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Libre Franklin"/>
              <a:buNone/>
            </a:pPr>
            <a:r>
              <a:rPr b="0" i="0" lang="en-US" sz="4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Funciones Racionales</a:t>
            </a:r>
            <a:endParaRPr/>
          </a:p>
        </p:txBody>
      </p:sp>
      <p:sp>
        <p:nvSpPr>
          <p:cNvPr id="297" name="Google Shape;297;p38"/>
          <p:cNvSpPr txBox="1"/>
          <p:nvPr>
            <p:ph idx="1" type="body"/>
          </p:nvPr>
        </p:nvSpPr>
        <p:spPr>
          <a:xfrm>
            <a:off x="285750" y="1285875"/>
            <a:ext cx="5929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 </a:t>
            </a: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racional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es el cociente de dos polinomios 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1er grado: 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Proporcionalidad inversa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Homográficas del tipo (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)/(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cx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273050" lvl="1" marL="722312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Char char="⚫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 del tipo 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/(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)+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  <a:p>
            <a:pPr indent="-124459" lvl="1" marL="722312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34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7" lvl="0" marL="419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7" lvl="0" marL="4191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critorio\Maestria MECEN\Metodologia de las ciencias\trabajo final\funcion-racional.jpg" id="298" name="Google Shape;29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7937" y="571500"/>
            <a:ext cx="1922462" cy="862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critorio\Maestria MECEN\Metodologia de las ciencias\trabajo final\funcion-racional-dominio.jpg" id="299" name="Google Shape;29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5643562"/>
            <a:ext cx="5541962" cy="604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critorio\Maestria MECEN\Metodologia de las ciencias\trabajo final\funcion-racional (1).jpg" id="300" name="Google Shape;30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0687" y="1928812"/>
            <a:ext cx="337185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Libre Franklin"/>
              <a:buNone/>
            </a:pPr>
            <a:r>
              <a:rPr b="0" i="0" lang="en-US" sz="4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Proporcionalidad Inversa</a:t>
            </a:r>
            <a:endParaRPr/>
          </a:p>
        </p:txBody>
      </p:sp>
      <p:sp>
        <p:nvSpPr>
          <p:cNvPr id="306" name="Google Shape;306;p39"/>
          <p:cNvSpPr txBox="1"/>
          <p:nvPr>
            <p:ph idx="1" type="body"/>
          </p:nvPr>
        </p:nvSpPr>
        <p:spPr>
          <a:xfrm>
            <a:off x="457200" y="1600200"/>
            <a:ext cx="4757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cuando la relación entre las variables es de proporcionalidad inversa</a:t>
            </a:r>
            <a:endParaRPr/>
          </a:p>
        </p:txBody>
      </p:sp>
      <p:pic>
        <p:nvPicPr>
          <p:cNvPr descr="D:\Escritorio\Maestria MECEN\Metodologia de las ciencias\trabajo final\funcion-proporcionalidad-inversa.jpg" id="307" name="Google Shape;30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" y="3500437"/>
            <a:ext cx="2673350" cy="1071562"/>
          </a:xfrm>
          <a:prstGeom prst="rect">
            <a:avLst/>
          </a:prstGeom>
          <a:noFill/>
          <a:ln>
            <a:noFill/>
          </a:ln>
        </p:spPr>
      </p:pic>
      <p:sp>
        <p:nvSpPr>
          <p:cNvPr descr="GrÃ¡fica de una funciÃ³n de proporcionalidad inversa." id="308" name="Google Shape;308;p39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critorio\Maestria MECEN\Metodologia de las ciencias\trabajo final\funcion-proporcionalidad-inversa (1).jpg" id="309" name="Google Shape;30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6375" y="1500187"/>
            <a:ext cx="3743325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9"/>
          <p:cNvSpPr txBox="1"/>
          <p:nvPr/>
        </p:nvSpPr>
        <p:spPr>
          <a:xfrm>
            <a:off x="857250" y="5500687"/>
            <a:ext cx="73470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 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es positiva, la gráfica estará en el 1º y 3º cuadrante.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 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es negativa, la gráfica se situará en el 2º y el 4º cuadrante.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Libre Franklin"/>
              <a:buNone/>
            </a:pPr>
            <a:r>
              <a:rPr b="0" i="0" lang="en-US" sz="4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Funciones Homográficas </a:t>
            </a:r>
            <a:endParaRPr/>
          </a:p>
        </p:txBody>
      </p:sp>
      <p:sp>
        <p:nvSpPr>
          <p:cNvPr id="316" name="Google Shape;316;p40"/>
          <p:cNvSpPr txBox="1"/>
          <p:nvPr>
            <p:ph idx="1" type="body"/>
          </p:nvPr>
        </p:nvSpPr>
        <p:spPr>
          <a:xfrm>
            <a:off x="0" y="1571625"/>
            <a:ext cx="58293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gráfica de estas funciones también son </a:t>
            </a:r>
            <a:r>
              <a:rPr b="1" i="0" lang="en-US" sz="3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hipérbolas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D:\Escritorio\Maestria MECEN\Metodologia de las ciencias\trabajo final\funcion-racional-tipo-ax-b.jpg" id="317" name="Google Shape;31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3071812"/>
            <a:ext cx="1943100" cy="785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critorio\Maestria MECEN\Metodologia de las ciencias\trabajo final\funcion-racional-tipo-ax-b (1).jpg" id="318" name="Google Shape;31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625" y="2143125"/>
            <a:ext cx="3638550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1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Libre Franklin"/>
              <a:buNone/>
            </a:pPr>
            <a:r>
              <a:rPr b="0" i="0" lang="en-US" sz="4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Asíntotas de Holográfica</a:t>
            </a:r>
            <a:endParaRPr/>
          </a:p>
        </p:txBody>
      </p:sp>
      <p:sp>
        <p:nvSpPr>
          <p:cNvPr id="324" name="Google Shape;324;p41"/>
          <p:cNvSpPr txBox="1"/>
          <p:nvPr>
            <p:ph idx="1" type="body"/>
          </p:nvPr>
        </p:nvSpPr>
        <p:spPr>
          <a:xfrm>
            <a:off x="428625" y="1285875"/>
            <a:ext cx="8258100" cy="22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asíntotas son rectas a las que la gráfica de la función se “acerca indefinidamente”. Una asíntota es vertical y la otra horizontal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recta x= -c/d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recta y= a/c</a:t>
            </a:r>
            <a:endParaRPr/>
          </a:p>
        </p:txBody>
      </p:sp>
      <p:pic>
        <p:nvPicPr>
          <p:cNvPr descr="D:\Escritorio\Maestria MECEN\Metodologia de las ciencias\trabajo final\funcion-racional-tipo-ax-b.jpg" id="325" name="Google Shape;32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0" y="500062"/>
            <a:ext cx="1943100" cy="785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1"/>
          <p:cNvPicPr preferRelativeResize="0"/>
          <p:nvPr/>
        </p:nvPicPr>
        <p:blipFill rotWithShape="1">
          <a:blip r:embed="rId4">
            <a:alphaModFix/>
          </a:blip>
          <a:srcRect b="18749" l="24901" r="23829" t="19998"/>
          <a:stretch/>
        </p:blipFill>
        <p:spPr>
          <a:xfrm>
            <a:off x="3714750" y="3000375"/>
            <a:ext cx="5000625" cy="350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2"/>
          <p:cNvSpPr txBox="1"/>
          <p:nvPr>
            <p:ph type="title"/>
          </p:nvPr>
        </p:nvSpPr>
        <p:spPr>
          <a:xfrm>
            <a:off x="457200" y="27463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Libre Franklin"/>
              <a:buNone/>
            </a:pPr>
            <a:r>
              <a:rPr b="0" i="0" lang="en-US" sz="4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Funciones del tipo </a:t>
            </a:r>
            <a:r>
              <a:rPr b="0" i="1" lang="en-US" sz="4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</a:t>
            </a:r>
            <a:r>
              <a:rPr b="0" i="0" lang="en-US" sz="4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/(</a:t>
            </a:r>
            <a:r>
              <a:rPr b="0" i="1" lang="en-US" sz="4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x</a:t>
            </a:r>
            <a:r>
              <a:rPr b="0" i="0" lang="en-US" sz="4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+</a:t>
            </a:r>
            <a:r>
              <a:rPr b="0" i="1" lang="en-US" sz="4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</a:t>
            </a:r>
            <a:r>
              <a:rPr b="0" i="0" lang="en-US" sz="4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)+</a:t>
            </a:r>
            <a:r>
              <a:rPr b="0" i="1" lang="en-US" sz="46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</a:t>
            </a:r>
            <a:endParaRPr/>
          </a:p>
        </p:txBody>
      </p:sp>
      <p:sp>
        <p:nvSpPr>
          <p:cNvPr id="332" name="Google Shape;332;p42"/>
          <p:cNvSpPr txBox="1"/>
          <p:nvPr>
            <p:ph idx="1" type="body"/>
          </p:nvPr>
        </p:nvSpPr>
        <p:spPr>
          <a:xfrm>
            <a:off x="457200" y="1600200"/>
            <a:ext cx="46863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7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⦿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Sean las funciones racionales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tipo:</a:t>
            </a:r>
            <a:endParaRPr/>
          </a:p>
          <a:p>
            <a:pPr indent="-260667" lvl="0" marL="4191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667" lvl="0" marL="4191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2587" lvl="0" marL="4191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⦿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Estas funciones son iguales que las funciones de proporcionalidad inversa pero trasladadas. En este caso las </a:t>
            </a:r>
            <a:r>
              <a:rPr b="0" i="0"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asíntotas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son las rectas paralelas a los ejes</a:t>
            </a:r>
            <a:endParaRPr/>
          </a:p>
          <a:p>
            <a:pPr indent="-382587" lvl="0" marL="4191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 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= –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y 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= 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D:\Escritorio\Maestria MECEN\Metodologia de las ciencias\trabajo final\funcion-racional-tipo-k-x-a.jpg" id="333" name="Google Shape;33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0" y="1643062"/>
            <a:ext cx="2286000" cy="766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critorio\Maestria MECEN\Metodologia de las ciencias\trabajo final\funcion-racional-tipo-k-x-a (1).jpg" id="334" name="Google Shape;33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2062" y="2928937"/>
            <a:ext cx="3429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Técnico">
  <a:themeElements>
    <a:clrScheme name="Técnico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Técnico">
  <a:themeElements>
    <a:clrScheme name="Técnico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Técnico">
  <a:themeElements>
    <a:clrScheme name="Técnico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écnico">
  <a:themeElements>
    <a:clrScheme name="Técnico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5_Técnico">
  <a:themeElements>
    <a:clrScheme name="Técnico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Técnico">
  <a:themeElements>
    <a:clrScheme name="Técnico">
      <a:dk1>
        <a:srgbClr val="000000"/>
      </a:dk1>
      <a:lt1>
        <a:srgbClr val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