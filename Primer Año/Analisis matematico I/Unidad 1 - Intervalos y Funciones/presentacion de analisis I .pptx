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3DA75-10C3-4E13-91F4-A4ABAC87B2D3}" v="3" dt="2024-03-09T14:00:41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eet.google.com/jwi-fyvt-bk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4AF37F0-1E8F-443E-AA28-4BC63482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DBE9D54-6250-40F2-A23A-F9CEBF5F9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840" y="256540"/>
            <a:ext cx="11704320" cy="63652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E46E6328-0D82-4747-8B39-60373321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5896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57FD918-4B66-E8FE-39A6-2D002A536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4" y="2783997"/>
            <a:ext cx="9966960" cy="1325880"/>
          </a:xfrm>
        </p:spPr>
        <p:txBody>
          <a:bodyPr>
            <a:normAutofit/>
          </a:bodyPr>
          <a:lstStyle/>
          <a:p>
            <a:r>
              <a:rPr lang="es-MX" sz="6600">
                <a:solidFill>
                  <a:schemeClr val="accent1"/>
                </a:solidFill>
              </a:rPr>
              <a:t>ANALISIS Matematico I </a:t>
            </a:r>
            <a:endParaRPr lang="es-AR" sz="660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A89704-A020-AA8C-6506-3DC9B6468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6" y="4457350"/>
            <a:ext cx="10578904" cy="968052"/>
          </a:xfrm>
        </p:spPr>
        <p:txBody>
          <a:bodyPr>
            <a:noAutofit/>
          </a:bodyPr>
          <a:lstStyle/>
          <a:p>
            <a:r>
              <a:rPr lang="es-MX" sz="2400" b="1" dirty="0">
                <a:solidFill>
                  <a:schemeClr val="accent1"/>
                </a:solidFill>
              </a:rPr>
              <a:t>LIC. EN SISTEMAS DE LA INFORMACION – ING. EN SISTEMAS  DE LA INFORMACION </a:t>
            </a:r>
            <a:endParaRPr lang="es-AR" sz="2400" b="1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Universidad Nacional de La Rioja">
            <a:extLst>
              <a:ext uri="{FF2B5EF4-FFF2-40B4-BE49-F238E27FC236}">
                <a16:creationId xmlns:a16="http://schemas.microsoft.com/office/drawing/2014/main" id="{32E43912-01C4-53E5-BF6B-642A36068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554" y="741172"/>
            <a:ext cx="8946169" cy="215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042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EE5CF-8832-E688-3E46-86F45378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Profesores 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A78828-5BD1-C35D-8F28-56ED3851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3600" dirty="0">
                <a:solidFill>
                  <a:srgbClr val="002060"/>
                </a:solidFill>
              </a:rPr>
              <a:t>Prof. Lic. Mariana Lastra </a:t>
            </a:r>
            <a:r>
              <a:rPr lang="es-MX" sz="3600" dirty="0">
                <a:solidFill>
                  <a:srgbClr val="FF0000"/>
                </a:solidFill>
              </a:rPr>
              <a:t>teoría</a:t>
            </a:r>
            <a:r>
              <a:rPr lang="es-MX" sz="3600" dirty="0">
                <a:solidFill>
                  <a:srgbClr val="002060"/>
                </a:solidFill>
              </a:rPr>
              <a:t>  modalidad presencial asistido a través de </a:t>
            </a:r>
            <a:r>
              <a:rPr lang="es-MX" sz="3600" dirty="0" err="1">
                <a:solidFill>
                  <a:srgbClr val="002060"/>
                </a:solidFill>
              </a:rPr>
              <a:t>Meet</a:t>
            </a:r>
            <a:r>
              <a:rPr lang="es-MX" sz="3600" dirty="0">
                <a:solidFill>
                  <a:srgbClr val="002060"/>
                </a:solidFill>
              </a:rPr>
              <a:t>  martes 18 </a:t>
            </a:r>
            <a:r>
              <a:rPr lang="es-MX" sz="3600" dirty="0" err="1">
                <a:solidFill>
                  <a:srgbClr val="002060"/>
                </a:solidFill>
              </a:rPr>
              <a:t>hs</a:t>
            </a:r>
            <a:r>
              <a:rPr lang="es-MX" sz="3600" dirty="0">
                <a:solidFill>
                  <a:srgbClr val="002060"/>
                </a:solidFill>
              </a:rPr>
              <a:t>.</a:t>
            </a:r>
          </a:p>
          <a:p>
            <a:pPr marL="45720" indent="0">
              <a:buNone/>
            </a:pPr>
            <a:r>
              <a:rPr lang="es-MX" sz="3600" dirty="0">
                <a:solidFill>
                  <a:srgbClr val="002060"/>
                </a:solidFill>
              </a:rPr>
              <a:t>Enlace de la videollamada: </a:t>
            </a:r>
            <a:r>
              <a:rPr lang="es-MX" sz="3600" dirty="0">
                <a:solidFill>
                  <a:srgbClr val="002060"/>
                </a:solidFill>
                <a:hlinkClick r:id="rId2"/>
              </a:rPr>
              <a:t>https://meet.google.com/jwi-fyvt-bkd</a:t>
            </a:r>
            <a:endParaRPr lang="es-MX" sz="3600" dirty="0">
              <a:solidFill>
                <a:srgbClr val="002060"/>
              </a:solidFill>
            </a:endParaRPr>
          </a:p>
          <a:p>
            <a:pPr marL="45720" indent="0">
              <a:buNone/>
            </a:pPr>
            <a:r>
              <a:rPr lang="es-MX" sz="3600" dirty="0">
                <a:solidFill>
                  <a:srgbClr val="002060"/>
                </a:solidFill>
              </a:rPr>
              <a:t> Prof. Lic. Alejandro Nieto </a:t>
            </a:r>
            <a:r>
              <a:rPr lang="es-MX" sz="3600" dirty="0">
                <a:solidFill>
                  <a:srgbClr val="FF0000"/>
                </a:solidFill>
              </a:rPr>
              <a:t>Practica</a:t>
            </a:r>
            <a:r>
              <a:rPr lang="es-MX" sz="3600" dirty="0">
                <a:solidFill>
                  <a:srgbClr val="002060"/>
                </a:solidFill>
              </a:rPr>
              <a:t> presencial  viernes 10 </a:t>
            </a:r>
            <a:r>
              <a:rPr lang="es-MX" sz="3600" dirty="0" err="1">
                <a:solidFill>
                  <a:srgbClr val="002060"/>
                </a:solidFill>
              </a:rPr>
              <a:t>hs</a:t>
            </a:r>
            <a:r>
              <a:rPr lang="es-MX" sz="3600" dirty="0">
                <a:solidFill>
                  <a:srgbClr val="002060"/>
                </a:solidFill>
              </a:rPr>
              <a:t>. Modulo 3 anfiteatro E </a:t>
            </a:r>
            <a:endParaRPr lang="es-AR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00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C26C0AB-632B-4701-A5A6-052B75B7F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2A2853-A55A-47F7-902F-6DE7185D8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46887"/>
            <a:ext cx="7314691" cy="6377939"/>
          </a:xfrm>
          <a:prstGeom prst="rect">
            <a:avLst/>
          </a:prstGeom>
          <a:solidFill>
            <a:srgbClr val="A6B72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0A3D00-134B-401B-BED1-39F1B73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843" y="4005950"/>
            <a:ext cx="531902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4F11129-8A77-4850-9BAB-FDA0CF4F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B808AE-01D5-F60D-10C3-7D833CFD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553" y="893398"/>
            <a:ext cx="6019601" cy="318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600" b="1" cap="all">
                <a:solidFill>
                  <a:srgbClr val="FFFFFF"/>
                </a:solidFill>
              </a:rPr>
              <a:t>Nos comunicamos por el grupo de wp </a:t>
            </a:r>
          </a:p>
        </p:txBody>
      </p:sp>
      <p:pic>
        <p:nvPicPr>
          <p:cNvPr id="5" name="Marcador de contenido 4" descr="Código QR&#10;&#10;Descripción generada automáticamente">
            <a:extLst>
              <a:ext uri="{FF2B5EF4-FFF2-40B4-BE49-F238E27FC236}">
                <a16:creationId xmlns:a16="http://schemas.microsoft.com/office/drawing/2014/main" id="{D8D00A28-756C-6FF0-5582-CC366FD2A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59" y="857675"/>
            <a:ext cx="2891626" cy="51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275413-72BE-D24B-92BC-9E17EB02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410" y="2594441"/>
            <a:ext cx="3113366" cy="36228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85000"/>
              </a:lnSpc>
            </a:pPr>
            <a:r>
              <a:rPr lang="en-US" sz="5400" b="1" cap="all" dirty="0">
                <a:solidFill>
                  <a:srgbClr val="FFFFFF"/>
                </a:solidFill>
              </a:rPr>
              <a:t> </a:t>
            </a:r>
            <a:r>
              <a:rPr lang="en-US" sz="5400" b="1" cap="all" dirty="0" err="1">
                <a:solidFill>
                  <a:srgbClr val="FFFFFF"/>
                </a:solidFill>
              </a:rPr>
              <a:t>en</a:t>
            </a:r>
            <a:r>
              <a:rPr lang="en-US" sz="5400" b="1" cap="all" dirty="0">
                <a:solidFill>
                  <a:srgbClr val="FFFFFF"/>
                </a:solidFill>
              </a:rPr>
              <a:t> </a:t>
            </a:r>
            <a:r>
              <a:rPr lang="en-US" sz="5400" b="1" cap="all" dirty="0" err="1">
                <a:solidFill>
                  <a:srgbClr val="FFFFFF"/>
                </a:solidFill>
              </a:rPr>
              <a:t>el</a:t>
            </a:r>
            <a:r>
              <a:rPr lang="en-US" sz="5400" b="1" cap="all" dirty="0">
                <a:solidFill>
                  <a:srgbClr val="FFFFFF"/>
                </a:solidFill>
              </a:rPr>
              <a:t> Campus virtual </a:t>
            </a:r>
            <a:r>
              <a:rPr lang="en-US" sz="5400" b="1" cap="all" dirty="0" err="1">
                <a:solidFill>
                  <a:srgbClr val="FFFFFF"/>
                </a:solidFill>
              </a:rPr>
              <a:t>el</a:t>
            </a:r>
            <a:r>
              <a:rPr lang="en-US" sz="5400" b="1" cap="all" dirty="0">
                <a:solidFill>
                  <a:srgbClr val="FFFFFF"/>
                </a:solidFill>
              </a:rPr>
              <a:t> aula se llama</a:t>
            </a:r>
            <a:br>
              <a:rPr lang="en-US" sz="5400" b="1" cap="all" dirty="0">
                <a:solidFill>
                  <a:srgbClr val="FFFFFF"/>
                </a:solidFill>
              </a:rPr>
            </a:br>
            <a:r>
              <a:rPr lang="en-US" sz="5400" b="1" cap="all" dirty="0">
                <a:solidFill>
                  <a:srgbClr val="FFFFFF"/>
                </a:solidFill>
              </a:rPr>
              <a:t> </a:t>
            </a:r>
            <a:br>
              <a:rPr lang="en-US" sz="5400" b="1" cap="all" dirty="0">
                <a:solidFill>
                  <a:srgbClr val="FFFFFF"/>
                </a:solidFill>
              </a:rPr>
            </a:br>
            <a:r>
              <a:rPr lang="es-AR" sz="2400" b="1" i="0" dirty="0">
                <a:solidFill>
                  <a:srgbClr val="495057"/>
                </a:solidFill>
                <a:effectLst/>
                <a:latin typeface="Lato" panose="020F0502020204030203" pitchFamily="34" charset="0"/>
              </a:rPr>
              <a:t>Cuatrimestral (LSI) (ISI ) - Análisis Matemático I</a:t>
            </a:r>
            <a:br>
              <a:rPr lang="es-AR" sz="2400" b="1" i="0" dirty="0">
                <a:solidFill>
                  <a:srgbClr val="495057"/>
                </a:solidFill>
                <a:effectLst/>
                <a:latin typeface="Lato" panose="020F0502020204030203" pitchFamily="34" charset="0"/>
              </a:rPr>
            </a:br>
            <a:r>
              <a:rPr lang="en-US" sz="5400" b="1" cap="all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C1B294-EC31-69E4-2623-57DC9F7FA3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8" r="5812" b="3"/>
          <a:stretch/>
        </p:blipFill>
        <p:spPr bwMode="auto">
          <a:xfrm>
            <a:off x="872064" y="857675"/>
            <a:ext cx="6045576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93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0E003-51B2-D9C4-703A-FB7182A1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contenidos 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90B2BD-B721-A797-525B-14E50751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solidFill>
                  <a:schemeClr val="tx1"/>
                </a:solidFill>
              </a:rPr>
              <a:t>Introducción al análisis matematico 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Funciones 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Limite y continuidad 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Derivada 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Análisis completo de una función  </a:t>
            </a:r>
            <a:endParaRPr lang="es-AR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9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29276-6C07-E72C-C288-5ABF4D8B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CANTIDAD DE CLASES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4D5B01-5DBC-5430-2311-45046281D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s-MX" sz="4000" dirty="0">
                <a:solidFill>
                  <a:schemeClr val="tx1"/>
                </a:solidFill>
              </a:rPr>
              <a:t>15 </a:t>
            </a:r>
            <a:r>
              <a:rPr lang="es-MX" sz="4000">
                <a:solidFill>
                  <a:schemeClr val="tx1"/>
                </a:solidFill>
              </a:rPr>
              <a:t>CLASES TEORÍCAS </a:t>
            </a:r>
            <a:endParaRPr lang="es-MX" sz="4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s-MX" sz="4000" dirty="0">
                <a:solidFill>
                  <a:schemeClr val="tx1"/>
                </a:solidFill>
              </a:rPr>
              <a:t>15 CLASES PRÁCTICAS </a:t>
            </a:r>
            <a:endParaRPr lang="es-AR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22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4DFF0-412D-2B9E-DBB8-AFF682F4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 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F4E76-517E-B9A8-9A37-93D775AC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b="1" dirty="0">
                <a:solidFill>
                  <a:schemeClr val="tx1"/>
                </a:solidFill>
              </a:rPr>
              <a:t>THOMAS, GEORGE, “Cálculo. Una variable”</a:t>
            </a:r>
            <a:r>
              <a:rPr lang="es-MX" dirty="0"/>
              <a:t>, Editorial, Editorial Gleason </a:t>
            </a:r>
            <a:r>
              <a:rPr lang="es-MX" dirty="0" err="1"/>
              <a:t>McCallum</a:t>
            </a:r>
            <a:r>
              <a:rPr lang="es-MX" dirty="0"/>
              <a:t>, México, 11ª Edición 2006. [2]. THOMAS, GEORGE, “Calculo. Varias variables”, Editorial, Editorial Gleason </a:t>
            </a:r>
            <a:r>
              <a:rPr lang="es-MX" dirty="0" err="1"/>
              <a:t>McCallum</a:t>
            </a:r>
            <a:r>
              <a:rPr lang="es-MX" dirty="0"/>
              <a:t>, México, 11ª Edición 2005 [3]. STEFAN WARNER Y STEVEN R. COSTENOBLE; “Cálculo Aplicado”, Editorial </a:t>
            </a:r>
            <a:r>
              <a:rPr lang="es-MX" dirty="0" err="1"/>
              <a:t>Math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, México Segunda Edición 2002. [4]. REPETTO, Celina; “Manual de Análisis Matemático, primera parte: Cálculo diferencial de funciones de una variable y sus aplicaciones”; Editorial Ediciones Macchi, 2ª Reimpresión 1989. [5]. REPETTO, Celina; “Manual de Análisis Matemático, segunda parte: Cálculo integral y sus aplicaciones, Series numéricas, Series de potencia, Ecuaciones Diferenciales”; ; Editorial Ediciones Macchi, 1ª Reimpresión 1989. [6] AGUILAR MARQUEZ, A., BRAVO VAZQUEZ, F., GALLEGOS RUIZ, H., CERÓN VILLEGAS, M. y REYES FIGUEROA, R. (2013). Matemáticas simplificadas. Naucalpan de Juárez, México: Pearson Educación de México[7] TAJANI VALLEJO y colaboradores (1981). Análisis Matemático II, matemática aplicada. Editores: Cesarini Hermanos. Buenos Aires, Argentina. [8]. Apuntes ad hoc realizados por la Cátedra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924797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1131</TotalTime>
  <Words>354</Words>
  <Application>Microsoft Office PowerPoint</Application>
  <PresentationFormat>Panorámica</PresentationFormat>
  <Paragraphs>19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Corbel</vt:lpstr>
      <vt:lpstr>Lato</vt:lpstr>
      <vt:lpstr>Base</vt:lpstr>
      <vt:lpstr>ANALISIS Matematico I </vt:lpstr>
      <vt:lpstr>Profesores </vt:lpstr>
      <vt:lpstr>Nos comunicamos por el grupo de wp </vt:lpstr>
      <vt:lpstr> en el Campus virtual el aula se llama   Cuatrimestral (LSI) (ISI ) - Análisis Matemático I  </vt:lpstr>
      <vt:lpstr>Los contenidos </vt:lpstr>
      <vt:lpstr>CANTIDAD DE CLASES</vt:lpstr>
      <vt:lpstr>Bibliografía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Matematico I</dc:title>
  <dc:creator>Mariana Soledad</dc:creator>
  <cp:lastModifiedBy>Mariana Soledad</cp:lastModifiedBy>
  <cp:revision>2</cp:revision>
  <dcterms:created xsi:type="dcterms:W3CDTF">2024-03-06T18:56:18Z</dcterms:created>
  <dcterms:modified xsi:type="dcterms:W3CDTF">2024-03-14T15:30:33Z</dcterms:modified>
</cp:coreProperties>
</file>